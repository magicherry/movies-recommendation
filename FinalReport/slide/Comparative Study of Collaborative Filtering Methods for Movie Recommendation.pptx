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Play"/>
      <p:regular r:id="rId29"/>
      <p:bold r:id="rId30"/>
    </p:embeddedFont>
    <p:embeddedFont>
      <p:font typeface="Inter"/>
      <p:regular r:id="rId31"/>
      <p:bold r:id="rId32"/>
      <p:italic r:id="rId33"/>
      <p:boldItalic r:id="rId34"/>
    </p:embeddedFont>
    <p:embeddedFont>
      <p:font typeface="DM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352D28-8A1F-403E-BDEB-144B55623AA5}">
  <a:tblStyle styleId="{04352D28-8A1F-403E-BDEB-144B55623A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lay-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ter-regular.fntdata"/><Relationship Id="rId30" Type="http://schemas.openxmlformats.org/officeDocument/2006/relationships/font" Target="fonts/Play-bold.fntdata"/><Relationship Id="rId11" Type="http://schemas.openxmlformats.org/officeDocument/2006/relationships/slide" Target="slides/slide4.xml"/><Relationship Id="rId33" Type="http://schemas.openxmlformats.org/officeDocument/2006/relationships/font" Target="fonts/Inter-italic.fntdata"/><Relationship Id="rId10" Type="http://schemas.openxmlformats.org/officeDocument/2006/relationships/slide" Target="slides/slide3.xml"/><Relationship Id="rId32" Type="http://schemas.openxmlformats.org/officeDocument/2006/relationships/font" Target="fonts/Inter-bold.fntdata"/><Relationship Id="rId13" Type="http://schemas.openxmlformats.org/officeDocument/2006/relationships/slide" Target="slides/slide6.xml"/><Relationship Id="rId35" Type="http://schemas.openxmlformats.org/officeDocument/2006/relationships/font" Target="fonts/DMSans-regular.fntdata"/><Relationship Id="rId12" Type="http://schemas.openxmlformats.org/officeDocument/2006/relationships/slide" Target="slides/slide5.xml"/><Relationship Id="rId34" Type="http://schemas.openxmlformats.org/officeDocument/2006/relationships/font" Target="fonts/Inter-boldItalic.fntdata"/><Relationship Id="rId15" Type="http://schemas.openxmlformats.org/officeDocument/2006/relationships/slide" Target="slides/slide8.xml"/><Relationship Id="rId37" Type="http://schemas.openxmlformats.org/officeDocument/2006/relationships/font" Target="fonts/DMSans-italic.fntdata"/><Relationship Id="rId14" Type="http://schemas.openxmlformats.org/officeDocument/2006/relationships/slide" Target="slides/slide7.xml"/><Relationship Id="rId36" Type="http://schemas.openxmlformats.org/officeDocument/2006/relationships/font" Target="fonts/DMSans-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DMSa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662eaa8c2_0_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Today I will present the paper </a:t>
            </a:r>
            <a:r>
              <a:rPr i="1" lang="zh-CN">
                <a:solidFill>
                  <a:schemeClr val="dk1"/>
                </a:solidFill>
              </a:rPr>
              <a:t>Locating and Editing Factual Associations in GPT</a:t>
            </a:r>
            <a:r>
              <a:rPr lang="zh-CN">
                <a:solidFill>
                  <a:schemeClr val="dk1"/>
                </a:solidFill>
              </a:rPr>
              <a:t>. The main question behind this work is very simple but very important: when a language model answers a factual question correctly, where is that fact actually stored inside the network?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The authors do not stop at asking whether the model knows facts. Instead, they try to identify the </a:t>
            </a:r>
            <a:r>
              <a:rPr b="1" lang="zh-CN">
                <a:solidFill>
                  <a:schemeClr val="dk1"/>
                </a:solidFill>
              </a:rPr>
              <a:t>mechanism</a:t>
            </a:r>
            <a:r>
              <a:rPr lang="zh-CN">
                <a:solidFill>
                  <a:schemeClr val="dk1"/>
                </a:solidFill>
              </a:rPr>
              <a:t> of factual recall. Their argument is that factual associations are mediated by a specific computation inside the model, rather than being hopelessly distributed everywhere. Then they push that claim one step further. If we really understand where the fact is stored, we should be able to directly edit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That is why the paper has two major parts. First, it uses </a:t>
            </a:r>
            <a:r>
              <a:rPr b="1" lang="zh-CN">
                <a:solidFill>
                  <a:schemeClr val="dk1"/>
                </a:solidFill>
              </a:rPr>
              <a:t>causal tracing</a:t>
            </a:r>
            <a:r>
              <a:rPr lang="zh-CN">
                <a:solidFill>
                  <a:schemeClr val="dk1"/>
                </a:solidFill>
              </a:rPr>
              <a:t> to locate the internal states that matter most for factual recall. Second, it introduces </a:t>
            </a:r>
            <a:r>
              <a:rPr b="1" lang="zh-CN">
                <a:solidFill>
                  <a:schemeClr val="dk1"/>
                </a:solidFill>
              </a:rPr>
              <a:t>ROME</a:t>
            </a:r>
            <a:r>
              <a:rPr lang="zh-CN">
                <a:solidFill>
                  <a:schemeClr val="dk1"/>
                </a:solidFill>
              </a:rPr>
              <a:t>, a rank-one model editing method that modifies a single factual association by writing a new key-value pair into a targeted MLP module. The experimental results suggest that this view is not only interpretable, but also operationally useful.</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127" name="Google Shape;127;g39662eaa8c2_0_4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662eaa8c2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The paper starts from a gap in prior work. Earlier studies had shown that language models can answer factual prompts, so in that sense they appear to store world knowledge. But that observation is still very shallow. It tells us that the model can produce a correct token, but not how that prediction is generated internally.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The authors emphasize that GPT-style models deserve special study because they are </a:t>
            </a:r>
            <a:r>
              <a:rPr b="1" lang="zh-CN">
                <a:solidFill>
                  <a:schemeClr val="dk1"/>
                </a:solidFill>
              </a:rPr>
              <a:t>autoregressive</a:t>
            </a:r>
            <a:r>
              <a:rPr lang="zh-CN">
                <a:solidFill>
                  <a:schemeClr val="dk1"/>
                </a:solidFill>
              </a:rPr>
              <a:t>. Their generation process is directional, and their architecture differs from masked language models like BERT. So it is not safe to assume that factual recall works in exactly the same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The motivating idea is also methodological. If knowledge is stored through some identifiable computation, then we may be able to </a:t>
            </a:r>
            <a:r>
              <a:rPr b="1" lang="zh-CN">
                <a:solidFill>
                  <a:schemeClr val="dk1"/>
                </a:solidFill>
              </a:rPr>
              <a:t>edit</a:t>
            </a:r>
            <a:r>
              <a:rPr lang="zh-CN">
                <a:solidFill>
                  <a:schemeClr val="dk1"/>
                </a:solidFill>
              </a:rPr>
              <a:t> it directly. That would matter for interpretability, model debugging, and post-training correction. But if facts are represented in a completely entangled and unstructured way, then precise editing should be impossible. This paper is essentially an empirical test of that question.</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137" name="Google Shape;137;g39662eaa8c2_0_4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662eaa8c2_0_4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9662eaa8c2_0_4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74684fdfb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d74684fdfb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74684fdfb_1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d74684fdfb_1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74684fdfb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d74684fdfb_1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74684fdfb_2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3d74684fdfb_2_2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74684fdfb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d74684fdfb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74684fdfb_2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3d74684fdfb_2_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74684fdfb_1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d74684fdfb_1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74684fdfb_2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d74684fdfb_2_3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74684fdfb_1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3d74684fdfb_1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74684fdfb_2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d74684fdfb_2_2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74684fdfb_1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g3d74684fdfb_1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74684fdfb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g3d74684fdfb_1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74684fdfb_1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d74684fdfb_1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74684fdfb_1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g3d74684fdfb_1_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74684fdfb_1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9" name="Google Shape;489;g3d74684fdfb_1_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d74684fdfb_2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4" name="Google Shape;514;g3d74684fdfb_2_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74684fdfb_1_3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g3d74684fdfb_1_3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9662eaa8c2_0_6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4" name="Google Shape;544;g39662eaa8c2_0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2"/>
          <p:cNvSpPr/>
          <p:nvPr>
            <p:ph idx="2" type="pic"/>
          </p:nvPr>
        </p:nvSpPr>
        <p:spPr>
          <a:xfrm>
            <a:off x="3887391" y="740569"/>
            <a:ext cx="4629300" cy="3655200"/>
          </a:xfrm>
          <a:prstGeom prst="rect">
            <a:avLst/>
          </a:prstGeom>
          <a:noFill/>
          <a:ln>
            <a:noFill/>
          </a:ln>
        </p:spPr>
      </p:sp>
      <p:sp>
        <p:nvSpPr>
          <p:cNvPr id="109" name="Google Shape;109;p22"/>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github.com/Magicherry/Movies-Recommendation" TargetMode="Externa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A37F"/>
        </a:solidFill>
      </p:bgPr>
    </p:bg>
    <p:spTree>
      <p:nvGrpSpPr>
        <p:cNvPr id="128" name="Shape 128"/>
        <p:cNvGrpSpPr/>
        <p:nvPr/>
      </p:nvGrpSpPr>
      <p:grpSpPr>
        <a:xfrm>
          <a:off x="0" y="0"/>
          <a:ext cx="0" cy="0"/>
          <a:chOff x="0" y="0"/>
          <a:chExt cx="0" cy="0"/>
        </a:xfrm>
      </p:grpSpPr>
      <p:sp>
        <p:nvSpPr>
          <p:cNvPr id="129" name="Google Shape;129;p25"/>
          <p:cNvSpPr/>
          <p:nvPr/>
        </p:nvSpPr>
        <p:spPr>
          <a:xfrm>
            <a:off x="117750" y="0"/>
            <a:ext cx="9026400" cy="5143500"/>
          </a:xfrm>
          <a:prstGeom prst="rect">
            <a:avLst/>
          </a:prstGeom>
          <a:solidFill>
            <a:srgbClr val="1E293B"/>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0" name="Google Shape;130;p25"/>
          <p:cNvSpPr txBox="1"/>
          <p:nvPr>
            <p:ph type="ctrTitle"/>
          </p:nvPr>
        </p:nvSpPr>
        <p:spPr>
          <a:xfrm>
            <a:off x="369450" y="1421513"/>
            <a:ext cx="7655400" cy="1565400"/>
          </a:xfrm>
          <a:prstGeom prst="rect">
            <a:avLst/>
          </a:prstGeom>
          <a:noFill/>
          <a:ln>
            <a:noFill/>
          </a:ln>
        </p:spPr>
        <p:txBody>
          <a:bodyPr anchorCtr="0" anchor="b" bIns="34275" lIns="68575" spcFirstLastPara="1" rIns="68575" wrap="square" tIns="34275">
            <a:spAutoFit/>
          </a:bodyPr>
          <a:lstStyle/>
          <a:p>
            <a:pPr indent="0" lvl="0" marL="0" rtl="0" algn="l">
              <a:lnSpc>
                <a:spcPct val="90000"/>
              </a:lnSpc>
              <a:spcBef>
                <a:spcPts val="0"/>
              </a:spcBef>
              <a:spcAft>
                <a:spcPts val="0"/>
              </a:spcAft>
              <a:buClr>
                <a:schemeClr val="dk1"/>
              </a:buClr>
              <a:buSzPts val="4500"/>
              <a:buFont typeface="Play"/>
              <a:buNone/>
            </a:pPr>
            <a:r>
              <a:rPr lang="zh-CN" sz="3600">
                <a:solidFill>
                  <a:schemeClr val="lt1"/>
                </a:solidFill>
                <a:latin typeface="Trebuchet MS"/>
                <a:ea typeface="Trebuchet MS"/>
                <a:cs typeface="Trebuchet MS"/>
                <a:sym typeface="Trebuchet MS"/>
              </a:rPr>
              <a:t>Comparative Study </a:t>
            </a:r>
            <a:endParaRPr sz="3600">
              <a:solidFill>
                <a:schemeClr val="lt1"/>
              </a:solidFill>
              <a:latin typeface="Trebuchet MS"/>
              <a:ea typeface="Trebuchet MS"/>
              <a:cs typeface="Trebuchet MS"/>
              <a:sym typeface="Trebuchet MS"/>
            </a:endParaRPr>
          </a:p>
          <a:p>
            <a:pPr indent="0" lvl="0" marL="0" rtl="0" algn="l">
              <a:lnSpc>
                <a:spcPct val="90000"/>
              </a:lnSpc>
              <a:spcBef>
                <a:spcPts val="0"/>
              </a:spcBef>
              <a:spcAft>
                <a:spcPts val="0"/>
              </a:spcAft>
              <a:buClr>
                <a:schemeClr val="dk1"/>
              </a:buClr>
              <a:buSzPts val="4500"/>
              <a:buFont typeface="Play"/>
              <a:buNone/>
            </a:pPr>
            <a:r>
              <a:rPr lang="zh-CN" sz="3600">
                <a:solidFill>
                  <a:schemeClr val="lt1"/>
                </a:solidFill>
                <a:latin typeface="Trebuchet MS"/>
                <a:ea typeface="Trebuchet MS"/>
                <a:cs typeface="Trebuchet MS"/>
                <a:sym typeface="Trebuchet MS"/>
              </a:rPr>
              <a:t>of Collaborative Filtering Methods</a:t>
            </a:r>
            <a:endParaRPr sz="3600">
              <a:solidFill>
                <a:schemeClr val="lt1"/>
              </a:solidFill>
              <a:latin typeface="Trebuchet MS"/>
              <a:ea typeface="Trebuchet MS"/>
              <a:cs typeface="Trebuchet MS"/>
              <a:sym typeface="Trebuchet MS"/>
            </a:endParaRPr>
          </a:p>
          <a:p>
            <a:pPr indent="0" lvl="0" marL="0" rtl="0" algn="l">
              <a:lnSpc>
                <a:spcPct val="90000"/>
              </a:lnSpc>
              <a:spcBef>
                <a:spcPts val="0"/>
              </a:spcBef>
              <a:spcAft>
                <a:spcPts val="0"/>
              </a:spcAft>
              <a:buClr>
                <a:schemeClr val="dk1"/>
              </a:buClr>
              <a:buSzPts val="4500"/>
              <a:buFont typeface="Play"/>
              <a:buNone/>
            </a:pPr>
            <a:r>
              <a:rPr lang="zh-CN" sz="3600">
                <a:solidFill>
                  <a:schemeClr val="lt1"/>
                </a:solidFill>
                <a:latin typeface="Trebuchet MS"/>
                <a:ea typeface="Trebuchet MS"/>
                <a:cs typeface="Trebuchet MS"/>
                <a:sym typeface="Trebuchet MS"/>
              </a:rPr>
              <a:t>for Movie Recommendation</a:t>
            </a:r>
            <a:endParaRPr sz="3600">
              <a:solidFill>
                <a:schemeClr val="lt1"/>
              </a:solidFill>
              <a:latin typeface="Trebuchet MS"/>
              <a:ea typeface="Trebuchet MS"/>
              <a:cs typeface="Trebuchet MS"/>
              <a:sym typeface="Trebuchet MS"/>
            </a:endParaRPr>
          </a:p>
        </p:txBody>
      </p:sp>
      <p:sp>
        <p:nvSpPr>
          <p:cNvPr id="131" name="Google Shape;131;p25"/>
          <p:cNvSpPr txBox="1"/>
          <p:nvPr>
            <p:ph idx="1" type="subTitle"/>
          </p:nvPr>
        </p:nvSpPr>
        <p:spPr>
          <a:xfrm>
            <a:off x="369450" y="4055650"/>
            <a:ext cx="2640300" cy="346200"/>
          </a:xfrm>
          <a:prstGeom prst="rect">
            <a:avLst/>
          </a:prstGeom>
          <a:noFill/>
          <a:ln>
            <a:noFill/>
          </a:ln>
        </p:spPr>
        <p:txBody>
          <a:bodyPr anchorCtr="0" anchor="t" bIns="34275" lIns="68575" spcFirstLastPara="1" rIns="68575" wrap="square" tIns="34275">
            <a:spAutoFit/>
          </a:bodyPr>
          <a:lstStyle/>
          <a:p>
            <a:pPr indent="0" lvl="0" marL="0" rtl="0" algn="l">
              <a:lnSpc>
                <a:spcPct val="100000"/>
              </a:lnSpc>
              <a:spcBef>
                <a:spcPts val="0"/>
              </a:spcBef>
              <a:spcAft>
                <a:spcPts val="0"/>
              </a:spcAft>
              <a:buSzPts val="1800"/>
              <a:buNone/>
            </a:pPr>
            <a:r>
              <a:rPr lang="zh-CN">
                <a:solidFill>
                  <a:schemeClr val="lt2"/>
                </a:solidFill>
                <a:latin typeface="Trebuchet MS"/>
                <a:ea typeface="Trebuchet MS"/>
                <a:cs typeface="Trebuchet MS"/>
                <a:sym typeface="Trebuchet MS"/>
              </a:rPr>
              <a:t>Yuting Zhou · Yiwei Li</a:t>
            </a:r>
            <a:endParaRPr>
              <a:solidFill>
                <a:schemeClr val="lt2"/>
              </a:solidFill>
              <a:latin typeface="Trebuchet MS"/>
              <a:ea typeface="Trebuchet MS"/>
              <a:cs typeface="Trebuchet MS"/>
              <a:sym typeface="Trebuchet MS"/>
            </a:endParaRPr>
          </a:p>
        </p:txBody>
      </p:sp>
      <p:sp>
        <p:nvSpPr>
          <p:cNvPr id="132" name="Google Shape;132;p25"/>
          <p:cNvSpPr txBox="1"/>
          <p:nvPr/>
        </p:nvSpPr>
        <p:spPr>
          <a:xfrm>
            <a:off x="369450" y="3011213"/>
            <a:ext cx="6668100" cy="3693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lang="zh-CN" sz="1500">
                <a:solidFill>
                  <a:srgbClr val="0AD8B8"/>
                </a:solidFill>
                <a:latin typeface="Trebuchet MS"/>
                <a:ea typeface="Trebuchet MS"/>
                <a:cs typeface="Trebuchet MS"/>
                <a:sym typeface="Trebuchet MS"/>
              </a:rPr>
              <a:t>on MovieLens Latest 2023 Dataset with 33.8M ratings</a:t>
            </a:r>
            <a:endParaRPr sz="1500">
              <a:solidFill>
                <a:srgbClr val="0AD8B8"/>
              </a:solidFill>
              <a:latin typeface="Trebuchet MS"/>
              <a:ea typeface="Trebuchet MS"/>
              <a:cs typeface="Trebuchet MS"/>
              <a:sym typeface="Trebuchet MS"/>
            </a:endParaRPr>
          </a:p>
        </p:txBody>
      </p:sp>
      <p:pic>
        <p:nvPicPr>
          <p:cNvPr id="133" name="Google Shape;133;p25"/>
          <p:cNvPicPr preferRelativeResize="0"/>
          <p:nvPr/>
        </p:nvPicPr>
        <p:blipFill rotWithShape="1">
          <a:blip r:embed="rId3">
            <a:alphaModFix/>
          </a:blip>
          <a:srcRect b="0" l="0" r="0" t="0"/>
          <a:stretch/>
        </p:blipFill>
        <p:spPr>
          <a:xfrm>
            <a:off x="369450" y="250050"/>
            <a:ext cx="1267538" cy="355894"/>
          </a:xfrm>
          <a:prstGeom prst="rect">
            <a:avLst/>
          </a:prstGeom>
          <a:noFill/>
          <a:ln>
            <a:noFill/>
          </a:ln>
        </p:spPr>
      </p:pic>
      <p:pic>
        <p:nvPicPr>
          <p:cNvPr id="134" name="Google Shape;134;p25"/>
          <p:cNvPicPr preferRelativeResize="0"/>
          <p:nvPr/>
        </p:nvPicPr>
        <p:blipFill>
          <a:blip r:embed="rId4">
            <a:alphaModFix/>
          </a:blip>
          <a:stretch>
            <a:fillRect/>
          </a:stretch>
        </p:blipFill>
        <p:spPr>
          <a:xfrm>
            <a:off x="8488225" y="169550"/>
            <a:ext cx="516900" cy="516900"/>
          </a:xfrm>
          <a:prstGeom prst="rect">
            <a:avLst/>
          </a:prstGeom>
          <a:solidFill>
            <a:srgbClr val="1E293B"/>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pSp>
        <p:nvGrpSpPr>
          <p:cNvPr id="139" name="Google Shape;139;p26"/>
          <p:cNvGrpSpPr/>
          <p:nvPr/>
        </p:nvGrpSpPr>
        <p:grpSpPr>
          <a:xfrm>
            <a:off x="0" y="0"/>
            <a:ext cx="9144150" cy="617100"/>
            <a:chOff x="0" y="0"/>
            <a:chExt cx="9144150" cy="617100"/>
          </a:xfrm>
        </p:grpSpPr>
        <p:sp>
          <p:nvSpPr>
            <p:cNvPr id="140" name="Google Shape;140;p26"/>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1" name="Google Shape;141;p26"/>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42" name="Google Shape;142;p26"/>
          <p:cNvSpPr txBox="1"/>
          <p:nvPr>
            <p:ph type="title"/>
          </p:nvPr>
        </p:nvSpPr>
        <p:spPr>
          <a:xfrm>
            <a:off x="306019" y="100825"/>
            <a:ext cx="6325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Introduction</a:t>
            </a:r>
            <a:endParaRPr sz="2500">
              <a:solidFill>
                <a:schemeClr val="lt1"/>
              </a:solidFill>
              <a:latin typeface="Trebuchet MS"/>
              <a:ea typeface="Trebuchet MS"/>
              <a:cs typeface="Trebuchet MS"/>
              <a:sym typeface="Trebuchet MS"/>
            </a:endParaRPr>
          </a:p>
        </p:txBody>
      </p:sp>
      <p:sp>
        <p:nvSpPr>
          <p:cNvPr id="143" name="Google Shape;143;p26"/>
          <p:cNvSpPr txBox="1"/>
          <p:nvPr/>
        </p:nvSpPr>
        <p:spPr>
          <a:xfrm>
            <a:off x="379000" y="838675"/>
            <a:ext cx="82284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300"/>
              <a:t>In this project, we implemented </a:t>
            </a:r>
            <a:r>
              <a:rPr b="1" lang="zh-CN" sz="1300"/>
              <a:t>SIX </a:t>
            </a:r>
            <a:r>
              <a:rPr lang="zh-CN" sz="1300"/>
              <a:t>distinct collaborative filtering models from scratch. All models are trained on the same MovieLens Latest split and evaluated using a unified metrics suite. </a:t>
            </a:r>
            <a:endParaRPr sz="1300"/>
          </a:p>
          <a:p>
            <a:pPr indent="0" lvl="0" marL="0" rtl="0" algn="l">
              <a:spcBef>
                <a:spcPts val="1000"/>
              </a:spcBef>
              <a:spcAft>
                <a:spcPts val="0"/>
              </a:spcAft>
              <a:buNone/>
            </a:pPr>
            <a:r>
              <a:t/>
            </a:r>
            <a:endParaRPr sz="1300"/>
          </a:p>
          <a:p>
            <a:pPr indent="0" lvl="0" marL="0" rtl="0" algn="l">
              <a:spcBef>
                <a:spcPts val="1000"/>
              </a:spcBef>
              <a:spcAft>
                <a:spcPts val="0"/>
              </a:spcAft>
              <a:buNone/>
            </a:pPr>
            <a:r>
              <a:rPr lang="zh-CN" sz="1300">
                <a:latin typeface="Trebuchet MS"/>
                <a:ea typeface="Trebuchet MS"/>
                <a:cs typeface="Trebuchet MS"/>
                <a:sym typeface="Trebuchet MS"/>
              </a:rPr>
              <a:t>Our contributions are threefold: </a:t>
            </a:r>
            <a:endParaRPr sz="1300">
              <a:latin typeface="Trebuchet MS"/>
              <a:ea typeface="Trebuchet MS"/>
              <a:cs typeface="Trebuchet MS"/>
              <a:sym typeface="Trebuchet MS"/>
            </a:endParaRPr>
          </a:p>
          <a:p>
            <a:pPr indent="-304800" lvl="0" marL="457200" rtl="0" algn="l">
              <a:spcBef>
                <a:spcPts val="1000"/>
              </a:spcBef>
              <a:spcAft>
                <a:spcPts val="0"/>
              </a:spcAft>
              <a:buClr>
                <a:schemeClr val="dk1"/>
              </a:buClr>
              <a:buSzPts val="1200"/>
              <a:buAutoNum type="arabicPeriod"/>
            </a:pPr>
            <a:r>
              <a:rPr lang="zh-CN" sz="1200">
                <a:solidFill>
                  <a:schemeClr val="dk1"/>
                </a:solidFill>
              </a:rPr>
              <a:t>P</a:t>
            </a:r>
            <a:r>
              <a:rPr lang="zh-CN" sz="1200">
                <a:solidFill>
                  <a:schemeClr val="dk1"/>
                </a:solidFill>
              </a:rPr>
              <a:t>rovide a controlled comparison of CF models under identical data conditions: </a:t>
            </a:r>
            <a:endParaRPr sz="1200">
              <a:solidFill>
                <a:schemeClr val="dk1"/>
              </a:solidFill>
            </a:endParaRPr>
          </a:p>
          <a:p>
            <a:pPr indent="-298450" lvl="1" marL="914400" rtl="0" algn="l">
              <a:spcBef>
                <a:spcPts val="1000"/>
              </a:spcBef>
              <a:spcAft>
                <a:spcPts val="0"/>
              </a:spcAft>
              <a:buClr>
                <a:schemeClr val="dk1"/>
              </a:buClr>
              <a:buSzPts val="1100"/>
              <a:buChar char="✓"/>
            </a:pPr>
            <a:r>
              <a:rPr lang="zh-CN" sz="1100">
                <a:solidFill>
                  <a:schemeClr val="dk1"/>
                </a:solidFill>
              </a:rPr>
              <a:t>MF-SGD</a:t>
            </a:r>
            <a:endParaRPr sz="1100">
              <a:solidFill>
                <a:schemeClr val="dk1"/>
              </a:solidFill>
            </a:endParaRPr>
          </a:p>
          <a:p>
            <a:pPr indent="-298450" lvl="1" marL="914400" rtl="0" algn="l">
              <a:spcBef>
                <a:spcPts val="1000"/>
              </a:spcBef>
              <a:spcAft>
                <a:spcPts val="0"/>
              </a:spcAft>
              <a:buClr>
                <a:schemeClr val="dk1"/>
              </a:buClr>
              <a:buSzPts val="1100"/>
              <a:buChar char="✓"/>
            </a:pPr>
            <a:r>
              <a:rPr lang="zh-CN" sz="1100">
                <a:solidFill>
                  <a:schemeClr val="dk1"/>
                </a:solidFill>
              </a:rPr>
              <a:t>Deep Hybrid CNN</a:t>
            </a:r>
            <a:endParaRPr sz="1100">
              <a:solidFill>
                <a:schemeClr val="dk1"/>
              </a:solidFill>
            </a:endParaRPr>
          </a:p>
          <a:p>
            <a:pPr indent="-298450" lvl="1" marL="914400" rtl="0" algn="l">
              <a:spcBef>
                <a:spcPts val="1000"/>
              </a:spcBef>
              <a:spcAft>
                <a:spcPts val="0"/>
              </a:spcAft>
              <a:buClr>
                <a:schemeClr val="dk1"/>
              </a:buClr>
              <a:buSzPts val="1100"/>
              <a:buChar char="✓"/>
            </a:pPr>
            <a:r>
              <a:rPr lang="zh-CN" sz="1100">
                <a:solidFill>
                  <a:schemeClr val="dk1"/>
                </a:solidFill>
              </a:rPr>
              <a:t>SVD-Ridge, SVD-KNN, SVD-Lasso</a:t>
            </a:r>
            <a:endParaRPr sz="1100">
              <a:solidFill>
                <a:schemeClr val="dk1"/>
              </a:solidFill>
            </a:endParaRPr>
          </a:p>
          <a:p>
            <a:pPr indent="-298450" lvl="1" marL="914400" rtl="0" algn="l">
              <a:spcBef>
                <a:spcPts val="1000"/>
              </a:spcBef>
              <a:spcAft>
                <a:spcPts val="0"/>
              </a:spcAft>
              <a:buClr>
                <a:schemeClr val="dk1"/>
              </a:buClr>
              <a:buSzPts val="1100"/>
              <a:buChar char="✓"/>
            </a:pPr>
            <a:r>
              <a:rPr lang="zh-CN" sz="1100">
                <a:solidFill>
                  <a:schemeClr val="dk1"/>
                </a:solidFill>
              </a:rPr>
              <a:t>MF-ALS</a:t>
            </a:r>
            <a:endParaRPr sz="1100">
              <a:solidFill>
                <a:schemeClr val="dk1"/>
              </a:solidFill>
            </a:endParaRPr>
          </a:p>
          <a:p>
            <a:pPr indent="-304800" lvl="0" marL="457200" rtl="0" algn="l">
              <a:spcBef>
                <a:spcPts val="1000"/>
              </a:spcBef>
              <a:spcAft>
                <a:spcPts val="0"/>
              </a:spcAft>
              <a:buClr>
                <a:schemeClr val="dk1"/>
              </a:buClr>
              <a:buSzPts val="1200"/>
              <a:buAutoNum type="arabicPeriod"/>
            </a:pPr>
            <a:r>
              <a:rPr lang="zh-CN" sz="1200">
                <a:solidFill>
                  <a:schemeClr val="dk1"/>
                </a:solidFill>
              </a:rPr>
              <a:t>Analyze not only aggregate accuracy (MAE,RMSE) and ranking quality (Precision, Recall, F1, NDCG@10) but also training dynamics, latent factor semantics, and feature block ablation.</a:t>
            </a:r>
            <a:endParaRPr sz="1200">
              <a:solidFill>
                <a:schemeClr val="dk1"/>
              </a:solidFill>
            </a:endParaRPr>
          </a:p>
          <a:p>
            <a:pPr indent="-304800" lvl="0" marL="457200" rtl="0" algn="l">
              <a:spcBef>
                <a:spcPts val="1000"/>
              </a:spcBef>
              <a:spcAft>
                <a:spcPts val="1000"/>
              </a:spcAft>
              <a:buClr>
                <a:schemeClr val="dk1"/>
              </a:buClr>
              <a:buSzPts val="1200"/>
              <a:buAutoNum type="arabicPeriod"/>
            </a:pPr>
            <a:r>
              <a:rPr lang="zh-CN" sz="1200">
                <a:solidFill>
                  <a:schemeClr val="dk1"/>
                </a:solidFill>
              </a:rPr>
              <a:t>Build </a:t>
            </a:r>
            <a:r>
              <a:rPr b="1" i="1" lang="zh-CN" sz="1200">
                <a:solidFill>
                  <a:schemeClr val="dk1"/>
                </a:solidFill>
                <a:latin typeface="Trebuchet MS"/>
                <a:ea typeface="Trebuchet MS"/>
                <a:cs typeface="Trebuchet MS"/>
                <a:sym typeface="Trebuchet MS"/>
              </a:rPr>
              <a:t>StreamX</a:t>
            </a:r>
            <a:r>
              <a:rPr lang="zh-CN" sz="1200">
                <a:solidFill>
                  <a:schemeClr val="dk1"/>
                </a:solidFill>
              </a:rPr>
              <a:t>, an end-to-end web application (Django + Next.js) that serves real-time recommendations from the trained models, demonstrating practical deployment.</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27"/>
          <p:cNvGrpSpPr/>
          <p:nvPr/>
        </p:nvGrpSpPr>
        <p:grpSpPr>
          <a:xfrm>
            <a:off x="0" y="0"/>
            <a:ext cx="9144075" cy="617175"/>
            <a:chOff x="0" y="0"/>
            <a:chExt cx="9144075" cy="617175"/>
          </a:xfrm>
        </p:grpSpPr>
        <p:sp>
          <p:nvSpPr>
            <p:cNvPr id="149" name="Google Shape;149;p27"/>
            <p:cNvSpPr/>
            <p:nvPr/>
          </p:nvSpPr>
          <p:spPr>
            <a:xfrm>
              <a:off x="0" y="0"/>
              <a:ext cx="9144000" cy="617175"/>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0" name="Google Shape;150;p27"/>
            <p:cNvSpPr/>
            <p:nvPr/>
          </p:nvSpPr>
          <p:spPr>
            <a:xfrm>
              <a:off x="117750" y="0"/>
              <a:ext cx="9026325" cy="617175"/>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51" name="Google Shape;151;p27"/>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Dataset: MovieLens Latest 2023 Characteristics</a:t>
            </a:r>
            <a:endParaRPr sz="2500">
              <a:solidFill>
                <a:schemeClr val="lt1"/>
              </a:solidFill>
              <a:latin typeface="Trebuchet MS"/>
              <a:ea typeface="Trebuchet MS"/>
              <a:cs typeface="Trebuchet MS"/>
              <a:sym typeface="Trebuchet MS"/>
            </a:endParaRPr>
          </a:p>
        </p:txBody>
      </p:sp>
      <p:pic>
        <p:nvPicPr>
          <p:cNvPr id="152" name="Google Shape;152;p27" title="user_item_dist.png"/>
          <p:cNvPicPr preferRelativeResize="0"/>
          <p:nvPr/>
        </p:nvPicPr>
        <p:blipFill>
          <a:blip r:embed="rId3">
            <a:alphaModFix/>
          </a:blip>
          <a:stretch>
            <a:fillRect/>
          </a:stretch>
        </p:blipFill>
        <p:spPr>
          <a:xfrm>
            <a:off x="3680339" y="714750"/>
            <a:ext cx="4917073" cy="1776300"/>
          </a:xfrm>
          <a:prstGeom prst="rect">
            <a:avLst/>
          </a:prstGeom>
          <a:noFill/>
          <a:ln>
            <a:noFill/>
          </a:ln>
        </p:spPr>
      </p:pic>
      <p:sp>
        <p:nvSpPr>
          <p:cNvPr id="153" name="Google Shape;153;p27"/>
          <p:cNvSpPr/>
          <p:nvPr/>
        </p:nvSpPr>
        <p:spPr>
          <a:xfrm>
            <a:off x="813938" y="4045776"/>
            <a:ext cx="2177400" cy="178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099"/>
              <a:buFont typeface="DM Sans"/>
              <a:buNone/>
            </a:pPr>
            <a:r>
              <a:rPr i="0" lang="zh-CN" sz="1100" u="none" cap="none" strike="noStrike">
                <a:solidFill>
                  <a:srgbClr val="030303"/>
                </a:solidFill>
                <a:latin typeface="Trebuchet MS"/>
                <a:ea typeface="Trebuchet MS"/>
                <a:cs typeface="Trebuchet MS"/>
                <a:sym typeface="Trebuchet MS"/>
              </a:rPr>
              <a:t>Heavy-Tailed Users (Gini ≈ 0.70)</a:t>
            </a:r>
            <a:endParaRPr i="0" sz="1100" u="none" cap="none" strike="noStrike">
              <a:latin typeface="Trebuchet MS"/>
              <a:ea typeface="Trebuchet MS"/>
              <a:cs typeface="Trebuchet MS"/>
              <a:sym typeface="Trebuchet MS"/>
            </a:endParaRPr>
          </a:p>
        </p:txBody>
      </p:sp>
      <p:sp>
        <p:nvSpPr>
          <p:cNvPr id="154" name="Google Shape;154;p27"/>
          <p:cNvSpPr/>
          <p:nvPr/>
        </p:nvSpPr>
        <p:spPr>
          <a:xfrm>
            <a:off x="813949" y="4314975"/>
            <a:ext cx="2346000" cy="49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79"/>
              <a:buFont typeface="Inter"/>
              <a:buNone/>
            </a:pPr>
            <a:r>
              <a:rPr i="0" lang="zh-CN" sz="900" u="none" cap="none" strike="noStrike">
                <a:solidFill>
                  <a:srgbClr val="464646"/>
                </a:solidFill>
              </a:rPr>
              <a:t>Majority rate &lt;100 items; power users exceed 10K. Regularization must account for varying observation counts across users.</a:t>
            </a:r>
            <a:endParaRPr i="0" sz="900" u="none" cap="none" strike="noStrike"/>
          </a:p>
        </p:txBody>
      </p:sp>
      <p:sp>
        <p:nvSpPr>
          <p:cNvPr id="155" name="Google Shape;155;p27"/>
          <p:cNvSpPr/>
          <p:nvPr/>
        </p:nvSpPr>
        <p:spPr>
          <a:xfrm>
            <a:off x="6224768" y="4045776"/>
            <a:ext cx="1913400" cy="178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099"/>
              <a:buFont typeface="DM Sans"/>
              <a:buNone/>
            </a:pPr>
            <a:r>
              <a:rPr i="0" lang="zh-CN" sz="1100" u="none" cap="none" strike="noStrike">
                <a:solidFill>
                  <a:srgbClr val="030303"/>
                </a:solidFill>
                <a:latin typeface="Trebuchet MS"/>
                <a:ea typeface="Trebuchet MS"/>
                <a:cs typeface="Trebuchet MS"/>
                <a:sym typeface="Trebuchet MS"/>
              </a:rPr>
              <a:t>Long-Tail Items (Gini ≈ 0.95)</a:t>
            </a:r>
            <a:endParaRPr i="0" sz="1100" u="none" cap="none" strike="noStrike">
              <a:latin typeface="Trebuchet MS"/>
              <a:ea typeface="Trebuchet MS"/>
              <a:cs typeface="Trebuchet MS"/>
              <a:sym typeface="Trebuchet MS"/>
            </a:endParaRPr>
          </a:p>
        </p:txBody>
      </p:sp>
      <p:sp>
        <p:nvSpPr>
          <p:cNvPr id="156" name="Google Shape;156;p27"/>
          <p:cNvSpPr/>
          <p:nvPr/>
        </p:nvSpPr>
        <p:spPr>
          <a:xfrm>
            <a:off x="6224774" y="4314975"/>
            <a:ext cx="2264100" cy="49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79"/>
              <a:buFont typeface="Inter"/>
              <a:buNone/>
            </a:pPr>
            <a:r>
              <a:rPr i="0" lang="zh-CN" sz="900" u="none" cap="none" strike="noStrike">
                <a:solidFill>
                  <a:srgbClr val="464646"/>
                </a:solidFill>
              </a:rPr>
              <a:t>Most movies receive &lt;10 ratings — cold-start is endemic. Content features (title, genre) help denoise tail items.</a:t>
            </a:r>
            <a:endParaRPr i="0" sz="900" u="none" cap="none" strike="noStrike"/>
          </a:p>
        </p:txBody>
      </p:sp>
      <p:sp>
        <p:nvSpPr>
          <p:cNvPr id="157" name="Google Shape;157;p27"/>
          <p:cNvSpPr/>
          <p:nvPr/>
        </p:nvSpPr>
        <p:spPr>
          <a:xfrm>
            <a:off x="3696395" y="4045776"/>
            <a:ext cx="1424700" cy="178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099"/>
              <a:buFont typeface="DM Sans"/>
              <a:buNone/>
            </a:pPr>
            <a:r>
              <a:rPr i="0" lang="zh-CN" sz="1100" u="none" cap="none" strike="noStrike">
                <a:solidFill>
                  <a:srgbClr val="030303"/>
                </a:solidFill>
                <a:latin typeface="Trebuchet MS"/>
                <a:ea typeface="Trebuchet MS"/>
                <a:cs typeface="Trebuchet MS"/>
                <a:sym typeface="Trebuchet MS"/>
              </a:rPr>
              <a:t>Per-User 80/20 Split</a:t>
            </a:r>
            <a:endParaRPr i="0" sz="1100" u="none" cap="none" strike="noStrike">
              <a:latin typeface="Trebuchet MS"/>
              <a:ea typeface="Trebuchet MS"/>
              <a:cs typeface="Trebuchet MS"/>
              <a:sym typeface="Trebuchet MS"/>
            </a:endParaRPr>
          </a:p>
        </p:txBody>
      </p:sp>
      <p:sp>
        <p:nvSpPr>
          <p:cNvPr id="158" name="Google Shape;158;p27"/>
          <p:cNvSpPr/>
          <p:nvPr/>
        </p:nvSpPr>
        <p:spPr>
          <a:xfrm>
            <a:off x="3696399" y="4314975"/>
            <a:ext cx="2067600" cy="49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79"/>
              <a:buFont typeface="Inter"/>
              <a:buNone/>
            </a:pPr>
            <a:r>
              <a:rPr i="0" lang="zh-CN" sz="900" u="none" cap="none" strike="noStrike">
                <a:solidFill>
                  <a:srgbClr val="464646"/>
                </a:solidFill>
              </a:rPr>
              <a:t>Each user independently splits; ensures all models see the same user history, making comparisons directly valid.</a:t>
            </a:r>
            <a:endParaRPr i="0" sz="900" u="none" cap="none" strike="noStrike"/>
          </a:p>
        </p:txBody>
      </p:sp>
      <p:graphicFrame>
        <p:nvGraphicFramePr>
          <p:cNvPr id="159" name="Google Shape;159;p27"/>
          <p:cNvGraphicFramePr/>
          <p:nvPr/>
        </p:nvGraphicFramePr>
        <p:xfrm>
          <a:off x="847600" y="861325"/>
          <a:ext cx="3000000" cy="3000000"/>
        </p:xfrm>
        <a:graphic>
          <a:graphicData uri="http://schemas.openxmlformats.org/drawingml/2006/table">
            <a:tbl>
              <a:tblPr>
                <a:noFill/>
                <a:tableStyleId>{04352D28-8A1F-403E-BDEB-144B55623AA5}</a:tableStyleId>
              </a:tblPr>
              <a:tblGrid>
                <a:gridCol w="1331875"/>
                <a:gridCol w="892925"/>
              </a:tblGrid>
              <a:tr h="263625">
                <a:tc>
                  <a:txBody>
                    <a:bodyPr/>
                    <a:lstStyle/>
                    <a:p>
                      <a:pPr indent="0" lvl="0" marL="0" rtl="0" algn="ctr">
                        <a:lnSpc>
                          <a:spcPct val="115000"/>
                        </a:lnSpc>
                        <a:spcBef>
                          <a:spcPts val="0"/>
                        </a:spcBef>
                        <a:spcAft>
                          <a:spcPts val="0"/>
                        </a:spcAft>
                        <a:buNone/>
                      </a:pPr>
                      <a:r>
                        <a:rPr b="1" lang="zh-CN" sz="1100">
                          <a:solidFill>
                            <a:schemeClr val="dk1"/>
                          </a:solidFill>
                          <a:latin typeface="Trebuchet MS"/>
                          <a:ea typeface="Trebuchet MS"/>
                          <a:cs typeface="Trebuchet MS"/>
                          <a:sym typeface="Trebuchet MS"/>
                        </a:rPr>
                        <a:t>Statistic</a:t>
                      </a:r>
                      <a:endParaRPr b="1" sz="1100">
                        <a:solidFill>
                          <a:schemeClr val="dk1"/>
                        </a:solidFill>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100">
                          <a:solidFill>
                            <a:schemeClr val="dk1"/>
                          </a:solidFill>
                          <a:latin typeface="Trebuchet MS"/>
                          <a:ea typeface="Trebuchet MS"/>
                          <a:cs typeface="Trebuchet MS"/>
                          <a:sym typeface="Trebuchet MS"/>
                        </a:rPr>
                        <a:t>Value</a:t>
                      </a:r>
                      <a:endParaRPr b="1" sz="1100">
                        <a:solidFill>
                          <a:schemeClr val="dk1"/>
                        </a:solidFill>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319100">
                <a:tc>
                  <a:txBody>
                    <a:bodyPr/>
                    <a:lstStyle/>
                    <a:p>
                      <a:pPr indent="0" lvl="0" marL="0" rtl="0" algn="l">
                        <a:spcBef>
                          <a:spcPts val="0"/>
                        </a:spcBef>
                        <a:spcAft>
                          <a:spcPts val="0"/>
                        </a:spcAft>
                        <a:buNone/>
                      </a:pPr>
                      <a:r>
                        <a:rPr lang="zh-CN" sz="900"/>
                        <a:t>Users</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330,975</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Rated movies</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83,239</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Ratings</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33,832,162</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Density</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0.12%</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Sparsity</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99.88%</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Mean rating</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3.54</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Median ratings/user</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31.0</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100">
                <a:tc>
                  <a:txBody>
                    <a:bodyPr/>
                    <a:lstStyle/>
                    <a:p>
                      <a:pPr indent="0" lvl="0" marL="0" rtl="0" algn="l">
                        <a:spcBef>
                          <a:spcPts val="0"/>
                        </a:spcBef>
                        <a:spcAft>
                          <a:spcPts val="0"/>
                        </a:spcAft>
                        <a:buNone/>
                      </a:pPr>
                      <a:r>
                        <a:rPr lang="zh-CN" sz="900"/>
                        <a:t>Median ratings/item</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5.0</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60" name="Google Shape;160;p27"/>
          <p:cNvPicPr preferRelativeResize="0"/>
          <p:nvPr/>
        </p:nvPicPr>
        <p:blipFill>
          <a:blip r:embed="rId4">
            <a:alphaModFix/>
          </a:blip>
          <a:stretch>
            <a:fillRect/>
          </a:stretch>
        </p:blipFill>
        <p:spPr>
          <a:xfrm>
            <a:off x="3775503" y="2565429"/>
            <a:ext cx="2432711" cy="1334347"/>
          </a:xfrm>
          <a:prstGeom prst="rect">
            <a:avLst/>
          </a:prstGeom>
          <a:noFill/>
          <a:ln>
            <a:noFill/>
          </a:ln>
        </p:spPr>
      </p:pic>
      <p:pic>
        <p:nvPicPr>
          <p:cNvPr id="161" name="Google Shape;161;p27" title="rating_dist.png"/>
          <p:cNvPicPr preferRelativeResize="0"/>
          <p:nvPr/>
        </p:nvPicPr>
        <p:blipFill>
          <a:blip r:embed="rId5">
            <a:alphaModFix/>
          </a:blip>
          <a:stretch>
            <a:fillRect/>
          </a:stretch>
        </p:blipFill>
        <p:spPr>
          <a:xfrm>
            <a:off x="6260855" y="2573195"/>
            <a:ext cx="2261605" cy="13222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28"/>
          <p:cNvGrpSpPr/>
          <p:nvPr/>
        </p:nvGrpSpPr>
        <p:grpSpPr>
          <a:xfrm>
            <a:off x="0" y="0"/>
            <a:ext cx="9144150" cy="617100"/>
            <a:chOff x="0" y="0"/>
            <a:chExt cx="9144150" cy="617100"/>
          </a:xfrm>
        </p:grpSpPr>
        <p:sp>
          <p:nvSpPr>
            <p:cNvPr id="167" name="Google Shape;167;p28"/>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8" name="Google Shape;168;p28"/>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9" name="Google Shape;169;p28"/>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Methodology: Six Collaborative Filtering Models</a:t>
            </a:r>
            <a:endParaRPr sz="2500">
              <a:solidFill>
                <a:schemeClr val="lt1"/>
              </a:solidFill>
              <a:latin typeface="Trebuchet MS"/>
              <a:ea typeface="Trebuchet MS"/>
              <a:cs typeface="Trebuchet MS"/>
              <a:sym typeface="Trebuchet MS"/>
            </a:endParaRPr>
          </a:p>
        </p:txBody>
      </p:sp>
      <p:graphicFrame>
        <p:nvGraphicFramePr>
          <p:cNvPr id="170" name="Google Shape;170;p28"/>
          <p:cNvGraphicFramePr/>
          <p:nvPr/>
        </p:nvGraphicFramePr>
        <p:xfrm>
          <a:off x="373425" y="2231975"/>
          <a:ext cx="3000000" cy="3000000"/>
        </p:xfrm>
        <a:graphic>
          <a:graphicData uri="http://schemas.openxmlformats.org/drawingml/2006/table">
            <a:tbl>
              <a:tblPr>
                <a:noFill/>
                <a:tableStyleId>{04352D28-8A1F-403E-BDEB-144B55623AA5}</a:tableStyleId>
              </a:tblPr>
              <a:tblGrid>
                <a:gridCol w="1185175"/>
                <a:gridCol w="1280925"/>
                <a:gridCol w="504750"/>
                <a:gridCol w="649150"/>
                <a:gridCol w="1503350"/>
                <a:gridCol w="731600"/>
                <a:gridCol w="2542325"/>
              </a:tblGrid>
              <a:tr h="335250">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Model</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Type</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k</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Loss</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Optimizer</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Epochs</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Key Feature</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335250">
                <a:tc>
                  <a:txBody>
                    <a:bodyPr/>
                    <a:lstStyle/>
                    <a:p>
                      <a:pPr indent="0" lvl="0" marL="0" rtl="0" algn="l">
                        <a:spcBef>
                          <a:spcPts val="0"/>
                        </a:spcBef>
                        <a:spcAft>
                          <a:spcPts val="0"/>
                        </a:spcAft>
                        <a:buNone/>
                      </a:pPr>
                      <a:r>
                        <a:rPr lang="zh-CN" sz="1000"/>
                        <a:t>MF-SGD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MF</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64</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MSE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Mini-batch SGD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≤150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LR decay 0.99×/ep; early stop</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250">
                <a:tc>
                  <a:txBody>
                    <a:bodyPr/>
                    <a:lstStyle/>
                    <a:p>
                      <a:pPr indent="0" lvl="0" marL="0" rtl="0" algn="l">
                        <a:spcBef>
                          <a:spcPts val="0"/>
                        </a:spcBef>
                        <a:spcAft>
                          <a:spcPts val="0"/>
                        </a:spcAft>
                        <a:buNone/>
                      </a:pPr>
                      <a:r>
                        <a:rPr lang="zh-CN" sz="1000"/>
                        <a:t>Deep Hybrid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Neural CF</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96</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Huber</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Adam + plateau</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50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CNN title + genre embed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250">
                <a:tc>
                  <a:txBody>
                    <a:bodyPr/>
                    <a:lstStyle/>
                    <a:p>
                      <a:pPr indent="0" lvl="0" marL="0" rtl="0" algn="l">
                        <a:spcBef>
                          <a:spcPts val="0"/>
                        </a:spcBef>
                        <a:spcAft>
                          <a:spcPts val="0"/>
                        </a:spcAft>
                        <a:buNone/>
                      </a:pPr>
                      <a:r>
                        <a:rPr lang="zh-CN" sz="1000"/>
                        <a:t>SVD-Ridge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SVD + Linear</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48</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MSE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Ridge (closed)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Calibration: wᵀφ(u,i)</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250">
                <a:tc>
                  <a:txBody>
                    <a:bodyPr/>
                    <a:lstStyle/>
                    <a:p>
                      <a:pPr indent="0" lvl="0" marL="0" rtl="0" algn="l">
                        <a:spcBef>
                          <a:spcPts val="0"/>
                        </a:spcBef>
                        <a:spcAft>
                          <a:spcPts val="0"/>
                        </a:spcAft>
                        <a:buNone/>
                      </a:pPr>
                      <a:r>
                        <a:rPr lang="zh-CN" sz="1000"/>
                        <a:t>SVD-Lasso</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SVD + Linear</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48</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MSE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Lasso (CD)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L1 sparsifies weights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250">
                <a:tc>
                  <a:txBody>
                    <a:bodyPr/>
                    <a:lstStyle/>
                    <a:p>
                      <a:pPr indent="0" lvl="0" marL="0" rtl="0" algn="l">
                        <a:spcBef>
                          <a:spcPts val="0"/>
                        </a:spcBef>
                        <a:spcAft>
                          <a:spcPts val="0"/>
                        </a:spcAft>
                        <a:buNone/>
                      </a:pPr>
                      <a:r>
                        <a:rPr lang="zh-CN" sz="1000"/>
                        <a:t>SVD-KNN</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SVD + Cosine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48</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None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L2-norm item factors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250">
                <a:tc>
                  <a:txBody>
                    <a:bodyPr/>
                    <a:lstStyle/>
                    <a:p>
                      <a:pPr indent="0" lvl="0" marL="0" rtl="0" algn="l">
                        <a:spcBef>
                          <a:spcPts val="0"/>
                        </a:spcBef>
                        <a:spcAft>
                          <a:spcPts val="0"/>
                        </a:spcAft>
                        <a:buNone/>
                      </a:pPr>
                      <a:r>
                        <a:rPr lang="zh-CN" sz="1000"/>
                        <a:t>MF-ALS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MF</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96</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MSE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Alternating LS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≤40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Block coordinate descent</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71" name="Google Shape;171;p28"/>
          <p:cNvSpPr txBox="1"/>
          <p:nvPr/>
        </p:nvSpPr>
        <p:spPr>
          <a:xfrm>
            <a:off x="306025" y="809500"/>
            <a:ext cx="8464800" cy="130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t>All models follow a common prediction form: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zh-CN"/>
              <a:t>We evaluate them under the same protocol using a fixed-seed per-user 80/20 holdout split, resulting in </a:t>
            </a:r>
            <a:r>
              <a:rPr i="1" lang="zh-CN"/>
              <a:t>Dtrain</a:t>
            </a:r>
            <a:r>
              <a:rPr lang="zh-CN"/>
              <a:t> = 27.07M and </a:t>
            </a:r>
            <a:r>
              <a:rPr i="1" lang="zh-CN"/>
              <a:t>Dtest</a:t>
            </a:r>
            <a:r>
              <a:rPr lang="zh-CN"/>
              <a:t> ​= 6.77M ratings.</a:t>
            </a:r>
            <a:endParaRPr/>
          </a:p>
        </p:txBody>
      </p:sp>
      <p:pic>
        <p:nvPicPr>
          <p:cNvPr id="172" name="Google Shape;172;p28"/>
          <p:cNvPicPr preferRelativeResize="0"/>
          <p:nvPr/>
        </p:nvPicPr>
        <p:blipFill>
          <a:blip r:embed="rId3">
            <a:alphaModFix/>
          </a:blip>
          <a:stretch>
            <a:fillRect/>
          </a:stretch>
        </p:blipFill>
        <p:spPr>
          <a:xfrm>
            <a:off x="3037225" y="1190625"/>
            <a:ext cx="2528100" cy="309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29"/>
          <p:cNvGrpSpPr/>
          <p:nvPr/>
        </p:nvGrpSpPr>
        <p:grpSpPr>
          <a:xfrm>
            <a:off x="0" y="0"/>
            <a:ext cx="9144150" cy="617100"/>
            <a:chOff x="0" y="0"/>
            <a:chExt cx="9144150" cy="617100"/>
          </a:xfrm>
        </p:grpSpPr>
        <p:sp>
          <p:nvSpPr>
            <p:cNvPr id="178" name="Google Shape;178;p29"/>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9" name="Google Shape;179;p29"/>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80" name="Google Shape;180;p29"/>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Experimental Setup</a:t>
            </a:r>
            <a:endParaRPr sz="2500">
              <a:solidFill>
                <a:schemeClr val="lt1"/>
              </a:solidFill>
              <a:latin typeface="Trebuchet MS"/>
              <a:ea typeface="Trebuchet MS"/>
              <a:cs typeface="Trebuchet MS"/>
              <a:sym typeface="Trebuchet MS"/>
            </a:endParaRPr>
          </a:p>
        </p:txBody>
      </p:sp>
      <p:sp>
        <p:nvSpPr>
          <p:cNvPr id="181" name="Google Shape;181;p29"/>
          <p:cNvSpPr txBox="1"/>
          <p:nvPr/>
        </p:nvSpPr>
        <p:spPr>
          <a:xfrm>
            <a:off x="369000" y="862725"/>
            <a:ext cx="39645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300">
                <a:latin typeface="Trebuchet MS"/>
                <a:ea typeface="Trebuchet MS"/>
                <a:cs typeface="Trebuchet MS"/>
                <a:sym typeface="Trebuchet MS"/>
              </a:rPr>
              <a:t>Evaluation Protocols</a:t>
            </a:r>
            <a:endParaRPr sz="1300"/>
          </a:p>
          <a:p>
            <a:pPr indent="0" lvl="0" marL="0" rtl="0" algn="l">
              <a:spcBef>
                <a:spcPts val="1000"/>
              </a:spcBef>
              <a:spcAft>
                <a:spcPts val="0"/>
              </a:spcAft>
              <a:buNone/>
            </a:pPr>
            <a:r>
              <a:rPr lang="zh-CN" sz="1100">
                <a:solidFill>
                  <a:srgbClr val="434343"/>
                </a:solidFill>
              </a:rPr>
              <a:t>All models share an identical per-user 80/20 holdout split </a:t>
            </a:r>
            <a:endParaRPr sz="1100">
              <a:solidFill>
                <a:srgbClr val="434343"/>
              </a:solidFill>
            </a:endParaRPr>
          </a:p>
          <a:p>
            <a:pPr indent="0" lvl="0" marL="0" rtl="0" algn="l">
              <a:spcBef>
                <a:spcPts val="0"/>
              </a:spcBef>
              <a:spcAft>
                <a:spcPts val="0"/>
              </a:spcAft>
              <a:buNone/>
            </a:pPr>
            <a:r>
              <a:rPr lang="zh-CN" sz="1100">
                <a:solidFill>
                  <a:srgbClr val="434343"/>
                </a:solidFill>
              </a:rPr>
              <a:t>(</a:t>
            </a:r>
            <a:r>
              <a:rPr lang="zh-CN" sz="1100">
                <a:solidFill>
                  <a:srgbClr val="434343"/>
                </a:solidFill>
              </a:rPr>
              <a:t>with </a:t>
            </a:r>
            <a:r>
              <a:rPr lang="zh-CN" sz="1100">
                <a:solidFill>
                  <a:srgbClr val="434343"/>
                </a:solidFill>
              </a:rPr>
              <a:t>fixed random seed):</a:t>
            </a:r>
            <a:endParaRPr sz="1100">
              <a:solidFill>
                <a:srgbClr val="434343"/>
              </a:solidFill>
            </a:endParaRPr>
          </a:p>
          <a:p>
            <a:pPr indent="-298450" lvl="0" marL="457200" rtl="0" algn="l">
              <a:spcBef>
                <a:spcPts val="1000"/>
              </a:spcBef>
              <a:spcAft>
                <a:spcPts val="0"/>
              </a:spcAft>
              <a:buClr>
                <a:srgbClr val="434343"/>
              </a:buClr>
              <a:buSzPts val="1100"/>
              <a:buChar char="●"/>
            </a:pPr>
            <a:r>
              <a:rPr lang="zh-CN" sz="1100">
                <a:solidFill>
                  <a:srgbClr val="434343"/>
                </a:solidFill>
              </a:rPr>
              <a:t>D_train: 27,065,494 ratings</a:t>
            </a:r>
            <a:endParaRPr sz="1100">
              <a:solidFill>
                <a:srgbClr val="434343"/>
              </a:solidFill>
            </a:endParaRPr>
          </a:p>
          <a:p>
            <a:pPr indent="-298450" lvl="0" marL="457200" rtl="0" algn="l">
              <a:spcBef>
                <a:spcPts val="0"/>
              </a:spcBef>
              <a:spcAft>
                <a:spcPts val="0"/>
              </a:spcAft>
              <a:buClr>
                <a:srgbClr val="434343"/>
              </a:buClr>
              <a:buSzPts val="1100"/>
              <a:buChar char="●"/>
            </a:pPr>
            <a:r>
              <a:rPr lang="zh-CN" sz="1100">
                <a:solidFill>
                  <a:srgbClr val="434343"/>
                </a:solidFill>
              </a:rPr>
              <a:t>D_test: 6,766,668 ratings</a:t>
            </a:r>
            <a:endParaRPr sz="1100">
              <a:solidFill>
                <a:srgbClr val="434343"/>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latin typeface="Trebuchet MS"/>
                <a:ea typeface="Trebuchet MS"/>
                <a:cs typeface="Trebuchet MS"/>
                <a:sym typeface="Trebuchet MS"/>
              </a:rPr>
              <a:t>Rating Prediction</a:t>
            </a:r>
            <a:endParaRPr>
              <a:latin typeface="Trebuchet MS"/>
              <a:ea typeface="Trebuchet MS"/>
              <a:cs typeface="Trebuchet MS"/>
              <a:sym typeface="Trebuchet MS"/>
            </a:endParaRPr>
          </a:p>
          <a:p>
            <a:pPr indent="0" lvl="0" marL="0" rtl="0" algn="l">
              <a:spcBef>
                <a:spcPts val="1000"/>
              </a:spcBef>
              <a:spcAft>
                <a:spcPts val="1000"/>
              </a:spcAft>
              <a:buNone/>
            </a:pPr>
            <a:r>
              <a:rPr lang="zh-CN" sz="1200">
                <a:solidFill>
                  <a:srgbClr val="464646"/>
                </a:solidFill>
              </a:rPr>
              <a:t>MAE and RMSE computed over all 6.77M test ratings.</a:t>
            </a:r>
            <a:endParaRPr/>
          </a:p>
        </p:txBody>
      </p:sp>
      <p:pic>
        <p:nvPicPr>
          <p:cNvPr id="182" name="Google Shape;182;p29"/>
          <p:cNvPicPr preferRelativeResize="0"/>
          <p:nvPr/>
        </p:nvPicPr>
        <p:blipFill>
          <a:blip r:embed="rId3">
            <a:alphaModFix/>
          </a:blip>
          <a:stretch>
            <a:fillRect/>
          </a:stretch>
        </p:blipFill>
        <p:spPr>
          <a:xfrm>
            <a:off x="515044" y="3194725"/>
            <a:ext cx="2624693" cy="295365"/>
          </a:xfrm>
          <a:prstGeom prst="rect">
            <a:avLst/>
          </a:prstGeom>
          <a:noFill/>
          <a:ln>
            <a:noFill/>
          </a:ln>
        </p:spPr>
      </p:pic>
      <p:pic>
        <p:nvPicPr>
          <p:cNvPr id="183" name="Google Shape;183;p29"/>
          <p:cNvPicPr preferRelativeResize="0"/>
          <p:nvPr/>
        </p:nvPicPr>
        <p:blipFill>
          <a:blip r:embed="rId4">
            <a:alphaModFix/>
          </a:blip>
          <a:stretch>
            <a:fillRect/>
          </a:stretch>
        </p:blipFill>
        <p:spPr>
          <a:xfrm>
            <a:off x="481350" y="3527985"/>
            <a:ext cx="2805785" cy="334465"/>
          </a:xfrm>
          <a:prstGeom prst="rect">
            <a:avLst/>
          </a:prstGeom>
          <a:noFill/>
          <a:ln>
            <a:noFill/>
          </a:ln>
        </p:spPr>
      </p:pic>
      <p:sp>
        <p:nvSpPr>
          <p:cNvPr id="184" name="Google Shape;184;p29"/>
          <p:cNvSpPr txBox="1"/>
          <p:nvPr/>
        </p:nvSpPr>
        <p:spPr>
          <a:xfrm>
            <a:off x="4817500" y="882675"/>
            <a:ext cx="3655200" cy="142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solidFill>
                  <a:schemeClr val="dk1"/>
                </a:solidFill>
                <a:latin typeface="Trebuchet MS"/>
                <a:ea typeface="Trebuchet MS"/>
                <a:cs typeface="Trebuchet MS"/>
                <a:sym typeface="Trebuchet MS"/>
              </a:rPr>
              <a:t>Top-10 Recommendation</a:t>
            </a:r>
            <a:endParaRPr>
              <a:solidFill>
                <a:schemeClr val="dk1"/>
              </a:solidFill>
              <a:latin typeface="Trebuchet MS"/>
              <a:ea typeface="Trebuchet MS"/>
              <a:cs typeface="Trebuchet MS"/>
              <a:sym typeface="Trebuchet MS"/>
            </a:endParaRPr>
          </a:p>
          <a:p>
            <a:pPr indent="0" lvl="0" marL="0" rtl="0" algn="l">
              <a:spcBef>
                <a:spcPts val="1000"/>
              </a:spcBef>
              <a:spcAft>
                <a:spcPts val="0"/>
              </a:spcAft>
              <a:buNone/>
            </a:pPr>
            <a:r>
              <a:rPr lang="zh-CN" sz="1200">
                <a:solidFill>
                  <a:srgbClr val="434343"/>
                </a:solidFill>
              </a:rPr>
              <a:t>For each user, all unrated items are ranked by predicted score, and the top 10 are selected. All held-out test items treated as relevant.</a:t>
            </a:r>
            <a:endParaRPr sz="1200">
              <a:solidFill>
                <a:srgbClr val="434343"/>
              </a:solidFill>
            </a:endParaRPr>
          </a:p>
          <a:p>
            <a:pPr indent="0" lvl="0" marL="0" rtl="0" algn="l">
              <a:spcBef>
                <a:spcPts val="1000"/>
              </a:spcBef>
              <a:spcAft>
                <a:spcPts val="1000"/>
              </a:spcAft>
              <a:buNone/>
            </a:pPr>
            <a:r>
              <a:rPr lang="zh-CN">
                <a:solidFill>
                  <a:schemeClr val="dk1"/>
                </a:solidFill>
                <a:latin typeface="Trebuchet MS"/>
                <a:ea typeface="Trebuchet MS"/>
                <a:cs typeface="Trebuchet MS"/>
                <a:sym typeface="Trebuchet MS"/>
              </a:rPr>
              <a:t>Metrics: </a:t>
            </a:r>
            <a:endParaRPr/>
          </a:p>
        </p:txBody>
      </p:sp>
      <p:grpSp>
        <p:nvGrpSpPr>
          <p:cNvPr id="185" name="Google Shape;185;p29"/>
          <p:cNvGrpSpPr/>
          <p:nvPr/>
        </p:nvGrpSpPr>
        <p:grpSpPr>
          <a:xfrm>
            <a:off x="4925150" y="2329000"/>
            <a:ext cx="3136325" cy="1005275"/>
            <a:chOff x="4920150" y="2189450"/>
            <a:chExt cx="3136325" cy="1005275"/>
          </a:xfrm>
        </p:grpSpPr>
        <p:sp>
          <p:nvSpPr>
            <p:cNvPr id="186" name="Google Shape;186;p29"/>
            <p:cNvSpPr/>
            <p:nvPr/>
          </p:nvSpPr>
          <p:spPr>
            <a:xfrm>
              <a:off x="5693875" y="2724625"/>
              <a:ext cx="1172400" cy="470100"/>
            </a:xfrm>
            <a:prstGeom prst="rect">
              <a:avLst/>
            </a:prstGeom>
            <a:solidFill>
              <a:srgbClr val="F3F3F3"/>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Recall@10</a:t>
              </a:r>
              <a:endParaRPr b="1">
                <a:solidFill>
                  <a:srgbClr val="38761D"/>
                </a:solidFill>
                <a:latin typeface="Trebuchet MS"/>
                <a:ea typeface="Trebuchet MS"/>
                <a:cs typeface="Trebuchet MS"/>
                <a:sym typeface="Trebuchet MS"/>
              </a:endParaRPr>
            </a:p>
          </p:txBody>
        </p:sp>
        <p:sp>
          <p:nvSpPr>
            <p:cNvPr id="187" name="Google Shape;187;p29"/>
            <p:cNvSpPr/>
            <p:nvPr/>
          </p:nvSpPr>
          <p:spPr>
            <a:xfrm>
              <a:off x="5693875" y="2189450"/>
              <a:ext cx="1395300" cy="470100"/>
            </a:xfrm>
            <a:prstGeom prst="rect">
              <a:avLst/>
            </a:prstGeom>
            <a:solidFill>
              <a:srgbClr val="F3F3F3"/>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Precision@10</a:t>
              </a:r>
              <a:endParaRPr sz="600">
                <a:solidFill>
                  <a:srgbClr val="38761D"/>
                </a:solidFill>
              </a:endParaRPr>
            </a:p>
          </p:txBody>
        </p:sp>
        <p:sp>
          <p:nvSpPr>
            <p:cNvPr id="188" name="Google Shape;188;p29"/>
            <p:cNvSpPr/>
            <p:nvPr/>
          </p:nvSpPr>
          <p:spPr>
            <a:xfrm>
              <a:off x="7160075" y="2189450"/>
              <a:ext cx="896400" cy="470100"/>
            </a:xfrm>
            <a:prstGeom prst="rect">
              <a:avLst/>
            </a:prstGeom>
            <a:solidFill>
              <a:srgbClr val="F3F3F3"/>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F1@10</a:t>
              </a:r>
              <a:endParaRPr b="1">
                <a:solidFill>
                  <a:srgbClr val="38761D"/>
                </a:solidFill>
                <a:latin typeface="Trebuchet MS"/>
                <a:ea typeface="Trebuchet MS"/>
                <a:cs typeface="Trebuchet MS"/>
                <a:sym typeface="Trebuchet MS"/>
              </a:endParaRPr>
            </a:p>
          </p:txBody>
        </p:sp>
        <p:sp>
          <p:nvSpPr>
            <p:cNvPr id="189" name="Google Shape;189;p29"/>
            <p:cNvSpPr/>
            <p:nvPr/>
          </p:nvSpPr>
          <p:spPr>
            <a:xfrm>
              <a:off x="6928700" y="2724625"/>
              <a:ext cx="1127700" cy="470100"/>
            </a:xfrm>
            <a:prstGeom prst="rect">
              <a:avLst/>
            </a:prstGeom>
            <a:solidFill>
              <a:srgbClr val="F3F3F3"/>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NDCG@10 </a:t>
              </a:r>
              <a:endParaRPr b="1">
                <a:solidFill>
                  <a:srgbClr val="38761D"/>
                </a:solidFill>
                <a:latin typeface="Trebuchet MS"/>
                <a:ea typeface="Trebuchet MS"/>
                <a:cs typeface="Trebuchet MS"/>
                <a:sym typeface="Trebuchet MS"/>
              </a:endParaRPr>
            </a:p>
          </p:txBody>
        </p:sp>
        <p:sp>
          <p:nvSpPr>
            <p:cNvPr id="190" name="Google Shape;190;p29"/>
            <p:cNvSpPr/>
            <p:nvPr/>
          </p:nvSpPr>
          <p:spPr>
            <a:xfrm>
              <a:off x="4920150" y="2189450"/>
              <a:ext cx="711300" cy="470100"/>
            </a:xfrm>
            <a:prstGeom prst="rect">
              <a:avLst/>
            </a:prstGeom>
            <a:solidFill>
              <a:srgbClr val="F3F3F3"/>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BF9000"/>
                  </a:solidFill>
                  <a:latin typeface="Trebuchet MS"/>
                  <a:ea typeface="Trebuchet MS"/>
                  <a:cs typeface="Trebuchet MS"/>
                  <a:sym typeface="Trebuchet MS"/>
                </a:rPr>
                <a:t>MAE</a:t>
              </a:r>
              <a:endParaRPr b="1">
                <a:solidFill>
                  <a:srgbClr val="BF9000"/>
                </a:solidFill>
                <a:latin typeface="Trebuchet MS"/>
                <a:ea typeface="Trebuchet MS"/>
                <a:cs typeface="Trebuchet MS"/>
                <a:sym typeface="Trebuchet MS"/>
              </a:endParaRPr>
            </a:p>
          </p:txBody>
        </p:sp>
        <p:sp>
          <p:nvSpPr>
            <p:cNvPr id="191" name="Google Shape;191;p29"/>
            <p:cNvSpPr/>
            <p:nvPr/>
          </p:nvSpPr>
          <p:spPr>
            <a:xfrm>
              <a:off x="4920150" y="2724625"/>
              <a:ext cx="711300" cy="470100"/>
            </a:xfrm>
            <a:prstGeom prst="rect">
              <a:avLst/>
            </a:prstGeom>
            <a:solidFill>
              <a:srgbClr val="F3F3F3"/>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BF9000"/>
                  </a:solidFill>
                  <a:latin typeface="Trebuchet MS"/>
                  <a:ea typeface="Trebuchet MS"/>
                  <a:cs typeface="Trebuchet MS"/>
                  <a:sym typeface="Trebuchet MS"/>
                </a:rPr>
                <a:t>RMSE</a:t>
              </a:r>
              <a:endParaRPr b="1">
                <a:solidFill>
                  <a:srgbClr val="BF9000"/>
                </a:solidFill>
                <a:latin typeface="Trebuchet MS"/>
                <a:ea typeface="Trebuchet MS"/>
                <a:cs typeface="Trebuchet MS"/>
                <a:sym typeface="Trebuchet M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30"/>
          <p:cNvGrpSpPr/>
          <p:nvPr/>
        </p:nvGrpSpPr>
        <p:grpSpPr>
          <a:xfrm>
            <a:off x="0" y="0"/>
            <a:ext cx="9144150" cy="617100"/>
            <a:chOff x="0" y="0"/>
            <a:chExt cx="9144150" cy="617100"/>
          </a:xfrm>
        </p:grpSpPr>
        <p:sp>
          <p:nvSpPr>
            <p:cNvPr id="197" name="Google Shape;197;p30"/>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8" name="Google Shape;198;p30"/>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99" name="Google Shape;199;p30"/>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Matrix Factorization with SGD</a:t>
            </a:r>
            <a:endParaRPr sz="2500">
              <a:solidFill>
                <a:schemeClr val="lt1"/>
              </a:solidFill>
              <a:latin typeface="Trebuchet MS"/>
              <a:ea typeface="Trebuchet MS"/>
              <a:cs typeface="Trebuchet MS"/>
              <a:sym typeface="Trebuchet MS"/>
            </a:endParaRPr>
          </a:p>
        </p:txBody>
      </p:sp>
      <p:sp>
        <p:nvSpPr>
          <p:cNvPr id="200" name="Google Shape;200;p30"/>
          <p:cNvSpPr txBox="1"/>
          <p:nvPr/>
        </p:nvSpPr>
        <p:spPr>
          <a:xfrm>
            <a:off x="4866235" y="755082"/>
            <a:ext cx="4130100" cy="154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200">
                <a:latin typeface="Trebuchet MS"/>
                <a:ea typeface="Trebuchet MS"/>
                <a:cs typeface="Trebuchet MS"/>
                <a:sym typeface="Trebuchet MS"/>
              </a:rPr>
              <a:t>Hyperparameters</a:t>
            </a:r>
            <a:endParaRPr sz="1200">
              <a:latin typeface="Trebuchet MS"/>
              <a:ea typeface="Trebuchet MS"/>
              <a:cs typeface="Trebuchet MS"/>
              <a:sym typeface="Trebuchet MS"/>
            </a:endParaRPr>
          </a:p>
          <a:p>
            <a:pPr indent="-279400" lvl="0" marL="457200" rtl="0" algn="l">
              <a:lnSpc>
                <a:spcPct val="150000"/>
              </a:lnSpc>
              <a:spcBef>
                <a:spcPts val="1000"/>
              </a:spcBef>
              <a:spcAft>
                <a:spcPts val="0"/>
              </a:spcAft>
              <a:buSzPts val="800"/>
              <a:buChar char="○"/>
            </a:pPr>
            <a:r>
              <a:rPr lang="zh-CN" sz="800"/>
              <a:t>Latent dimension: </a:t>
            </a:r>
            <a:r>
              <a:rPr b="1" lang="zh-CN" sz="800"/>
              <a:t>k = 64</a:t>
            </a:r>
            <a:endParaRPr b="1" sz="800"/>
          </a:p>
          <a:p>
            <a:pPr indent="-279400" lvl="0" marL="457200" rtl="0" algn="l">
              <a:lnSpc>
                <a:spcPct val="150000"/>
              </a:lnSpc>
              <a:spcBef>
                <a:spcPts val="0"/>
              </a:spcBef>
              <a:spcAft>
                <a:spcPts val="0"/>
              </a:spcAft>
              <a:buSzPts val="800"/>
              <a:buChar char="○"/>
            </a:pPr>
            <a:r>
              <a:rPr lang="zh-CN" sz="800"/>
              <a:t>Learning rate: </a:t>
            </a:r>
            <a:r>
              <a:rPr b="1" lang="zh-CN" sz="800"/>
              <a:t>η = 0.005, decay 0.99× / epoch</a:t>
            </a:r>
            <a:endParaRPr b="1" sz="800"/>
          </a:p>
          <a:p>
            <a:pPr indent="-279400" lvl="0" marL="457200" rtl="0" algn="l">
              <a:lnSpc>
                <a:spcPct val="150000"/>
              </a:lnSpc>
              <a:spcBef>
                <a:spcPts val="0"/>
              </a:spcBef>
              <a:spcAft>
                <a:spcPts val="0"/>
              </a:spcAft>
              <a:buSzPts val="800"/>
              <a:buChar char="○"/>
            </a:pPr>
            <a:r>
              <a:rPr lang="zh-CN" sz="800"/>
              <a:t>Regularization: </a:t>
            </a:r>
            <a:r>
              <a:rPr b="1" lang="zh-CN" sz="800"/>
              <a:t>λ = 0.05 (L2)</a:t>
            </a:r>
            <a:endParaRPr b="1" sz="800"/>
          </a:p>
          <a:p>
            <a:pPr indent="-279400" lvl="0" marL="457200" rtl="0" algn="l">
              <a:lnSpc>
                <a:spcPct val="150000"/>
              </a:lnSpc>
              <a:spcBef>
                <a:spcPts val="0"/>
              </a:spcBef>
              <a:spcAft>
                <a:spcPts val="0"/>
              </a:spcAft>
              <a:buSzPts val="800"/>
              <a:buChar char="○"/>
            </a:pPr>
            <a:r>
              <a:rPr lang="zh-CN" sz="800"/>
              <a:t>Batch size: </a:t>
            </a:r>
            <a:r>
              <a:rPr b="1" lang="zh-CN" sz="800"/>
              <a:t>131,072 ratings</a:t>
            </a:r>
            <a:endParaRPr b="1" sz="800"/>
          </a:p>
          <a:p>
            <a:pPr indent="-279400" lvl="0" marL="457200" rtl="0" algn="l">
              <a:lnSpc>
                <a:spcPct val="150000"/>
              </a:lnSpc>
              <a:spcBef>
                <a:spcPts val="0"/>
              </a:spcBef>
              <a:spcAft>
                <a:spcPts val="0"/>
              </a:spcAft>
              <a:buSzPts val="800"/>
              <a:buChar char="○"/>
            </a:pPr>
            <a:r>
              <a:rPr lang="zh-CN" sz="800"/>
              <a:t>Early stopping: </a:t>
            </a:r>
            <a:r>
              <a:rPr b="1" lang="zh-CN" sz="800"/>
              <a:t>patience = 6 epochs</a:t>
            </a:r>
            <a:endParaRPr b="1" sz="800"/>
          </a:p>
          <a:p>
            <a:pPr indent="-279400" lvl="0" marL="457200" rtl="0" algn="l">
              <a:lnSpc>
                <a:spcPct val="150000"/>
              </a:lnSpc>
              <a:spcBef>
                <a:spcPts val="0"/>
              </a:spcBef>
              <a:spcAft>
                <a:spcPts val="0"/>
              </a:spcAft>
              <a:buSzPts val="800"/>
              <a:buChar char="○"/>
            </a:pPr>
            <a:r>
              <a:rPr lang="zh-CN" sz="800"/>
              <a:t>Initialization: </a:t>
            </a:r>
            <a:r>
              <a:rPr b="1" lang="zh-CN" sz="800"/>
              <a:t>N(0,0.1) for all factors</a:t>
            </a:r>
            <a:endParaRPr b="1" sz="800"/>
          </a:p>
        </p:txBody>
      </p:sp>
      <p:sp>
        <p:nvSpPr>
          <p:cNvPr id="201" name="Google Shape;201;p30"/>
          <p:cNvSpPr txBox="1"/>
          <p:nvPr/>
        </p:nvSpPr>
        <p:spPr>
          <a:xfrm>
            <a:off x="329150" y="775050"/>
            <a:ext cx="3211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200">
                <a:latin typeface="Trebuchet MS"/>
                <a:ea typeface="Trebuchet MS"/>
                <a:cs typeface="Trebuchet MS"/>
                <a:sym typeface="Trebuchet MS"/>
              </a:rPr>
              <a:t>L2-Regularized MSE Objective:</a:t>
            </a:r>
            <a:endParaRPr sz="1200">
              <a:latin typeface="Trebuchet MS"/>
              <a:ea typeface="Trebuchet MS"/>
              <a:cs typeface="Trebuchet MS"/>
              <a:sym typeface="Trebuchet MS"/>
            </a:endParaRPr>
          </a:p>
        </p:txBody>
      </p:sp>
      <p:pic>
        <p:nvPicPr>
          <p:cNvPr id="202" name="Google Shape;202;p30"/>
          <p:cNvPicPr preferRelativeResize="0"/>
          <p:nvPr/>
        </p:nvPicPr>
        <p:blipFill>
          <a:blip r:embed="rId3">
            <a:alphaModFix/>
          </a:blip>
          <a:stretch>
            <a:fillRect/>
          </a:stretch>
        </p:blipFill>
        <p:spPr>
          <a:xfrm>
            <a:off x="558375" y="1168888"/>
            <a:ext cx="3797025" cy="519825"/>
          </a:xfrm>
          <a:prstGeom prst="rect">
            <a:avLst/>
          </a:prstGeom>
          <a:noFill/>
          <a:ln>
            <a:noFill/>
          </a:ln>
        </p:spPr>
      </p:pic>
      <p:sp>
        <p:nvSpPr>
          <p:cNvPr id="203" name="Google Shape;203;p30"/>
          <p:cNvSpPr/>
          <p:nvPr/>
        </p:nvSpPr>
        <p:spPr>
          <a:xfrm>
            <a:off x="402375" y="2172502"/>
            <a:ext cx="1330800" cy="487200"/>
          </a:xfrm>
          <a:prstGeom prst="rect">
            <a:avLst/>
          </a:prstGeom>
          <a:solidFill>
            <a:srgbClr val="D9EAD3"/>
          </a:solidFill>
          <a:ln cap="flat" cmpd="sng" w="11175">
            <a:solidFill>
              <a:schemeClr val="dk2"/>
            </a:solidFill>
            <a:prstDash val="solid"/>
            <a:round/>
            <a:headEnd len="sm" w="sm" type="none"/>
            <a:tailEnd len="sm" w="sm" type="none"/>
          </a:ln>
        </p:spPr>
        <p:txBody>
          <a:bodyPr anchorCtr="0" anchor="ctr" bIns="107175" lIns="107175" spcFirstLastPara="1" rIns="107175" wrap="square" tIns="107175">
            <a:noAutofit/>
          </a:bodyPr>
          <a:lstStyle/>
          <a:p>
            <a:pPr indent="0" lvl="0" marL="0" rtl="0" algn="ctr">
              <a:spcBef>
                <a:spcPts val="0"/>
              </a:spcBef>
              <a:spcAft>
                <a:spcPts val="0"/>
              </a:spcAft>
              <a:buNone/>
            </a:pPr>
            <a:r>
              <a:rPr b="1" lang="zh-CN" sz="1441">
                <a:solidFill>
                  <a:srgbClr val="274E13"/>
                </a:solidFill>
                <a:latin typeface="Trebuchet MS"/>
                <a:ea typeface="Trebuchet MS"/>
                <a:cs typeface="Trebuchet MS"/>
                <a:sym typeface="Trebuchet MS"/>
              </a:rPr>
              <a:t>User ID</a:t>
            </a:r>
            <a:endParaRPr b="1" sz="1441">
              <a:solidFill>
                <a:srgbClr val="274E13"/>
              </a:solidFill>
              <a:latin typeface="Trebuchet MS"/>
              <a:ea typeface="Trebuchet MS"/>
              <a:cs typeface="Trebuchet MS"/>
              <a:sym typeface="Trebuchet MS"/>
            </a:endParaRPr>
          </a:p>
        </p:txBody>
      </p:sp>
      <p:sp>
        <p:nvSpPr>
          <p:cNvPr id="204" name="Google Shape;204;p30"/>
          <p:cNvSpPr/>
          <p:nvPr/>
        </p:nvSpPr>
        <p:spPr>
          <a:xfrm>
            <a:off x="2031549" y="2172502"/>
            <a:ext cx="1330800" cy="487200"/>
          </a:xfrm>
          <a:prstGeom prst="rect">
            <a:avLst/>
          </a:prstGeom>
          <a:solidFill>
            <a:schemeClr val="lt1"/>
          </a:solidFill>
          <a:ln cap="flat" cmpd="sng" w="11175">
            <a:solidFill>
              <a:schemeClr val="dk2"/>
            </a:solidFill>
            <a:prstDash val="solid"/>
            <a:round/>
            <a:headEnd len="sm" w="sm" type="none"/>
            <a:tailEnd len="sm" w="sm" type="none"/>
          </a:ln>
        </p:spPr>
        <p:txBody>
          <a:bodyPr anchorCtr="0" anchor="ctr" bIns="107175" lIns="107175" spcFirstLastPara="1" rIns="107175" wrap="square" tIns="107175">
            <a:noAutofit/>
          </a:bodyPr>
          <a:lstStyle/>
          <a:p>
            <a:pPr indent="0" lvl="0" marL="0" rtl="0" algn="ctr">
              <a:spcBef>
                <a:spcPts val="0"/>
              </a:spcBef>
              <a:spcAft>
                <a:spcPts val="0"/>
              </a:spcAft>
              <a:buNone/>
            </a:pPr>
            <a:r>
              <a:rPr b="1" lang="zh-CN" sz="1441">
                <a:latin typeface="Trebuchet MS"/>
                <a:ea typeface="Trebuchet MS"/>
                <a:cs typeface="Trebuchet MS"/>
                <a:sym typeface="Trebuchet MS"/>
              </a:rPr>
              <a:t>p_u, b_u</a:t>
            </a:r>
            <a:endParaRPr b="1" sz="1441">
              <a:latin typeface="Trebuchet MS"/>
              <a:ea typeface="Trebuchet MS"/>
              <a:cs typeface="Trebuchet MS"/>
              <a:sym typeface="Trebuchet MS"/>
            </a:endParaRPr>
          </a:p>
        </p:txBody>
      </p:sp>
      <p:sp>
        <p:nvSpPr>
          <p:cNvPr id="205" name="Google Shape;205;p30"/>
          <p:cNvSpPr/>
          <p:nvPr/>
        </p:nvSpPr>
        <p:spPr>
          <a:xfrm>
            <a:off x="4355395" y="2512304"/>
            <a:ext cx="1928100" cy="487200"/>
          </a:xfrm>
          <a:prstGeom prst="rect">
            <a:avLst/>
          </a:prstGeom>
          <a:solidFill>
            <a:schemeClr val="lt1"/>
          </a:solidFill>
          <a:ln cap="flat" cmpd="sng" w="11175">
            <a:solidFill>
              <a:schemeClr val="dk2"/>
            </a:solidFill>
            <a:prstDash val="solid"/>
            <a:round/>
            <a:headEnd len="sm" w="sm" type="none"/>
            <a:tailEnd len="sm" w="sm" type="none"/>
          </a:ln>
        </p:spPr>
        <p:txBody>
          <a:bodyPr anchorCtr="0" anchor="ctr" bIns="107175" lIns="107175" spcFirstLastPara="1" rIns="107175" wrap="square" tIns="107175">
            <a:noAutofit/>
          </a:bodyPr>
          <a:lstStyle/>
          <a:p>
            <a:pPr indent="0" lvl="0" marL="0" rtl="0" algn="ctr">
              <a:spcBef>
                <a:spcPts val="0"/>
              </a:spcBef>
              <a:spcAft>
                <a:spcPts val="0"/>
              </a:spcAft>
              <a:buNone/>
            </a:pPr>
            <a:r>
              <a:rPr b="1" lang="zh-CN" sz="1441">
                <a:latin typeface="Trebuchet MS"/>
                <a:ea typeface="Trebuchet MS"/>
                <a:cs typeface="Trebuchet MS"/>
                <a:sym typeface="Trebuchet MS"/>
              </a:rPr>
              <a:t>D</a:t>
            </a:r>
            <a:r>
              <a:rPr b="1" lang="zh-CN" sz="1441">
                <a:latin typeface="Trebuchet MS"/>
                <a:ea typeface="Trebuchet MS"/>
                <a:cs typeface="Trebuchet MS"/>
                <a:sym typeface="Trebuchet MS"/>
              </a:rPr>
              <a:t>ot Product + Bias</a:t>
            </a:r>
            <a:endParaRPr b="1" sz="1441">
              <a:latin typeface="Trebuchet MS"/>
              <a:ea typeface="Trebuchet MS"/>
              <a:cs typeface="Trebuchet MS"/>
              <a:sym typeface="Trebuchet MS"/>
            </a:endParaRPr>
          </a:p>
        </p:txBody>
      </p:sp>
      <p:sp>
        <p:nvSpPr>
          <p:cNvPr id="206" name="Google Shape;206;p30"/>
          <p:cNvSpPr/>
          <p:nvPr/>
        </p:nvSpPr>
        <p:spPr>
          <a:xfrm>
            <a:off x="2031549" y="2884048"/>
            <a:ext cx="1330800" cy="487200"/>
          </a:xfrm>
          <a:prstGeom prst="rect">
            <a:avLst/>
          </a:prstGeom>
          <a:solidFill>
            <a:schemeClr val="lt1"/>
          </a:solidFill>
          <a:ln cap="flat" cmpd="sng" w="11175">
            <a:solidFill>
              <a:schemeClr val="dk2"/>
            </a:solidFill>
            <a:prstDash val="solid"/>
            <a:round/>
            <a:headEnd len="sm" w="sm" type="none"/>
            <a:tailEnd len="sm" w="sm" type="none"/>
          </a:ln>
        </p:spPr>
        <p:txBody>
          <a:bodyPr anchorCtr="0" anchor="ctr" bIns="107175" lIns="107175" spcFirstLastPara="1" rIns="107175" wrap="square" tIns="107175">
            <a:noAutofit/>
          </a:bodyPr>
          <a:lstStyle/>
          <a:p>
            <a:pPr indent="0" lvl="0" marL="0" rtl="0" algn="ctr">
              <a:spcBef>
                <a:spcPts val="0"/>
              </a:spcBef>
              <a:spcAft>
                <a:spcPts val="0"/>
              </a:spcAft>
              <a:buNone/>
            </a:pPr>
            <a:r>
              <a:rPr b="1" lang="zh-CN" sz="1441">
                <a:latin typeface="Trebuchet MS"/>
                <a:ea typeface="Trebuchet MS"/>
                <a:cs typeface="Trebuchet MS"/>
                <a:sym typeface="Trebuchet MS"/>
              </a:rPr>
              <a:t>q_i, b_i</a:t>
            </a:r>
            <a:endParaRPr b="1" sz="1441">
              <a:latin typeface="Trebuchet MS"/>
              <a:ea typeface="Trebuchet MS"/>
              <a:cs typeface="Trebuchet MS"/>
              <a:sym typeface="Trebuchet MS"/>
            </a:endParaRPr>
          </a:p>
        </p:txBody>
      </p:sp>
      <p:sp>
        <p:nvSpPr>
          <p:cNvPr id="207" name="Google Shape;207;p30"/>
          <p:cNvSpPr/>
          <p:nvPr/>
        </p:nvSpPr>
        <p:spPr>
          <a:xfrm>
            <a:off x="402375" y="2884048"/>
            <a:ext cx="1330800" cy="487200"/>
          </a:xfrm>
          <a:prstGeom prst="rect">
            <a:avLst/>
          </a:prstGeom>
          <a:solidFill>
            <a:srgbClr val="D9EAD3"/>
          </a:solidFill>
          <a:ln cap="flat" cmpd="sng" w="11175">
            <a:solidFill>
              <a:schemeClr val="dk2"/>
            </a:solidFill>
            <a:prstDash val="solid"/>
            <a:round/>
            <a:headEnd len="sm" w="sm" type="none"/>
            <a:tailEnd len="sm" w="sm" type="none"/>
          </a:ln>
        </p:spPr>
        <p:txBody>
          <a:bodyPr anchorCtr="0" anchor="ctr" bIns="107175" lIns="107175" spcFirstLastPara="1" rIns="107175" wrap="square" tIns="107175">
            <a:noAutofit/>
          </a:bodyPr>
          <a:lstStyle/>
          <a:p>
            <a:pPr indent="0" lvl="0" marL="0" rtl="0" algn="ctr">
              <a:spcBef>
                <a:spcPts val="0"/>
              </a:spcBef>
              <a:spcAft>
                <a:spcPts val="0"/>
              </a:spcAft>
              <a:buNone/>
            </a:pPr>
            <a:r>
              <a:rPr b="1" lang="zh-CN" sz="1441">
                <a:solidFill>
                  <a:srgbClr val="274E13"/>
                </a:solidFill>
                <a:latin typeface="Trebuchet MS"/>
                <a:ea typeface="Trebuchet MS"/>
                <a:cs typeface="Trebuchet MS"/>
                <a:sym typeface="Trebuchet MS"/>
              </a:rPr>
              <a:t>I</a:t>
            </a:r>
            <a:r>
              <a:rPr b="1" lang="zh-CN" sz="1441">
                <a:solidFill>
                  <a:srgbClr val="274E13"/>
                </a:solidFill>
                <a:latin typeface="Trebuchet MS"/>
                <a:ea typeface="Trebuchet MS"/>
                <a:cs typeface="Trebuchet MS"/>
                <a:sym typeface="Trebuchet MS"/>
              </a:rPr>
              <a:t>tem ID</a:t>
            </a:r>
            <a:endParaRPr b="1" sz="1441">
              <a:solidFill>
                <a:srgbClr val="274E13"/>
              </a:solidFill>
              <a:latin typeface="Trebuchet MS"/>
              <a:ea typeface="Trebuchet MS"/>
              <a:cs typeface="Trebuchet MS"/>
              <a:sym typeface="Trebuchet MS"/>
            </a:endParaRPr>
          </a:p>
        </p:txBody>
      </p:sp>
      <p:sp>
        <p:nvSpPr>
          <p:cNvPr id="208" name="Google Shape;208;p30"/>
          <p:cNvSpPr/>
          <p:nvPr/>
        </p:nvSpPr>
        <p:spPr>
          <a:xfrm>
            <a:off x="6935199" y="2512250"/>
            <a:ext cx="1502700" cy="487200"/>
          </a:xfrm>
          <a:prstGeom prst="rect">
            <a:avLst/>
          </a:prstGeom>
          <a:solidFill>
            <a:srgbClr val="D9EAD3"/>
          </a:solidFill>
          <a:ln cap="flat" cmpd="sng" w="11175">
            <a:solidFill>
              <a:schemeClr val="dk2"/>
            </a:solidFill>
            <a:prstDash val="solid"/>
            <a:round/>
            <a:headEnd len="sm" w="sm" type="none"/>
            <a:tailEnd len="sm" w="sm" type="none"/>
          </a:ln>
        </p:spPr>
        <p:txBody>
          <a:bodyPr anchorCtr="0" anchor="ctr" bIns="107175" lIns="107175" spcFirstLastPara="1" rIns="107175" wrap="square" tIns="107175">
            <a:noAutofit/>
          </a:bodyPr>
          <a:lstStyle/>
          <a:p>
            <a:pPr indent="0" lvl="0" marL="0" rtl="0" algn="ctr">
              <a:spcBef>
                <a:spcPts val="0"/>
              </a:spcBef>
              <a:spcAft>
                <a:spcPts val="0"/>
              </a:spcAft>
              <a:buNone/>
            </a:pPr>
            <a:r>
              <a:rPr b="1" lang="zh-CN" sz="1441">
                <a:solidFill>
                  <a:srgbClr val="274E13"/>
                </a:solidFill>
                <a:latin typeface="Trebuchet MS"/>
                <a:ea typeface="Trebuchet MS"/>
                <a:cs typeface="Trebuchet MS"/>
                <a:sym typeface="Trebuchet MS"/>
              </a:rPr>
              <a:t>R</a:t>
            </a:r>
            <a:r>
              <a:rPr b="1" lang="zh-CN" sz="1441">
                <a:solidFill>
                  <a:srgbClr val="274E13"/>
                </a:solidFill>
                <a:latin typeface="Trebuchet MS"/>
                <a:ea typeface="Trebuchet MS"/>
                <a:cs typeface="Trebuchet MS"/>
                <a:sym typeface="Trebuchet MS"/>
              </a:rPr>
              <a:t>ating Score</a:t>
            </a:r>
            <a:endParaRPr b="1" sz="1441">
              <a:solidFill>
                <a:srgbClr val="274E13"/>
              </a:solidFill>
              <a:latin typeface="Trebuchet MS"/>
              <a:ea typeface="Trebuchet MS"/>
              <a:cs typeface="Trebuchet MS"/>
              <a:sym typeface="Trebuchet MS"/>
            </a:endParaRPr>
          </a:p>
        </p:txBody>
      </p:sp>
      <p:cxnSp>
        <p:nvCxnSpPr>
          <p:cNvPr id="209" name="Google Shape;209;p30"/>
          <p:cNvCxnSpPr>
            <a:stCxn id="203" idx="3"/>
            <a:endCxn id="204" idx="1"/>
          </p:cNvCxnSpPr>
          <p:nvPr/>
        </p:nvCxnSpPr>
        <p:spPr>
          <a:xfrm>
            <a:off x="1733175" y="2416102"/>
            <a:ext cx="298500" cy="600"/>
          </a:xfrm>
          <a:prstGeom prst="bentConnector3">
            <a:avLst>
              <a:gd fmla="val 50020" name="adj1"/>
            </a:avLst>
          </a:prstGeom>
          <a:noFill/>
          <a:ln cap="flat" cmpd="sng" w="11175">
            <a:solidFill>
              <a:schemeClr val="dk2"/>
            </a:solidFill>
            <a:prstDash val="solid"/>
            <a:round/>
            <a:headEnd len="med" w="med" type="none"/>
            <a:tailEnd len="med" w="med" type="stealth"/>
          </a:ln>
        </p:spPr>
      </p:cxnSp>
      <p:cxnSp>
        <p:nvCxnSpPr>
          <p:cNvPr id="210" name="Google Shape;210;p30"/>
          <p:cNvCxnSpPr>
            <a:stCxn id="204" idx="3"/>
            <a:endCxn id="205" idx="1"/>
          </p:cNvCxnSpPr>
          <p:nvPr/>
        </p:nvCxnSpPr>
        <p:spPr>
          <a:xfrm>
            <a:off x="3362349" y="2416102"/>
            <a:ext cx="993000" cy="339900"/>
          </a:xfrm>
          <a:prstGeom prst="bentConnector3">
            <a:avLst>
              <a:gd fmla="val 50002" name="adj1"/>
            </a:avLst>
          </a:prstGeom>
          <a:noFill/>
          <a:ln cap="flat" cmpd="sng" w="11175">
            <a:solidFill>
              <a:schemeClr val="dk2"/>
            </a:solidFill>
            <a:prstDash val="solid"/>
            <a:round/>
            <a:headEnd len="med" w="med" type="none"/>
            <a:tailEnd len="med" w="med" type="stealth"/>
          </a:ln>
        </p:spPr>
      </p:cxnSp>
      <p:cxnSp>
        <p:nvCxnSpPr>
          <p:cNvPr id="211" name="Google Shape;211;p30"/>
          <p:cNvCxnSpPr>
            <a:stCxn id="207" idx="3"/>
            <a:endCxn id="206" idx="1"/>
          </p:cNvCxnSpPr>
          <p:nvPr/>
        </p:nvCxnSpPr>
        <p:spPr>
          <a:xfrm>
            <a:off x="1733175" y="3127648"/>
            <a:ext cx="298500" cy="600"/>
          </a:xfrm>
          <a:prstGeom prst="bentConnector3">
            <a:avLst>
              <a:gd fmla="val 50020" name="adj1"/>
            </a:avLst>
          </a:prstGeom>
          <a:noFill/>
          <a:ln cap="flat" cmpd="sng" w="11175">
            <a:solidFill>
              <a:schemeClr val="dk2"/>
            </a:solidFill>
            <a:prstDash val="solid"/>
            <a:round/>
            <a:headEnd len="med" w="med" type="none"/>
            <a:tailEnd len="med" w="med" type="stealth"/>
          </a:ln>
        </p:spPr>
      </p:cxnSp>
      <p:cxnSp>
        <p:nvCxnSpPr>
          <p:cNvPr id="212" name="Google Shape;212;p30"/>
          <p:cNvCxnSpPr>
            <a:stCxn id="206" idx="3"/>
            <a:endCxn id="205" idx="1"/>
          </p:cNvCxnSpPr>
          <p:nvPr/>
        </p:nvCxnSpPr>
        <p:spPr>
          <a:xfrm flipH="1" rot="10800000">
            <a:off x="3362349" y="2755948"/>
            <a:ext cx="993000" cy="371700"/>
          </a:xfrm>
          <a:prstGeom prst="bentConnector3">
            <a:avLst>
              <a:gd fmla="val 50002" name="adj1"/>
            </a:avLst>
          </a:prstGeom>
          <a:noFill/>
          <a:ln cap="flat" cmpd="sng" w="11175">
            <a:solidFill>
              <a:schemeClr val="dk2"/>
            </a:solidFill>
            <a:prstDash val="solid"/>
            <a:round/>
            <a:headEnd len="med" w="med" type="none"/>
            <a:tailEnd len="med" w="med" type="none"/>
          </a:ln>
        </p:spPr>
      </p:cxnSp>
      <p:cxnSp>
        <p:nvCxnSpPr>
          <p:cNvPr id="213" name="Google Shape;213;p30"/>
          <p:cNvCxnSpPr>
            <a:stCxn id="205" idx="3"/>
            <a:endCxn id="208" idx="1"/>
          </p:cNvCxnSpPr>
          <p:nvPr/>
        </p:nvCxnSpPr>
        <p:spPr>
          <a:xfrm>
            <a:off x="6283495" y="2755904"/>
            <a:ext cx="651600" cy="0"/>
          </a:xfrm>
          <a:prstGeom prst="straightConnector1">
            <a:avLst/>
          </a:prstGeom>
          <a:noFill/>
          <a:ln cap="flat" cmpd="sng" w="11175">
            <a:solidFill>
              <a:schemeClr val="dk2"/>
            </a:solidFill>
            <a:prstDash val="solid"/>
            <a:round/>
            <a:headEnd len="med" w="med" type="none"/>
            <a:tailEnd len="med" w="med" type="stealth"/>
          </a:ln>
        </p:spPr>
      </p:cxnSp>
      <p:sp>
        <p:nvSpPr>
          <p:cNvPr id="214" name="Google Shape;214;p30"/>
          <p:cNvSpPr/>
          <p:nvPr/>
        </p:nvSpPr>
        <p:spPr>
          <a:xfrm>
            <a:off x="494800" y="3796000"/>
            <a:ext cx="22083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Design Motivation</a:t>
            </a:r>
            <a:endParaRPr i="0" sz="1116" u="none" cap="none" strike="noStrike">
              <a:latin typeface="Trebuchet MS"/>
              <a:ea typeface="Trebuchet MS"/>
              <a:cs typeface="Trebuchet MS"/>
              <a:sym typeface="Trebuchet MS"/>
            </a:endParaRPr>
          </a:p>
        </p:txBody>
      </p:sp>
      <p:sp>
        <p:nvSpPr>
          <p:cNvPr id="215" name="Google Shape;215;p30"/>
          <p:cNvSpPr/>
          <p:nvPr/>
        </p:nvSpPr>
        <p:spPr>
          <a:xfrm>
            <a:off x="494800" y="4069027"/>
            <a:ext cx="2392500" cy="64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Simple structure, interpretable, and low training cost; serves as a collaborative filtering baseline to assess the achievable upper bound using pure latent ID signals.</a:t>
            </a:r>
            <a:endParaRPr i="0" sz="913" u="none" cap="none" strike="noStrike"/>
          </a:p>
        </p:txBody>
      </p:sp>
      <p:sp>
        <p:nvSpPr>
          <p:cNvPr id="216" name="Google Shape;216;p30"/>
          <p:cNvSpPr/>
          <p:nvPr/>
        </p:nvSpPr>
        <p:spPr>
          <a:xfrm>
            <a:off x="6022827" y="3796000"/>
            <a:ext cx="19404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Engineering Considerations</a:t>
            </a:r>
            <a:endParaRPr sz="1116">
              <a:solidFill>
                <a:srgbClr val="030303"/>
              </a:solidFill>
              <a:latin typeface="Trebuchet MS"/>
              <a:ea typeface="Trebuchet MS"/>
              <a:cs typeface="Trebuchet MS"/>
              <a:sym typeface="Trebuchet MS"/>
            </a:endParaRPr>
          </a:p>
        </p:txBody>
      </p:sp>
      <p:sp>
        <p:nvSpPr>
          <p:cNvPr id="217" name="Google Shape;217;p30"/>
          <p:cNvSpPr/>
          <p:nvPr/>
        </p:nvSpPr>
        <p:spPr>
          <a:xfrm>
            <a:off x="6022825" y="4069026"/>
            <a:ext cx="23925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Use large batch sizes to increase throughput, and apply validation checkpoint restoration to avoid post-training performance degradation.</a:t>
            </a:r>
            <a:endParaRPr i="0" sz="913" u="none" cap="none" strike="noStrike"/>
          </a:p>
        </p:txBody>
      </p:sp>
      <p:sp>
        <p:nvSpPr>
          <p:cNvPr id="218" name="Google Shape;218;p30"/>
          <p:cNvSpPr/>
          <p:nvPr/>
        </p:nvSpPr>
        <p:spPr>
          <a:xfrm>
            <a:off x="3458587" y="3796000"/>
            <a:ext cx="14448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Risks</a:t>
            </a:r>
            <a:endParaRPr i="0" sz="1116" u="none" cap="none" strike="noStrike">
              <a:latin typeface="Trebuchet MS"/>
              <a:ea typeface="Trebuchet MS"/>
              <a:cs typeface="Trebuchet MS"/>
              <a:sym typeface="Trebuchet MS"/>
            </a:endParaRPr>
          </a:p>
        </p:txBody>
      </p:sp>
      <p:sp>
        <p:nvSpPr>
          <p:cNvPr id="219" name="Google Shape;219;p30"/>
          <p:cNvSpPr/>
          <p:nvPr/>
        </p:nvSpPr>
        <p:spPr>
          <a:xfrm>
            <a:off x="3458600" y="4069026"/>
            <a:ext cx="21219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Optimizing only squared error can lead to early overfitting after reaching the best validation error; improvements in ranking quality are not guaranteed.</a:t>
            </a:r>
            <a:endParaRPr i="0" sz="913" u="none" cap="none" strike="noStrike"/>
          </a:p>
        </p:txBody>
      </p:sp>
      <p:pic>
        <p:nvPicPr>
          <p:cNvPr descr="preencoded.png" id="220" name="Google Shape;220;p30"/>
          <p:cNvPicPr preferRelativeResize="0"/>
          <p:nvPr/>
        </p:nvPicPr>
        <p:blipFill rotWithShape="1">
          <a:blip r:embed="rId4">
            <a:alphaModFix/>
          </a:blip>
          <a:srcRect b="0" l="0" r="0" t="0"/>
          <a:stretch/>
        </p:blipFill>
        <p:spPr>
          <a:xfrm>
            <a:off x="3802387" y="3823718"/>
            <a:ext cx="156487" cy="1251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pSp>
        <p:nvGrpSpPr>
          <p:cNvPr id="225" name="Google Shape;225;p31"/>
          <p:cNvGrpSpPr/>
          <p:nvPr/>
        </p:nvGrpSpPr>
        <p:grpSpPr>
          <a:xfrm>
            <a:off x="0" y="0"/>
            <a:ext cx="9144150" cy="617100"/>
            <a:chOff x="0" y="0"/>
            <a:chExt cx="9144150" cy="617100"/>
          </a:xfrm>
        </p:grpSpPr>
        <p:sp>
          <p:nvSpPr>
            <p:cNvPr id="226" name="Google Shape;226;p31"/>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7" name="Google Shape;227;p31"/>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28" name="Google Shape;228;p31"/>
          <p:cNvSpPr txBox="1"/>
          <p:nvPr>
            <p:ph type="title"/>
          </p:nvPr>
        </p:nvSpPr>
        <p:spPr>
          <a:xfrm>
            <a:off x="306027" y="100800"/>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MF-SGD </a:t>
            </a:r>
            <a:r>
              <a:rPr lang="zh-CN" sz="2500">
                <a:solidFill>
                  <a:schemeClr val="lt1"/>
                </a:solidFill>
                <a:latin typeface="Trebuchet MS"/>
                <a:ea typeface="Trebuchet MS"/>
                <a:cs typeface="Trebuchet MS"/>
                <a:sym typeface="Trebuchet MS"/>
              </a:rPr>
              <a:t>ANALYSIS</a:t>
            </a:r>
            <a:endParaRPr sz="2500">
              <a:solidFill>
                <a:schemeClr val="lt1"/>
              </a:solidFill>
              <a:latin typeface="Trebuchet MS"/>
              <a:ea typeface="Trebuchet MS"/>
              <a:cs typeface="Trebuchet MS"/>
              <a:sym typeface="Trebuchet MS"/>
            </a:endParaRPr>
          </a:p>
        </p:txBody>
      </p:sp>
      <p:sp>
        <p:nvSpPr>
          <p:cNvPr id="229" name="Google Shape;229;p31"/>
          <p:cNvSpPr/>
          <p:nvPr/>
        </p:nvSpPr>
        <p:spPr>
          <a:xfrm>
            <a:off x="408925"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BF9000"/>
                </a:solidFill>
                <a:latin typeface="Trebuchet MS"/>
                <a:ea typeface="Trebuchet MS"/>
                <a:cs typeface="Trebuchet MS"/>
                <a:sym typeface="Trebuchet MS"/>
              </a:rPr>
              <a:t>0.6020</a:t>
            </a:r>
            <a:endParaRPr b="1">
              <a:solidFill>
                <a:srgbClr val="BF9000"/>
              </a:solidFill>
              <a:latin typeface="Trebuchet MS"/>
              <a:ea typeface="Trebuchet MS"/>
              <a:cs typeface="Trebuchet MS"/>
              <a:sym typeface="Trebuchet MS"/>
            </a:endParaRPr>
          </a:p>
          <a:p>
            <a:pPr indent="0" lvl="0" marL="0" rtl="0" algn="ctr">
              <a:spcBef>
                <a:spcPts val="0"/>
              </a:spcBef>
              <a:spcAft>
                <a:spcPts val="0"/>
              </a:spcAft>
              <a:buNone/>
            </a:pPr>
            <a:r>
              <a:rPr lang="zh-CN" sz="900"/>
              <a:t>MAE</a:t>
            </a:r>
            <a:endParaRPr sz="900"/>
          </a:p>
          <a:p>
            <a:pPr indent="0" lvl="0" marL="0" rtl="0" algn="ctr">
              <a:spcBef>
                <a:spcPts val="0"/>
              </a:spcBef>
              <a:spcAft>
                <a:spcPts val="0"/>
              </a:spcAft>
              <a:buNone/>
            </a:pPr>
            <a:r>
              <a:rPr lang="zh-CN" sz="600">
                <a:solidFill>
                  <a:srgbClr val="434343"/>
                </a:solidFill>
              </a:rPr>
              <a:t>2nd</a:t>
            </a:r>
            <a:endParaRPr sz="600">
              <a:solidFill>
                <a:srgbClr val="434343"/>
              </a:solidFill>
            </a:endParaRPr>
          </a:p>
        </p:txBody>
      </p:sp>
      <p:sp>
        <p:nvSpPr>
          <p:cNvPr id="230" name="Google Shape;230;p31"/>
          <p:cNvSpPr/>
          <p:nvPr/>
        </p:nvSpPr>
        <p:spPr>
          <a:xfrm>
            <a:off x="1449000"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0.8061</a:t>
            </a:r>
            <a:endParaRPr b="1">
              <a:solidFill>
                <a:srgbClr val="38761D"/>
              </a:solidFill>
              <a:latin typeface="Trebuchet MS"/>
              <a:ea typeface="Trebuchet MS"/>
              <a:cs typeface="Trebuchet MS"/>
              <a:sym typeface="Trebuchet MS"/>
            </a:endParaRPr>
          </a:p>
          <a:p>
            <a:pPr indent="0" lvl="0" marL="0" rtl="0" algn="ctr">
              <a:spcBef>
                <a:spcPts val="0"/>
              </a:spcBef>
              <a:spcAft>
                <a:spcPts val="0"/>
              </a:spcAft>
              <a:buNone/>
            </a:pPr>
            <a:r>
              <a:rPr lang="zh-CN" sz="900"/>
              <a:t>RMSE</a:t>
            </a:r>
            <a:endParaRPr sz="900"/>
          </a:p>
          <a:p>
            <a:pPr indent="0" lvl="0" marL="0" rtl="0" algn="ctr">
              <a:spcBef>
                <a:spcPts val="0"/>
              </a:spcBef>
              <a:spcAft>
                <a:spcPts val="0"/>
              </a:spcAft>
              <a:buNone/>
            </a:pPr>
            <a:r>
              <a:rPr lang="zh-CN" sz="600">
                <a:solidFill>
                  <a:srgbClr val="434343"/>
                </a:solidFill>
              </a:rPr>
              <a:t>BEST</a:t>
            </a:r>
            <a:endParaRPr sz="600">
              <a:solidFill>
                <a:srgbClr val="434343"/>
              </a:solidFill>
            </a:endParaRPr>
          </a:p>
        </p:txBody>
      </p:sp>
      <p:sp>
        <p:nvSpPr>
          <p:cNvPr id="231" name="Google Shape;231;p31"/>
          <p:cNvSpPr/>
          <p:nvPr/>
        </p:nvSpPr>
        <p:spPr>
          <a:xfrm>
            <a:off x="2464150"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BF9000"/>
                </a:solidFill>
                <a:latin typeface="Trebuchet MS"/>
                <a:ea typeface="Trebuchet MS"/>
                <a:cs typeface="Trebuchet MS"/>
                <a:sym typeface="Trebuchet MS"/>
              </a:rPr>
              <a:t>0.0509</a:t>
            </a:r>
            <a:endParaRPr b="1">
              <a:solidFill>
                <a:srgbClr val="BF9000"/>
              </a:solidFill>
              <a:latin typeface="Trebuchet MS"/>
              <a:ea typeface="Trebuchet MS"/>
              <a:cs typeface="Trebuchet MS"/>
              <a:sym typeface="Trebuchet MS"/>
            </a:endParaRPr>
          </a:p>
          <a:p>
            <a:pPr indent="0" lvl="0" marL="0" rtl="0" algn="ctr">
              <a:spcBef>
                <a:spcPts val="0"/>
              </a:spcBef>
              <a:spcAft>
                <a:spcPts val="0"/>
              </a:spcAft>
              <a:buNone/>
            </a:pPr>
            <a:r>
              <a:rPr lang="zh-CN" sz="900"/>
              <a:t>NDCG</a:t>
            </a:r>
            <a:r>
              <a:rPr lang="zh-CN" sz="900"/>
              <a:t>@10</a:t>
            </a:r>
            <a:endParaRPr sz="900"/>
          </a:p>
          <a:p>
            <a:pPr indent="0" lvl="0" marL="0" rtl="0" algn="ctr">
              <a:spcBef>
                <a:spcPts val="0"/>
              </a:spcBef>
              <a:spcAft>
                <a:spcPts val="0"/>
              </a:spcAft>
              <a:buNone/>
            </a:pPr>
            <a:r>
              <a:rPr lang="zh-CN" sz="600">
                <a:solidFill>
                  <a:srgbClr val="434343"/>
                </a:solidFill>
              </a:rPr>
              <a:t>3rd</a:t>
            </a:r>
            <a:endParaRPr sz="600">
              <a:solidFill>
                <a:srgbClr val="434343"/>
              </a:solidFill>
            </a:endParaRPr>
          </a:p>
        </p:txBody>
      </p:sp>
      <p:sp>
        <p:nvSpPr>
          <p:cNvPr id="232" name="Google Shape;232;p31"/>
          <p:cNvSpPr/>
          <p:nvPr/>
        </p:nvSpPr>
        <p:spPr>
          <a:xfrm>
            <a:off x="3459325"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sz="1700">
                <a:solidFill>
                  <a:srgbClr val="38761D"/>
                </a:solidFill>
                <a:latin typeface="Trebuchet MS"/>
                <a:ea typeface="Trebuchet MS"/>
                <a:cs typeface="Trebuchet MS"/>
                <a:sym typeface="Trebuchet MS"/>
              </a:rPr>
              <a:t>3</a:t>
            </a:r>
            <a:endParaRPr b="1" sz="1700">
              <a:solidFill>
                <a:srgbClr val="38761D"/>
              </a:solidFill>
              <a:latin typeface="Trebuchet MS"/>
              <a:ea typeface="Trebuchet MS"/>
              <a:cs typeface="Trebuchet MS"/>
              <a:sym typeface="Trebuchet MS"/>
            </a:endParaRPr>
          </a:p>
          <a:p>
            <a:pPr indent="0" lvl="0" marL="0" rtl="0" algn="ctr">
              <a:spcBef>
                <a:spcPts val="0"/>
              </a:spcBef>
              <a:spcAft>
                <a:spcPts val="0"/>
              </a:spcAft>
              <a:buNone/>
            </a:pPr>
            <a:r>
              <a:rPr lang="zh-CN" sz="900"/>
              <a:t>Best Epoch</a:t>
            </a:r>
            <a:endParaRPr sz="900"/>
          </a:p>
          <a:p>
            <a:pPr indent="0" lvl="0" marL="0" rtl="0" algn="ctr">
              <a:spcBef>
                <a:spcPts val="0"/>
              </a:spcBef>
              <a:spcAft>
                <a:spcPts val="0"/>
              </a:spcAft>
              <a:buNone/>
            </a:pPr>
            <a:r>
              <a:t/>
            </a:r>
            <a:endParaRPr sz="600">
              <a:solidFill>
                <a:srgbClr val="434343"/>
              </a:solidFill>
            </a:endParaRPr>
          </a:p>
        </p:txBody>
      </p:sp>
      <p:sp>
        <p:nvSpPr>
          <p:cNvPr id="233" name="Google Shape;233;p31"/>
          <p:cNvSpPr/>
          <p:nvPr/>
        </p:nvSpPr>
        <p:spPr>
          <a:xfrm>
            <a:off x="4730600" y="1406000"/>
            <a:ext cx="28200" cy="804300"/>
          </a:xfrm>
          <a:prstGeom prst="rect">
            <a:avLst/>
          </a:prstGeom>
          <a:solidFill>
            <a:srgbClr val="1C9770"/>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234" name="Google Shape;234;p31"/>
          <p:cNvSpPr/>
          <p:nvPr/>
        </p:nvSpPr>
        <p:spPr>
          <a:xfrm>
            <a:off x="4883993" y="1420607"/>
            <a:ext cx="18147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Strong Point-wise Accuracy</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235" name="Google Shape;235;p31"/>
          <p:cNvSpPr/>
          <p:nvPr/>
        </p:nvSpPr>
        <p:spPr>
          <a:xfrm>
            <a:off x="4883993" y="1694658"/>
            <a:ext cx="3863100" cy="4407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MF-SGD achieves the lowest RMSE among all methods, indicating that latent factors + bias terms effectively fit explicit ratings.</a:t>
            </a:r>
            <a:endParaRPr sz="895">
              <a:solidFill>
                <a:srgbClr val="464646"/>
              </a:solidFill>
            </a:endParaRPr>
          </a:p>
        </p:txBody>
      </p:sp>
      <p:sp>
        <p:nvSpPr>
          <p:cNvPr id="236" name="Google Shape;236;p31"/>
          <p:cNvSpPr/>
          <p:nvPr/>
        </p:nvSpPr>
        <p:spPr>
          <a:xfrm>
            <a:off x="4730600" y="2535825"/>
            <a:ext cx="28200" cy="804300"/>
          </a:xfrm>
          <a:prstGeom prst="rect">
            <a:avLst/>
          </a:prstGeom>
          <a:solidFill>
            <a:srgbClr val="F1C232"/>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237" name="Google Shape;237;p31"/>
          <p:cNvSpPr/>
          <p:nvPr/>
        </p:nvSpPr>
        <p:spPr>
          <a:xfrm>
            <a:off x="4883992" y="2550430"/>
            <a:ext cx="1853100" cy="220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Weak Top-N Ranking</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238" name="Google Shape;238;p31"/>
          <p:cNvSpPr/>
          <p:nvPr/>
        </p:nvSpPr>
        <p:spPr>
          <a:xfrm>
            <a:off x="4883996" y="2824477"/>
            <a:ext cx="37260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NDCG@10 is lower than Deep Hybrid and SVD-Ridge, suggesting that optimizing MSE does not directly separate top-10 candidates in ranking.</a:t>
            </a:r>
            <a:endParaRPr i="0" sz="895" u="none" cap="none" strike="noStrike"/>
          </a:p>
        </p:txBody>
      </p:sp>
      <p:sp>
        <p:nvSpPr>
          <p:cNvPr id="239" name="Google Shape;239;p31"/>
          <p:cNvSpPr/>
          <p:nvPr/>
        </p:nvSpPr>
        <p:spPr>
          <a:xfrm>
            <a:off x="369979" y="3638925"/>
            <a:ext cx="15195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b="1" lang="zh-CN" sz="1119">
                <a:solidFill>
                  <a:schemeClr val="dk1"/>
                </a:solidFill>
                <a:latin typeface="Trebuchet MS"/>
                <a:ea typeface="Trebuchet MS"/>
                <a:cs typeface="Trebuchet MS"/>
                <a:sym typeface="Trebuchet MS"/>
              </a:rPr>
              <a:t>Takeaway</a:t>
            </a:r>
            <a:endParaRPr b="1" sz="1119">
              <a:solidFill>
                <a:schemeClr val="dk1"/>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240" name="Google Shape;240;p31"/>
          <p:cNvSpPr/>
          <p:nvPr/>
        </p:nvSpPr>
        <p:spPr>
          <a:xfrm>
            <a:off x="369975" y="3912975"/>
            <a:ext cx="4263000" cy="4155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It is a strong baseline for rating prediction, but it highlights a key insight:</a:t>
            </a:r>
            <a:endParaRPr sz="895">
              <a:solidFill>
                <a:srgbClr val="464646"/>
              </a:solidFill>
            </a:endParaRPr>
          </a:p>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rating accuracy and ranking quality are related but not equivalent objectives.</a:t>
            </a:r>
            <a:endParaRPr sz="895">
              <a:solidFill>
                <a:srgbClr val="464646"/>
              </a:solidFill>
            </a:endParaRPr>
          </a:p>
        </p:txBody>
      </p:sp>
      <p:pic>
        <p:nvPicPr>
          <p:cNvPr id="241" name="Google Shape;241;p31" title="training_mf_sgd.png"/>
          <p:cNvPicPr preferRelativeResize="0"/>
          <p:nvPr/>
        </p:nvPicPr>
        <p:blipFill>
          <a:blip r:embed="rId3">
            <a:alphaModFix/>
          </a:blip>
          <a:stretch>
            <a:fillRect/>
          </a:stretch>
        </p:blipFill>
        <p:spPr>
          <a:xfrm>
            <a:off x="306025" y="925025"/>
            <a:ext cx="4154076" cy="1646725"/>
          </a:xfrm>
          <a:prstGeom prst="rect">
            <a:avLst/>
          </a:prstGeom>
          <a:noFill/>
          <a:ln>
            <a:noFill/>
          </a:ln>
        </p:spPr>
      </p:pic>
      <p:sp>
        <p:nvSpPr>
          <p:cNvPr id="242" name="Google Shape;242;p31"/>
          <p:cNvSpPr txBox="1"/>
          <p:nvPr/>
        </p:nvSpPr>
        <p:spPr>
          <a:xfrm>
            <a:off x="4655300" y="895175"/>
            <a:ext cx="381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latin typeface="Trebuchet MS"/>
                <a:ea typeface="Trebuchet MS"/>
                <a:cs typeface="Trebuchet MS"/>
                <a:sym typeface="Trebuchet MS"/>
              </a:rPr>
              <a:t>Strong RMSE, but Not Optimal for Ranking.</a:t>
            </a:r>
            <a:endParaRPr>
              <a:latin typeface="Trebuchet MS"/>
              <a:ea typeface="Trebuchet MS"/>
              <a:cs typeface="Trebuchet MS"/>
              <a:sym typeface="Trebuchet MS"/>
            </a:endParaRPr>
          </a:p>
        </p:txBody>
      </p:sp>
      <p:pic>
        <p:nvPicPr>
          <p:cNvPr descr="preencoded.png" id="243" name="Google Shape;243;p31"/>
          <p:cNvPicPr preferRelativeResize="0"/>
          <p:nvPr/>
        </p:nvPicPr>
        <p:blipFill rotWithShape="1">
          <a:blip r:embed="rId4">
            <a:alphaModFix/>
          </a:blip>
          <a:srcRect b="0" l="0" r="0" t="0"/>
          <a:stretch/>
        </p:blipFill>
        <p:spPr>
          <a:xfrm>
            <a:off x="6191112" y="2597943"/>
            <a:ext cx="156487" cy="1251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grpSp>
        <p:nvGrpSpPr>
          <p:cNvPr id="248" name="Google Shape;248;p32"/>
          <p:cNvGrpSpPr/>
          <p:nvPr/>
        </p:nvGrpSpPr>
        <p:grpSpPr>
          <a:xfrm>
            <a:off x="0" y="0"/>
            <a:ext cx="9144150" cy="617100"/>
            <a:chOff x="0" y="0"/>
            <a:chExt cx="9144150" cy="617100"/>
          </a:xfrm>
        </p:grpSpPr>
        <p:sp>
          <p:nvSpPr>
            <p:cNvPr id="249" name="Google Shape;249;p32"/>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0" name="Google Shape;250;p32"/>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51" name="Google Shape;251;p32"/>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Deep Hybrid (Two-Tower + CNN)</a:t>
            </a:r>
            <a:endParaRPr sz="2500">
              <a:solidFill>
                <a:schemeClr val="lt1"/>
              </a:solidFill>
              <a:latin typeface="Trebuchet MS"/>
              <a:ea typeface="Trebuchet MS"/>
              <a:cs typeface="Trebuchet MS"/>
              <a:sym typeface="Trebuchet MS"/>
            </a:endParaRPr>
          </a:p>
        </p:txBody>
      </p:sp>
      <p:sp>
        <p:nvSpPr>
          <p:cNvPr id="252" name="Google Shape;252;p32"/>
          <p:cNvSpPr/>
          <p:nvPr/>
        </p:nvSpPr>
        <p:spPr>
          <a:xfrm>
            <a:off x="393650" y="1176897"/>
            <a:ext cx="933000" cy="303600"/>
          </a:xfrm>
          <a:prstGeom prst="rect">
            <a:avLst/>
          </a:prstGeom>
          <a:solidFill>
            <a:srgbClr val="CFE2F3"/>
          </a:solidFill>
          <a:ln cap="flat" cmpd="sng" w="6275">
            <a:solidFill>
              <a:srgbClr val="0C343D"/>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b="1" lang="zh-CN" sz="926">
                <a:solidFill>
                  <a:srgbClr val="134F5C"/>
                </a:solidFill>
                <a:latin typeface="Trebuchet MS"/>
                <a:ea typeface="Trebuchet MS"/>
                <a:cs typeface="Trebuchet MS"/>
                <a:sym typeface="Trebuchet MS"/>
              </a:rPr>
              <a:t>User ID</a:t>
            </a:r>
            <a:endParaRPr b="1" sz="926">
              <a:solidFill>
                <a:srgbClr val="134F5C"/>
              </a:solidFill>
              <a:latin typeface="Trebuchet MS"/>
              <a:ea typeface="Trebuchet MS"/>
              <a:cs typeface="Trebuchet MS"/>
              <a:sym typeface="Trebuchet MS"/>
            </a:endParaRPr>
          </a:p>
        </p:txBody>
      </p:sp>
      <p:sp>
        <p:nvSpPr>
          <p:cNvPr id="253" name="Google Shape;253;p32"/>
          <p:cNvSpPr/>
          <p:nvPr/>
        </p:nvSpPr>
        <p:spPr>
          <a:xfrm>
            <a:off x="400008" y="1707055"/>
            <a:ext cx="920100" cy="354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Embedding</a:t>
            </a:r>
            <a:endParaRPr sz="926"/>
          </a:p>
        </p:txBody>
      </p:sp>
      <p:sp>
        <p:nvSpPr>
          <p:cNvPr id="254" name="Google Shape;254;p32"/>
          <p:cNvSpPr/>
          <p:nvPr/>
        </p:nvSpPr>
        <p:spPr>
          <a:xfrm>
            <a:off x="5465258" y="1836640"/>
            <a:ext cx="22083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216">
                <a:solidFill>
                  <a:srgbClr val="030303"/>
                </a:solidFill>
                <a:latin typeface="Trebuchet MS"/>
                <a:ea typeface="Trebuchet MS"/>
                <a:cs typeface="Trebuchet MS"/>
                <a:sym typeface="Trebuchet MS"/>
              </a:rPr>
              <a:t>Training Strategy</a:t>
            </a:r>
            <a:endParaRPr sz="1216">
              <a:solidFill>
                <a:srgbClr val="030303"/>
              </a:solidFill>
              <a:latin typeface="Trebuchet MS"/>
              <a:ea typeface="Trebuchet MS"/>
              <a:cs typeface="Trebuchet MS"/>
              <a:sym typeface="Trebuchet MS"/>
            </a:endParaRPr>
          </a:p>
        </p:txBody>
      </p:sp>
      <p:sp>
        <p:nvSpPr>
          <p:cNvPr id="255" name="Google Shape;255;p32"/>
          <p:cNvSpPr/>
          <p:nvPr/>
        </p:nvSpPr>
        <p:spPr>
          <a:xfrm>
            <a:off x="5350550" y="2102500"/>
            <a:ext cx="3415200" cy="900000"/>
          </a:xfrm>
          <a:prstGeom prst="rect">
            <a:avLst/>
          </a:prstGeom>
          <a:noFill/>
          <a:ln>
            <a:noFill/>
          </a:ln>
        </p:spPr>
        <p:txBody>
          <a:bodyPr anchorCtr="0" anchor="t" bIns="0" lIns="0" spcFirstLastPara="1" rIns="0" wrap="square" tIns="0">
            <a:noAutofit/>
          </a:bodyPr>
          <a:lstStyle/>
          <a:p>
            <a:pPr indent="-286561" lvl="0" marL="457200" marR="0" rtl="0" algn="l">
              <a:lnSpc>
                <a:spcPct val="100000"/>
              </a:lnSpc>
              <a:spcBef>
                <a:spcPts val="0"/>
              </a:spcBef>
              <a:spcAft>
                <a:spcPts val="0"/>
              </a:spcAft>
              <a:buClr>
                <a:srgbClr val="464646"/>
              </a:buClr>
              <a:buSzPts val="913"/>
              <a:buChar char="○"/>
            </a:pPr>
            <a:r>
              <a:rPr lang="zh-CN" sz="913">
                <a:solidFill>
                  <a:srgbClr val="464646"/>
                </a:solidFill>
              </a:rPr>
              <a:t>Loss: Huber (δ = 1.0)</a:t>
            </a:r>
            <a:endParaRPr sz="913">
              <a:solidFill>
                <a:srgbClr val="464646"/>
              </a:solidFill>
            </a:endParaRPr>
          </a:p>
          <a:p>
            <a:pPr indent="-286561" lvl="0" marL="457200" marR="0" rtl="0" algn="l">
              <a:lnSpc>
                <a:spcPct val="100000"/>
              </a:lnSpc>
              <a:spcBef>
                <a:spcPts val="0"/>
              </a:spcBef>
              <a:spcAft>
                <a:spcPts val="0"/>
              </a:spcAft>
              <a:buClr>
                <a:srgbClr val="464646"/>
              </a:buClr>
              <a:buSzPts val="913"/>
              <a:buChar char="○"/>
            </a:pPr>
            <a:r>
              <a:rPr lang="zh-CN" sz="913">
                <a:solidFill>
                  <a:srgbClr val="464646"/>
                </a:solidFill>
              </a:rPr>
              <a:t>Optimizer: Adam, LR 8×10⁻⁴</a:t>
            </a:r>
            <a:endParaRPr sz="913">
              <a:solidFill>
                <a:srgbClr val="464646"/>
              </a:solidFill>
            </a:endParaRPr>
          </a:p>
          <a:p>
            <a:pPr indent="-286561" lvl="0" marL="457200" marR="0" rtl="0" algn="l">
              <a:lnSpc>
                <a:spcPct val="100000"/>
              </a:lnSpc>
              <a:spcBef>
                <a:spcPts val="0"/>
              </a:spcBef>
              <a:spcAft>
                <a:spcPts val="0"/>
              </a:spcAft>
              <a:buClr>
                <a:srgbClr val="464646"/>
              </a:buClr>
              <a:buSzPts val="913"/>
              <a:buChar char="○"/>
            </a:pPr>
            <a:r>
              <a:rPr lang="zh-CN" sz="913">
                <a:solidFill>
                  <a:srgbClr val="464646"/>
                </a:solidFill>
              </a:rPr>
              <a:t>LR schedule: ReduceLROnPlateau (×0.5, patience 4)</a:t>
            </a:r>
            <a:endParaRPr sz="913">
              <a:solidFill>
                <a:srgbClr val="464646"/>
              </a:solidFill>
            </a:endParaRPr>
          </a:p>
          <a:p>
            <a:pPr indent="-286561" lvl="0" marL="457200" marR="0" rtl="0" algn="l">
              <a:lnSpc>
                <a:spcPct val="100000"/>
              </a:lnSpc>
              <a:spcBef>
                <a:spcPts val="0"/>
              </a:spcBef>
              <a:spcAft>
                <a:spcPts val="0"/>
              </a:spcAft>
              <a:buClr>
                <a:srgbClr val="464646"/>
              </a:buClr>
              <a:buSzPts val="913"/>
              <a:buChar char="○"/>
            </a:pPr>
            <a:r>
              <a:rPr lang="zh-CN" sz="913">
                <a:solidFill>
                  <a:srgbClr val="464646"/>
                </a:solidFill>
              </a:rPr>
              <a:t>Gradient clip: L2 norm ≤ 1.0</a:t>
            </a:r>
            <a:endParaRPr sz="913">
              <a:solidFill>
                <a:srgbClr val="464646"/>
              </a:solidFill>
            </a:endParaRPr>
          </a:p>
          <a:p>
            <a:pPr indent="-286561" lvl="0" marL="457200" marR="0" rtl="0" algn="l">
              <a:lnSpc>
                <a:spcPct val="100000"/>
              </a:lnSpc>
              <a:spcBef>
                <a:spcPts val="0"/>
              </a:spcBef>
              <a:spcAft>
                <a:spcPts val="0"/>
              </a:spcAft>
              <a:buClr>
                <a:srgbClr val="464646"/>
              </a:buClr>
              <a:buSzPts val="913"/>
              <a:buChar char="○"/>
            </a:pPr>
            <a:r>
              <a:rPr lang="zh-CN" sz="913">
                <a:solidFill>
                  <a:srgbClr val="464646"/>
                </a:solidFill>
              </a:rPr>
              <a:t>k = 96, dropout 0.18, L2 λ = 10⁻⁵</a:t>
            </a:r>
            <a:endParaRPr sz="913">
              <a:solidFill>
                <a:srgbClr val="464646"/>
              </a:solidFill>
            </a:endParaRPr>
          </a:p>
          <a:p>
            <a:pPr indent="-286561" lvl="0" marL="457200" marR="0" rtl="0" algn="l">
              <a:lnSpc>
                <a:spcPct val="100000"/>
              </a:lnSpc>
              <a:spcBef>
                <a:spcPts val="0"/>
              </a:spcBef>
              <a:spcAft>
                <a:spcPts val="0"/>
              </a:spcAft>
              <a:buClr>
                <a:srgbClr val="464646"/>
              </a:buClr>
              <a:buSzPts val="913"/>
              <a:buChar char="○"/>
            </a:pPr>
            <a:r>
              <a:rPr lang="zh-CN" sz="913">
                <a:solidFill>
                  <a:srgbClr val="464646"/>
                </a:solidFill>
              </a:rPr>
              <a:t>Batch: 65,536 (GPU); rating-weighted sampling</a:t>
            </a:r>
            <a:endParaRPr sz="913">
              <a:solidFill>
                <a:srgbClr val="464646"/>
              </a:solidFill>
            </a:endParaRPr>
          </a:p>
        </p:txBody>
      </p:sp>
      <p:sp>
        <p:nvSpPr>
          <p:cNvPr id="256" name="Google Shape;256;p32"/>
          <p:cNvSpPr/>
          <p:nvPr/>
        </p:nvSpPr>
        <p:spPr>
          <a:xfrm>
            <a:off x="5432832" y="819002"/>
            <a:ext cx="17178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216">
                <a:solidFill>
                  <a:srgbClr val="030303"/>
                </a:solidFill>
                <a:latin typeface="Trebuchet MS"/>
                <a:ea typeface="Trebuchet MS"/>
                <a:cs typeface="Trebuchet MS"/>
                <a:sym typeface="Trebuchet MS"/>
              </a:rPr>
              <a:t>Core Idea</a:t>
            </a:r>
            <a:endParaRPr sz="1216">
              <a:solidFill>
                <a:srgbClr val="030303"/>
              </a:solidFill>
              <a:latin typeface="Trebuchet MS"/>
              <a:ea typeface="Trebuchet MS"/>
              <a:cs typeface="Trebuchet MS"/>
              <a:sym typeface="Trebuchet MS"/>
            </a:endParaRPr>
          </a:p>
        </p:txBody>
      </p:sp>
      <p:sp>
        <p:nvSpPr>
          <p:cNvPr id="257" name="Google Shape;257;p32"/>
          <p:cNvSpPr/>
          <p:nvPr/>
        </p:nvSpPr>
        <p:spPr>
          <a:xfrm>
            <a:off x="5432832" y="1092052"/>
            <a:ext cx="3082200" cy="48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Beyond collaborative filtering ID embeddings, introduce title CNN and genre pooling so the item tower can leverage content signals, alleviating long-tail sparsity.</a:t>
            </a:r>
            <a:endParaRPr i="0" sz="913" u="none" cap="none" strike="noStrike"/>
          </a:p>
        </p:txBody>
      </p:sp>
      <p:sp>
        <p:nvSpPr>
          <p:cNvPr id="258" name="Google Shape;258;p32"/>
          <p:cNvSpPr/>
          <p:nvPr/>
        </p:nvSpPr>
        <p:spPr>
          <a:xfrm>
            <a:off x="1687757" y="1181928"/>
            <a:ext cx="933000" cy="303600"/>
          </a:xfrm>
          <a:prstGeom prst="rect">
            <a:avLst/>
          </a:prstGeom>
          <a:solidFill>
            <a:srgbClr val="CFE2F3"/>
          </a:solidFill>
          <a:ln cap="flat" cmpd="sng" w="6275">
            <a:solidFill>
              <a:srgbClr val="0C343D"/>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b="1" lang="zh-CN" sz="926">
                <a:solidFill>
                  <a:srgbClr val="134F5C"/>
                </a:solidFill>
                <a:latin typeface="Trebuchet MS"/>
                <a:ea typeface="Trebuchet MS"/>
                <a:cs typeface="Trebuchet MS"/>
                <a:sym typeface="Trebuchet MS"/>
              </a:rPr>
              <a:t>Item ID</a:t>
            </a:r>
            <a:endParaRPr b="1" sz="926">
              <a:solidFill>
                <a:srgbClr val="134F5C"/>
              </a:solidFill>
              <a:latin typeface="Trebuchet MS"/>
              <a:ea typeface="Trebuchet MS"/>
              <a:cs typeface="Trebuchet MS"/>
              <a:sym typeface="Trebuchet MS"/>
            </a:endParaRPr>
          </a:p>
        </p:txBody>
      </p:sp>
      <p:sp>
        <p:nvSpPr>
          <p:cNvPr id="259" name="Google Shape;259;p32"/>
          <p:cNvSpPr/>
          <p:nvPr/>
        </p:nvSpPr>
        <p:spPr>
          <a:xfrm>
            <a:off x="1694200" y="1711302"/>
            <a:ext cx="920100" cy="354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ID embedding</a:t>
            </a:r>
            <a:endParaRPr sz="926"/>
          </a:p>
        </p:txBody>
      </p:sp>
      <p:sp>
        <p:nvSpPr>
          <p:cNvPr id="260" name="Google Shape;260;p32"/>
          <p:cNvSpPr/>
          <p:nvPr/>
        </p:nvSpPr>
        <p:spPr>
          <a:xfrm>
            <a:off x="2722182" y="1711304"/>
            <a:ext cx="933000" cy="354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Title CNN</a:t>
            </a:r>
            <a:endParaRPr sz="926"/>
          </a:p>
        </p:txBody>
      </p:sp>
      <p:sp>
        <p:nvSpPr>
          <p:cNvPr id="261" name="Google Shape;261;p32"/>
          <p:cNvSpPr/>
          <p:nvPr/>
        </p:nvSpPr>
        <p:spPr>
          <a:xfrm>
            <a:off x="862000" y="4527475"/>
            <a:ext cx="2304600" cy="246000"/>
          </a:xfrm>
          <a:prstGeom prst="rect">
            <a:avLst/>
          </a:prstGeom>
          <a:solidFill>
            <a:srgbClr val="CFE2F3"/>
          </a:solidFill>
          <a:ln cap="flat" cmpd="sng" w="6275">
            <a:solidFill>
              <a:srgbClr val="0C343D"/>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b="1" lang="zh-CN" sz="926">
                <a:solidFill>
                  <a:srgbClr val="134F5C"/>
                </a:solidFill>
                <a:latin typeface="Trebuchet MS"/>
                <a:ea typeface="Trebuchet MS"/>
                <a:cs typeface="Trebuchet MS"/>
                <a:sym typeface="Trebuchet MS"/>
              </a:rPr>
              <a:t>Dot Product + </a:t>
            </a:r>
            <a:r>
              <a:rPr b="1" lang="zh-CN" sz="926">
                <a:solidFill>
                  <a:srgbClr val="134F5C"/>
                </a:solidFill>
                <a:latin typeface="Trebuchet MS"/>
                <a:ea typeface="Trebuchet MS"/>
                <a:cs typeface="Trebuchet MS"/>
                <a:sym typeface="Trebuchet MS"/>
              </a:rPr>
              <a:t>Bias (μ, b_u, b_i)</a:t>
            </a:r>
            <a:endParaRPr b="1" sz="926">
              <a:solidFill>
                <a:srgbClr val="134F5C"/>
              </a:solidFill>
              <a:latin typeface="Trebuchet MS"/>
              <a:ea typeface="Trebuchet MS"/>
              <a:cs typeface="Trebuchet MS"/>
              <a:sym typeface="Trebuchet MS"/>
            </a:endParaRPr>
          </a:p>
        </p:txBody>
      </p:sp>
      <p:pic>
        <p:nvPicPr>
          <p:cNvPr id="262" name="Google Shape;262;p32"/>
          <p:cNvPicPr preferRelativeResize="0"/>
          <p:nvPr/>
        </p:nvPicPr>
        <p:blipFill>
          <a:blip r:embed="rId3">
            <a:alphaModFix/>
          </a:blip>
          <a:stretch>
            <a:fillRect/>
          </a:stretch>
        </p:blipFill>
        <p:spPr>
          <a:xfrm>
            <a:off x="4915217" y="4468921"/>
            <a:ext cx="2112846" cy="363200"/>
          </a:xfrm>
          <a:prstGeom prst="rect">
            <a:avLst/>
          </a:prstGeom>
          <a:noFill/>
          <a:ln>
            <a:noFill/>
          </a:ln>
        </p:spPr>
      </p:pic>
      <p:sp>
        <p:nvSpPr>
          <p:cNvPr id="263" name="Google Shape;263;p32"/>
          <p:cNvSpPr/>
          <p:nvPr/>
        </p:nvSpPr>
        <p:spPr>
          <a:xfrm>
            <a:off x="400006" y="2237193"/>
            <a:ext cx="920100" cy="3036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Dropout</a:t>
            </a:r>
            <a:endParaRPr sz="926"/>
          </a:p>
        </p:txBody>
      </p:sp>
      <p:sp>
        <p:nvSpPr>
          <p:cNvPr id="264" name="Google Shape;264;p32"/>
          <p:cNvSpPr/>
          <p:nvPr/>
        </p:nvSpPr>
        <p:spPr>
          <a:xfrm>
            <a:off x="3763026" y="1713406"/>
            <a:ext cx="933000" cy="354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Genre embedding</a:t>
            </a:r>
            <a:endParaRPr sz="926"/>
          </a:p>
        </p:txBody>
      </p:sp>
      <p:sp>
        <p:nvSpPr>
          <p:cNvPr id="265" name="Google Shape;265;p32"/>
          <p:cNvSpPr/>
          <p:nvPr/>
        </p:nvSpPr>
        <p:spPr>
          <a:xfrm>
            <a:off x="2722171" y="2611082"/>
            <a:ext cx="933000" cy="246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Concat</a:t>
            </a:r>
            <a:endParaRPr sz="926"/>
          </a:p>
        </p:txBody>
      </p:sp>
      <p:sp>
        <p:nvSpPr>
          <p:cNvPr id="266" name="Google Shape;266;p32"/>
          <p:cNvSpPr/>
          <p:nvPr/>
        </p:nvSpPr>
        <p:spPr>
          <a:xfrm>
            <a:off x="2569885" y="3060890"/>
            <a:ext cx="1237800" cy="246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MLP (192 → 96)</a:t>
            </a:r>
            <a:endParaRPr sz="926"/>
          </a:p>
        </p:txBody>
      </p:sp>
      <p:sp>
        <p:nvSpPr>
          <p:cNvPr id="267" name="Google Shape;267;p32"/>
          <p:cNvSpPr/>
          <p:nvPr/>
        </p:nvSpPr>
        <p:spPr>
          <a:xfrm>
            <a:off x="396798" y="2765036"/>
            <a:ext cx="920100" cy="3036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p_u</a:t>
            </a:r>
            <a:endParaRPr sz="926"/>
          </a:p>
        </p:txBody>
      </p:sp>
      <p:sp>
        <p:nvSpPr>
          <p:cNvPr id="268" name="Google Shape;268;p32"/>
          <p:cNvSpPr/>
          <p:nvPr/>
        </p:nvSpPr>
        <p:spPr>
          <a:xfrm>
            <a:off x="2728613" y="3561767"/>
            <a:ext cx="920100" cy="246000"/>
          </a:xfrm>
          <a:prstGeom prst="rect">
            <a:avLst/>
          </a:prstGeom>
          <a:solidFill>
            <a:srgbClr val="F3F3F3"/>
          </a:solidFill>
          <a:ln cap="flat" cmpd="sng" w="6275">
            <a:solidFill>
              <a:schemeClr val="dk2"/>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lang="zh-CN" sz="926"/>
              <a:t>q_i</a:t>
            </a:r>
            <a:endParaRPr sz="926"/>
          </a:p>
        </p:txBody>
      </p:sp>
      <p:sp>
        <p:nvSpPr>
          <p:cNvPr id="269" name="Google Shape;269;p32"/>
          <p:cNvSpPr txBox="1"/>
          <p:nvPr>
            <p:ph type="title"/>
          </p:nvPr>
        </p:nvSpPr>
        <p:spPr>
          <a:xfrm>
            <a:off x="400008" y="796775"/>
            <a:ext cx="920100" cy="229500"/>
          </a:xfrm>
          <a:prstGeom prst="rect">
            <a:avLst/>
          </a:prstGeom>
          <a:noFill/>
          <a:ln>
            <a:noFill/>
          </a:ln>
        </p:spPr>
        <p:txBody>
          <a:bodyPr anchorCtr="0" anchor="ctr" bIns="33400" lIns="66825" spcFirstLastPara="1" rIns="66825" wrap="square" tIns="33400">
            <a:spAutoFit/>
          </a:bodyPr>
          <a:lstStyle/>
          <a:p>
            <a:pPr indent="0" lvl="0" marL="0" rtl="0" algn="l">
              <a:lnSpc>
                <a:spcPct val="90000"/>
              </a:lnSpc>
              <a:spcBef>
                <a:spcPts val="0"/>
              </a:spcBef>
              <a:spcAft>
                <a:spcPts val="0"/>
              </a:spcAft>
              <a:buClr>
                <a:schemeClr val="dk1"/>
              </a:buClr>
              <a:buSzPts val="3216"/>
              <a:buFont typeface="Play"/>
              <a:buNone/>
            </a:pPr>
            <a:r>
              <a:rPr lang="zh-CN" sz="1169">
                <a:latin typeface="Trebuchet MS"/>
                <a:ea typeface="Trebuchet MS"/>
                <a:cs typeface="Trebuchet MS"/>
                <a:sym typeface="Trebuchet MS"/>
              </a:rPr>
              <a:t>User Tower</a:t>
            </a:r>
            <a:endParaRPr sz="1169">
              <a:latin typeface="Trebuchet MS"/>
              <a:ea typeface="Trebuchet MS"/>
              <a:cs typeface="Trebuchet MS"/>
              <a:sym typeface="Trebuchet MS"/>
            </a:endParaRPr>
          </a:p>
        </p:txBody>
      </p:sp>
      <p:sp>
        <p:nvSpPr>
          <p:cNvPr id="270" name="Google Shape;270;p32"/>
          <p:cNvSpPr txBox="1"/>
          <p:nvPr>
            <p:ph type="title"/>
          </p:nvPr>
        </p:nvSpPr>
        <p:spPr>
          <a:xfrm>
            <a:off x="2728905" y="798968"/>
            <a:ext cx="920100" cy="229500"/>
          </a:xfrm>
          <a:prstGeom prst="rect">
            <a:avLst/>
          </a:prstGeom>
          <a:noFill/>
          <a:ln>
            <a:noFill/>
          </a:ln>
        </p:spPr>
        <p:txBody>
          <a:bodyPr anchorCtr="0" anchor="ctr" bIns="33400" lIns="66825" spcFirstLastPara="1" rIns="66825" wrap="square" tIns="33400">
            <a:spAutoFit/>
          </a:bodyPr>
          <a:lstStyle/>
          <a:p>
            <a:pPr indent="0" lvl="0" marL="0" rtl="0" algn="l">
              <a:lnSpc>
                <a:spcPct val="90000"/>
              </a:lnSpc>
              <a:spcBef>
                <a:spcPts val="0"/>
              </a:spcBef>
              <a:spcAft>
                <a:spcPts val="0"/>
              </a:spcAft>
              <a:buClr>
                <a:schemeClr val="dk1"/>
              </a:buClr>
              <a:buSzPts val="3216"/>
              <a:buFont typeface="Play"/>
              <a:buNone/>
            </a:pPr>
            <a:r>
              <a:rPr lang="zh-CN" sz="1169">
                <a:latin typeface="Trebuchet MS"/>
                <a:ea typeface="Trebuchet MS"/>
                <a:cs typeface="Trebuchet MS"/>
                <a:sym typeface="Trebuchet MS"/>
              </a:rPr>
              <a:t>Item</a:t>
            </a:r>
            <a:r>
              <a:rPr lang="zh-CN" sz="1169">
                <a:latin typeface="Trebuchet MS"/>
                <a:ea typeface="Trebuchet MS"/>
                <a:cs typeface="Trebuchet MS"/>
                <a:sym typeface="Trebuchet MS"/>
              </a:rPr>
              <a:t> Tower</a:t>
            </a:r>
            <a:endParaRPr sz="1169">
              <a:latin typeface="Trebuchet MS"/>
              <a:ea typeface="Trebuchet MS"/>
              <a:cs typeface="Trebuchet MS"/>
              <a:sym typeface="Trebuchet MS"/>
            </a:endParaRPr>
          </a:p>
        </p:txBody>
      </p:sp>
      <p:cxnSp>
        <p:nvCxnSpPr>
          <p:cNvPr id="271" name="Google Shape;271;p32"/>
          <p:cNvCxnSpPr>
            <a:stCxn id="252" idx="2"/>
            <a:endCxn id="253" idx="0"/>
          </p:cNvCxnSpPr>
          <p:nvPr/>
        </p:nvCxnSpPr>
        <p:spPr>
          <a:xfrm>
            <a:off x="860150" y="1480497"/>
            <a:ext cx="0" cy="226500"/>
          </a:xfrm>
          <a:prstGeom prst="straightConnector1">
            <a:avLst/>
          </a:prstGeom>
          <a:noFill/>
          <a:ln cap="flat" cmpd="sng" w="9275">
            <a:solidFill>
              <a:schemeClr val="dk2"/>
            </a:solidFill>
            <a:prstDash val="solid"/>
            <a:round/>
            <a:headEnd len="med" w="med" type="none"/>
            <a:tailEnd len="med" w="med" type="stealth"/>
          </a:ln>
        </p:spPr>
      </p:cxnSp>
      <p:cxnSp>
        <p:nvCxnSpPr>
          <p:cNvPr id="272" name="Google Shape;272;p32"/>
          <p:cNvCxnSpPr>
            <a:stCxn id="253" idx="2"/>
            <a:endCxn id="263" idx="0"/>
          </p:cNvCxnSpPr>
          <p:nvPr/>
        </p:nvCxnSpPr>
        <p:spPr>
          <a:xfrm>
            <a:off x="860058" y="2061055"/>
            <a:ext cx="0" cy="176100"/>
          </a:xfrm>
          <a:prstGeom prst="straightConnector1">
            <a:avLst/>
          </a:prstGeom>
          <a:noFill/>
          <a:ln cap="flat" cmpd="sng" w="9275">
            <a:solidFill>
              <a:schemeClr val="dk2"/>
            </a:solidFill>
            <a:prstDash val="solid"/>
            <a:round/>
            <a:headEnd len="med" w="med" type="none"/>
            <a:tailEnd len="med" w="med" type="stealth"/>
          </a:ln>
        </p:spPr>
      </p:cxnSp>
      <p:cxnSp>
        <p:nvCxnSpPr>
          <p:cNvPr id="273" name="Google Shape;273;p32"/>
          <p:cNvCxnSpPr>
            <a:stCxn id="263" idx="2"/>
            <a:endCxn id="267" idx="0"/>
          </p:cNvCxnSpPr>
          <p:nvPr/>
        </p:nvCxnSpPr>
        <p:spPr>
          <a:xfrm flipH="1">
            <a:off x="856756" y="2540793"/>
            <a:ext cx="3300" cy="224100"/>
          </a:xfrm>
          <a:prstGeom prst="straightConnector1">
            <a:avLst/>
          </a:prstGeom>
          <a:noFill/>
          <a:ln cap="flat" cmpd="sng" w="9275">
            <a:solidFill>
              <a:schemeClr val="dk2"/>
            </a:solidFill>
            <a:prstDash val="solid"/>
            <a:round/>
            <a:headEnd len="med" w="med" type="none"/>
            <a:tailEnd len="med" w="med" type="stealth"/>
          </a:ln>
        </p:spPr>
      </p:cxnSp>
      <p:cxnSp>
        <p:nvCxnSpPr>
          <p:cNvPr id="274" name="Google Shape;274;p32"/>
          <p:cNvCxnSpPr>
            <a:stCxn id="265" idx="2"/>
            <a:endCxn id="266" idx="0"/>
          </p:cNvCxnSpPr>
          <p:nvPr/>
        </p:nvCxnSpPr>
        <p:spPr>
          <a:xfrm>
            <a:off x="3188671" y="2857082"/>
            <a:ext cx="0" cy="203700"/>
          </a:xfrm>
          <a:prstGeom prst="straightConnector1">
            <a:avLst/>
          </a:prstGeom>
          <a:noFill/>
          <a:ln cap="flat" cmpd="sng" w="9275">
            <a:solidFill>
              <a:schemeClr val="dk2"/>
            </a:solidFill>
            <a:prstDash val="solid"/>
            <a:round/>
            <a:headEnd len="med" w="med" type="none"/>
            <a:tailEnd len="med" w="med" type="stealth"/>
          </a:ln>
        </p:spPr>
      </p:cxnSp>
      <p:cxnSp>
        <p:nvCxnSpPr>
          <p:cNvPr id="275" name="Google Shape;275;p32"/>
          <p:cNvCxnSpPr>
            <a:stCxn id="266" idx="2"/>
            <a:endCxn id="268" idx="0"/>
          </p:cNvCxnSpPr>
          <p:nvPr/>
        </p:nvCxnSpPr>
        <p:spPr>
          <a:xfrm>
            <a:off x="3188785" y="3306890"/>
            <a:ext cx="0" cy="255000"/>
          </a:xfrm>
          <a:prstGeom prst="straightConnector1">
            <a:avLst/>
          </a:prstGeom>
          <a:noFill/>
          <a:ln cap="flat" cmpd="sng" w="9275">
            <a:solidFill>
              <a:schemeClr val="dk2"/>
            </a:solidFill>
            <a:prstDash val="solid"/>
            <a:round/>
            <a:headEnd len="med" w="med" type="none"/>
            <a:tailEnd len="med" w="med" type="stealth"/>
          </a:ln>
        </p:spPr>
      </p:cxnSp>
      <p:cxnSp>
        <p:nvCxnSpPr>
          <p:cNvPr id="276" name="Google Shape;276;p32"/>
          <p:cNvCxnSpPr>
            <a:stCxn id="268" idx="2"/>
            <a:endCxn id="261" idx="0"/>
          </p:cNvCxnSpPr>
          <p:nvPr/>
        </p:nvCxnSpPr>
        <p:spPr>
          <a:xfrm rot="5400000">
            <a:off x="2241563" y="3580367"/>
            <a:ext cx="719700" cy="1174500"/>
          </a:xfrm>
          <a:prstGeom prst="bentConnector3">
            <a:avLst>
              <a:gd fmla="val 50001" name="adj1"/>
            </a:avLst>
          </a:prstGeom>
          <a:noFill/>
          <a:ln cap="flat" cmpd="sng" w="9275">
            <a:solidFill>
              <a:schemeClr val="dk2"/>
            </a:solidFill>
            <a:prstDash val="solid"/>
            <a:round/>
            <a:headEnd len="med" w="med" type="none"/>
            <a:tailEnd len="med" w="med" type="none"/>
          </a:ln>
        </p:spPr>
      </p:cxnSp>
      <p:sp>
        <p:nvSpPr>
          <p:cNvPr id="277" name="Google Shape;277;p32"/>
          <p:cNvSpPr/>
          <p:nvPr/>
        </p:nvSpPr>
        <p:spPr>
          <a:xfrm>
            <a:off x="3757741" y="4498673"/>
            <a:ext cx="933000" cy="303600"/>
          </a:xfrm>
          <a:prstGeom prst="rect">
            <a:avLst/>
          </a:prstGeom>
          <a:solidFill>
            <a:srgbClr val="CFE2F3"/>
          </a:solidFill>
          <a:ln cap="flat" cmpd="sng" w="6275">
            <a:solidFill>
              <a:srgbClr val="0C343D"/>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b="1" lang="zh-CN" sz="926">
                <a:solidFill>
                  <a:srgbClr val="134F5C"/>
                </a:solidFill>
                <a:latin typeface="Trebuchet MS"/>
                <a:ea typeface="Trebuchet MS"/>
                <a:cs typeface="Trebuchet MS"/>
                <a:sym typeface="Trebuchet MS"/>
              </a:rPr>
              <a:t>Prediciton</a:t>
            </a:r>
            <a:endParaRPr b="1" sz="926">
              <a:solidFill>
                <a:srgbClr val="134F5C"/>
              </a:solidFill>
              <a:latin typeface="Trebuchet MS"/>
              <a:ea typeface="Trebuchet MS"/>
              <a:cs typeface="Trebuchet MS"/>
              <a:sym typeface="Trebuchet MS"/>
            </a:endParaRPr>
          </a:p>
        </p:txBody>
      </p:sp>
      <p:sp>
        <p:nvSpPr>
          <p:cNvPr id="278" name="Google Shape;278;p32"/>
          <p:cNvSpPr txBox="1"/>
          <p:nvPr/>
        </p:nvSpPr>
        <p:spPr>
          <a:xfrm>
            <a:off x="4769139" y="3144223"/>
            <a:ext cx="39966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200">
                <a:latin typeface="Trebuchet MS"/>
                <a:ea typeface="Trebuchet MS"/>
                <a:cs typeface="Trebuchet MS"/>
                <a:sym typeface="Trebuchet MS"/>
              </a:rPr>
              <a:t>CNN Title Encoder</a:t>
            </a:r>
            <a:endParaRPr sz="1200">
              <a:latin typeface="Trebuchet MS"/>
              <a:ea typeface="Trebuchet MS"/>
              <a:cs typeface="Trebuchet MS"/>
              <a:sym typeface="Trebuchet MS"/>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solidFill>
                <a:srgbClr val="434343"/>
              </a:solidFill>
            </a:endParaRPr>
          </a:p>
          <a:p>
            <a:pPr indent="-292100" lvl="0" marL="457200" rtl="0" algn="l">
              <a:spcBef>
                <a:spcPts val="0"/>
              </a:spcBef>
              <a:spcAft>
                <a:spcPts val="0"/>
              </a:spcAft>
              <a:buClr>
                <a:srgbClr val="434343"/>
              </a:buClr>
              <a:buSzPts val="1000"/>
              <a:buChar char="○"/>
            </a:pPr>
            <a:r>
              <a:rPr lang="zh-CN" sz="1000">
                <a:solidFill>
                  <a:srgbClr val="434343"/>
                </a:solidFill>
              </a:rPr>
              <a:t>Genre: embed (d=8) → AvgPool → ℝ⁸. </a:t>
            </a:r>
            <a:endParaRPr sz="1000">
              <a:solidFill>
                <a:srgbClr val="434343"/>
              </a:solidFill>
            </a:endParaRPr>
          </a:p>
          <a:p>
            <a:pPr indent="-292100" lvl="0" marL="457200" rtl="0" algn="l">
              <a:spcBef>
                <a:spcPts val="0"/>
              </a:spcBef>
              <a:spcAft>
                <a:spcPts val="0"/>
              </a:spcAft>
              <a:buClr>
                <a:srgbClr val="434343"/>
              </a:buClr>
              <a:buSzPts val="1000"/>
              <a:buChar char="○"/>
            </a:pPr>
            <a:r>
              <a:rPr lang="zh-CN" sz="1000">
                <a:solidFill>
                  <a:srgbClr val="434343"/>
                </a:solidFill>
              </a:rPr>
              <a:t>Concatenated with ID embed → MLP → q_i</a:t>
            </a:r>
            <a:endParaRPr sz="1000">
              <a:solidFill>
                <a:srgbClr val="434343"/>
              </a:solidFill>
            </a:endParaRPr>
          </a:p>
        </p:txBody>
      </p:sp>
      <p:pic>
        <p:nvPicPr>
          <p:cNvPr id="279" name="Google Shape;279;p32"/>
          <p:cNvPicPr preferRelativeResize="0"/>
          <p:nvPr/>
        </p:nvPicPr>
        <p:blipFill>
          <a:blip r:embed="rId4">
            <a:alphaModFix/>
          </a:blip>
          <a:stretch>
            <a:fillRect/>
          </a:stretch>
        </p:blipFill>
        <p:spPr>
          <a:xfrm>
            <a:off x="5059849" y="3526389"/>
            <a:ext cx="3415199" cy="236756"/>
          </a:xfrm>
          <a:prstGeom prst="rect">
            <a:avLst/>
          </a:prstGeom>
          <a:noFill/>
          <a:ln>
            <a:noFill/>
          </a:ln>
        </p:spPr>
      </p:pic>
      <p:cxnSp>
        <p:nvCxnSpPr>
          <p:cNvPr id="280" name="Google Shape;280;p32"/>
          <p:cNvCxnSpPr>
            <a:stCxn id="258" idx="2"/>
            <a:endCxn id="259" idx="0"/>
          </p:cNvCxnSpPr>
          <p:nvPr/>
        </p:nvCxnSpPr>
        <p:spPr>
          <a:xfrm flipH="1" rot="-5400000">
            <a:off x="2041607" y="1598178"/>
            <a:ext cx="225900" cy="600"/>
          </a:xfrm>
          <a:prstGeom prst="bentConnector3">
            <a:avLst>
              <a:gd fmla="val 49994" name="adj1"/>
            </a:avLst>
          </a:prstGeom>
          <a:noFill/>
          <a:ln cap="flat" cmpd="sng" w="9275">
            <a:solidFill>
              <a:schemeClr val="dk2"/>
            </a:solidFill>
            <a:prstDash val="solid"/>
            <a:round/>
            <a:headEnd len="med" w="med" type="none"/>
            <a:tailEnd len="med" w="med" type="stealth"/>
          </a:ln>
        </p:spPr>
      </p:cxnSp>
      <p:cxnSp>
        <p:nvCxnSpPr>
          <p:cNvPr id="281" name="Google Shape;281;p32"/>
          <p:cNvCxnSpPr>
            <a:stCxn id="260" idx="2"/>
            <a:endCxn id="265" idx="0"/>
          </p:cNvCxnSpPr>
          <p:nvPr/>
        </p:nvCxnSpPr>
        <p:spPr>
          <a:xfrm flipH="1" rot="-5400000">
            <a:off x="2916132" y="2337854"/>
            <a:ext cx="545700" cy="600"/>
          </a:xfrm>
          <a:prstGeom prst="bentConnector3">
            <a:avLst>
              <a:gd fmla="val 50000" name="adj1"/>
            </a:avLst>
          </a:prstGeom>
          <a:noFill/>
          <a:ln cap="flat" cmpd="sng" w="9275">
            <a:solidFill>
              <a:schemeClr val="dk2"/>
            </a:solidFill>
            <a:prstDash val="solid"/>
            <a:round/>
            <a:headEnd len="med" w="med" type="none"/>
            <a:tailEnd len="med" w="med" type="stealth"/>
          </a:ln>
        </p:spPr>
      </p:cxnSp>
      <p:cxnSp>
        <p:nvCxnSpPr>
          <p:cNvPr id="282" name="Google Shape;282;p32"/>
          <p:cNvCxnSpPr>
            <a:stCxn id="259" idx="2"/>
            <a:endCxn id="265" idx="0"/>
          </p:cNvCxnSpPr>
          <p:nvPr/>
        </p:nvCxnSpPr>
        <p:spPr>
          <a:xfrm flipH="1" rot="-5400000">
            <a:off x="2398600" y="1820952"/>
            <a:ext cx="545700" cy="1034400"/>
          </a:xfrm>
          <a:prstGeom prst="bentConnector3">
            <a:avLst>
              <a:gd fmla="val 50000" name="adj1"/>
            </a:avLst>
          </a:prstGeom>
          <a:noFill/>
          <a:ln cap="flat" cmpd="sng" w="9275">
            <a:solidFill>
              <a:schemeClr val="dk2"/>
            </a:solidFill>
            <a:prstDash val="solid"/>
            <a:round/>
            <a:headEnd len="med" w="med" type="none"/>
            <a:tailEnd len="med" w="med" type="none"/>
          </a:ln>
        </p:spPr>
      </p:cxnSp>
      <p:cxnSp>
        <p:nvCxnSpPr>
          <p:cNvPr id="283" name="Google Shape;283;p32"/>
          <p:cNvCxnSpPr>
            <a:stCxn id="264" idx="2"/>
            <a:endCxn id="265" idx="0"/>
          </p:cNvCxnSpPr>
          <p:nvPr/>
        </p:nvCxnSpPr>
        <p:spPr>
          <a:xfrm rot="5400000">
            <a:off x="3437226" y="1818706"/>
            <a:ext cx="543600" cy="1041000"/>
          </a:xfrm>
          <a:prstGeom prst="bentConnector3">
            <a:avLst>
              <a:gd fmla="val 49995" name="adj1"/>
            </a:avLst>
          </a:prstGeom>
          <a:noFill/>
          <a:ln cap="flat" cmpd="sng" w="9275">
            <a:solidFill>
              <a:schemeClr val="dk2"/>
            </a:solidFill>
            <a:prstDash val="solid"/>
            <a:round/>
            <a:headEnd len="med" w="med" type="none"/>
            <a:tailEnd len="med" w="med" type="none"/>
          </a:ln>
        </p:spPr>
      </p:cxnSp>
      <p:cxnSp>
        <p:nvCxnSpPr>
          <p:cNvPr id="284" name="Google Shape;284;p32"/>
          <p:cNvCxnSpPr>
            <a:endCxn id="277" idx="1"/>
          </p:cNvCxnSpPr>
          <p:nvPr/>
        </p:nvCxnSpPr>
        <p:spPr>
          <a:xfrm>
            <a:off x="3170041" y="4650473"/>
            <a:ext cx="587700" cy="0"/>
          </a:xfrm>
          <a:prstGeom prst="straightConnector1">
            <a:avLst/>
          </a:prstGeom>
          <a:noFill/>
          <a:ln cap="flat" cmpd="sng" w="9275">
            <a:solidFill>
              <a:schemeClr val="dk2"/>
            </a:solidFill>
            <a:prstDash val="solid"/>
            <a:round/>
            <a:headEnd len="med" w="med" type="none"/>
            <a:tailEnd len="med" w="med" type="stealth"/>
          </a:ln>
        </p:spPr>
      </p:cxnSp>
      <p:sp>
        <p:nvSpPr>
          <p:cNvPr id="285" name="Google Shape;285;p32"/>
          <p:cNvSpPr/>
          <p:nvPr/>
        </p:nvSpPr>
        <p:spPr>
          <a:xfrm>
            <a:off x="2722463" y="1191136"/>
            <a:ext cx="933000" cy="303600"/>
          </a:xfrm>
          <a:prstGeom prst="rect">
            <a:avLst/>
          </a:prstGeom>
          <a:solidFill>
            <a:srgbClr val="CFE2F3"/>
          </a:solidFill>
          <a:ln cap="flat" cmpd="sng" w="6275">
            <a:solidFill>
              <a:srgbClr val="0C343D"/>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b="1" lang="zh-CN" sz="926">
                <a:solidFill>
                  <a:srgbClr val="134F5C"/>
                </a:solidFill>
                <a:latin typeface="Trebuchet MS"/>
                <a:ea typeface="Trebuchet MS"/>
                <a:cs typeface="Trebuchet MS"/>
                <a:sym typeface="Trebuchet MS"/>
              </a:rPr>
              <a:t>Title tokens</a:t>
            </a:r>
            <a:endParaRPr b="1" sz="926">
              <a:solidFill>
                <a:srgbClr val="134F5C"/>
              </a:solidFill>
              <a:latin typeface="Trebuchet MS"/>
              <a:ea typeface="Trebuchet MS"/>
              <a:cs typeface="Trebuchet MS"/>
              <a:sym typeface="Trebuchet MS"/>
            </a:endParaRPr>
          </a:p>
        </p:txBody>
      </p:sp>
      <p:sp>
        <p:nvSpPr>
          <p:cNvPr id="286" name="Google Shape;286;p32"/>
          <p:cNvSpPr/>
          <p:nvPr/>
        </p:nvSpPr>
        <p:spPr>
          <a:xfrm>
            <a:off x="3757169" y="1191136"/>
            <a:ext cx="933000" cy="303600"/>
          </a:xfrm>
          <a:prstGeom prst="rect">
            <a:avLst/>
          </a:prstGeom>
          <a:solidFill>
            <a:srgbClr val="CFE2F3"/>
          </a:solidFill>
          <a:ln cap="flat" cmpd="sng" w="6275">
            <a:solidFill>
              <a:srgbClr val="0C343D"/>
            </a:solidFill>
            <a:prstDash val="solid"/>
            <a:round/>
            <a:headEnd len="sm" w="sm" type="none"/>
            <a:tailEnd len="sm" w="sm" type="none"/>
          </a:ln>
        </p:spPr>
        <p:txBody>
          <a:bodyPr anchorCtr="0" anchor="ctr" bIns="60450" lIns="60450" spcFirstLastPara="1" rIns="60450" wrap="square" tIns="60450">
            <a:noAutofit/>
          </a:bodyPr>
          <a:lstStyle/>
          <a:p>
            <a:pPr indent="0" lvl="0" marL="0" rtl="0" algn="ctr">
              <a:spcBef>
                <a:spcPts val="0"/>
              </a:spcBef>
              <a:spcAft>
                <a:spcPts val="0"/>
              </a:spcAft>
              <a:buNone/>
            </a:pPr>
            <a:r>
              <a:rPr b="1" lang="zh-CN" sz="926">
                <a:solidFill>
                  <a:srgbClr val="134F5C"/>
                </a:solidFill>
                <a:latin typeface="Trebuchet MS"/>
                <a:ea typeface="Trebuchet MS"/>
                <a:cs typeface="Trebuchet MS"/>
                <a:sym typeface="Trebuchet MS"/>
              </a:rPr>
              <a:t>Genre tokens</a:t>
            </a:r>
            <a:endParaRPr b="1" sz="926">
              <a:solidFill>
                <a:srgbClr val="134F5C"/>
              </a:solidFill>
              <a:latin typeface="Trebuchet MS"/>
              <a:ea typeface="Trebuchet MS"/>
              <a:cs typeface="Trebuchet MS"/>
              <a:sym typeface="Trebuchet MS"/>
            </a:endParaRPr>
          </a:p>
        </p:txBody>
      </p:sp>
      <p:cxnSp>
        <p:nvCxnSpPr>
          <p:cNvPr id="287" name="Google Shape;287;p32"/>
          <p:cNvCxnSpPr>
            <a:stCxn id="285" idx="2"/>
            <a:endCxn id="260" idx="0"/>
          </p:cNvCxnSpPr>
          <p:nvPr/>
        </p:nvCxnSpPr>
        <p:spPr>
          <a:xfrm flipH="1">
            <a:off x="3188663" y="1494736"/>
            <a:ext cx="300" cy="216600"/>
          </a:xfrm>
          <a:prstGeom prst="straightConnector1">
            <a:avLst/>
          </a:prstGeom>
          <a:noFill/>
          <a:ln cap="flat" cmpd="sng" w="9275">
            <a:solidFill>
              <a:schemeClr val="dk2"/>
            </a:solidFill>
            <a:prstDash val="solid"/>
            <a:round/>
            <a:headEnd len="med" w="med" type="none"/>
            <a:tailEnd len="med" w="med" type="stealth"/>
          </a:ln>
        </p:spPr>
      </p:cxnSp>
      <p:cxnSp>
        <p:nvCxnSpPr>
          <p:cNvPr id="288" name="Google Shape;288;p32"/>
          <p:cNvCxnSpPr>
            <a:stCxn id="286" idx="2"/>
            <a:endCxn id="264" idx="0"/>
          </p:cNvCxnSpPr>
          <p:nvPr/>
        </p:nvCxnSpPr>
        <p:spPr>
          <a:xfrm>
            <a:off x="4223669" y="1494736"/>
            <a:ext cx="6000" cy="218700"/>
          </a:xfrm>
          <a:prstGeom prst="straightConnector1">
            <a:avLst/>
          </a:prstGeom>
          <a:noFill/>
          <a:ln cap="flat" cmpd="sng" w="9275">
            <a:solidFill>
              <a:schemeClr val="dk2"/>
            </a:solidFill>
            <a:prstDash val="solid"/>
            <a:round/>
            <a:headEnd len="med" w="med" type="none"/>
            <a:tailEnd len="med" w="med" type="stealth"/>
          </a:ln>
        </p:spPr>
      </p:cxnSp>
      <p:cxnSp>
        <p:nvCxnSpPr>
          <p:cNvPr id="289" name="Google Shape;289;p32"/>
          <p:cNvCxnSpPr>
            <a:stCxn id="267" idx="2"/>
            <a:endCxn id="261" idx="0"/>
          </p:cNvCxnSpPr>
          <p:nvPr/>
        </p:nvCxnSpPr>
        <p:spPr>
          <a:xfrm flipH="1" rot="-5400000">
            <a:off x="706098" y="3219386"/>
            <a:ext cx="1458900" cy="1157400"/>
          </a:xfrm>
          <a:prstGeom prst="bentConnector3">
            <a:avLst>
              <a:gd fmla="val 49998" name="adj1"/>
            </a:avLst>
          </a:prstGeom>
          <a:noFill/>
          <a:ln cap="flat" cmpd="sng" w="9275">
            <a:solidFill>
              <a:schemeClr val="dk2"/>
            </a:solidFill>
            <a:prstDash val="solid"/>
            <a:round/>
            <a:headEnd len="med" w="med" type="none"/>
            <a:tailEnd len="med" w="med" type="stealth"/>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grpSp>
        <p:nvGrpSpPr>
          <p:cNvPr id="294" name="Google Shape;294;p33"/>
          <p:cNvGrpSpPr/>
          <p:nvPr/>
        </p:nvGrpSpPr>
        <p:grpSpPr>
          <a:xfrm>
            <a:off x="0" y="0"/>
            <a:ext cx="9144150" cy="617100"/>
            <a:chOff x="0" y="0"/>
            <a:chExt cx="9144150" cy="617100"/>
          </a:xfrm>
        </p:grpSpPr>
        <p:sp>
          <p:nvSpPr>
            <p:cNvPr id="295" name="Google Shape;295;p33"/>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6" name="Google Shape;296;p33"/>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97" name="Google Shape;297;p33"/>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Deep Hybrid ANALYSIS</a:t>
            </a:r>
            <a:endParaRPr sz="2500">
              <a:solidFill>
                <a:schemeClr val="lt1"/>
              </a:solidFill>
              <a:latin typeface="Trebuchet MS"/>
              <a:ea typeface="Trebuchet MS"/>
              <a:cs typeface="Trebuchet MS"/>
              <a:sym typeface="Trebuchet MS"/>
            </a:endParaRPr>
          </a:p>
        </p:txBody>
      </p:sp>
      <p:sp>
        <p:nvSpPr>
          <p:cNvPr id="298" name="Google Shape;298;p33"/>
          <p:cNvSpPr/>
          <p:nvPr/>
        </p:nvSpPr>
        <p:spPr>
          <a:xfrm>
            <a:off x="408925"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0.6005</a:t>
            </a:r>
            <a:endParaRPr b="1">
              <a:solidFill>
                <a:srgbClr val="38761D"/>
              </a:solidFill>
              <a:latin typeface="Trebuchet MS"/>
              <a:ea typeface="Trebuchet MS"/>
              <a:cs typeface="Trebuchet MS"/>
              <a:sym typeface="Trebuchet MS"/>
            </a:endParaRPr>
          </a:p>
          <a:p>
            <a:pPr indent="0" lvl="0" marL="0" rtl="0" algn="ctr">
              <a:spcBef>
                <a:spcPts val="0"/>
              </a:spcBef>
              <a:spcAft>
                <a:spcPts val="0"/>
              </a:spcAft>
              <a:buNone/>
            </a:pPr>
            <a:r>
              <a:rPr lang="zh-CN" sz="900"/>
              <a:t>MAE</a:t>
            </a:r>
            <a:endParaRPr sz="900"/>
          </a:p>
          <a:p>
            <a:pPr indent="0" lvl="0" marL="0" rtl="0" algn="ctr">
              <a:spcBef>
                <a:spcPts val="0"/>
              </a:spcBef>
              <a:spcAft>
                <a:spcPts val="0"/>
              </a:spcAft>
              <a:buNone/>
            </a:pPr>
            <a:r>
              <a:rPr lang="zh-CN" sz="600">
                <a:solidFill>
                  <a:srgbClr val="434343"/>
                </a:solidFill>
              </a:rPr>
              <a:t>BEST</a:t>
            </a:r>
            <a:endParaRPr sz="600">
              <a:solidFill>
                <a:srgbClr val="434343"/>
              </a:solidFill>
            </a:endParaRPr>
          </a:p>
        </p:txBody>
      </p:sp>
      <p:sp>
        <p:nvSpPr>
          <p:cNvPr id="299" name="Google Shape;299;p33"/>
          <p:cNvSpPr/>
          <p:nvPr/>
        </p:nvSpPr>
        <p:spPr>
          <a:xfrm>
            <a:off x="1449000"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0.0533</a:t>
            </a:r>
            <a:endParaRPr b="1">
              <a:solidFill>
                <a:srgbClr val="38761D"/>
              </a:solidFill>
              <a:latin typeface="Trebuchet MS"/>
              <a:ea typeface="Trebuchet MS"/>
              <a:cs typeface="Trebuchet MS"/>
              <a:sym typeface="Trebuchet MS"/>
            </a:endParaRPr>
          </a:p>
          <a:p>
            <a:pPr indent="0" lvl="0" marL="0" rtl="0" algn="ctr">
              <a:spcBef>
                <a:spcPts val="0"/>
              </a:spcBef>
              <a:spcAft>
                <a:spcPts val="0"/>
              </a:spcAft>
              <a:buNone/>
            </a:pPr>
            <a:r>
              <a:rPr lang="zh-CN" sz="900"/>
              <a:t>P@10</a:t>
            </a:r>
            <a:endParaRPr sz="900"/>
          </a:p>
          <a:p>
            <a:pPr indent="0" lvl="0" marL="0" rtl="0" algn="ctr">
              <a:spcBef>
                <a:spcPts val="0"/>
              </a:spcBef>
              <a:spcAft>
                <a:spcPts val="0"/>
              </a:spcAft>
              <a:buNone/>
            </a:pPr>
            <a:r>
              <a:rPr lang="zh-CN" sz="600">
                <a:solidFill>
                  <a:srgbClr val="434343"/>
                </a:solidFill>
              </a:rPr>
              <a:t>BEST</a:t>
            </a:r>
            <a:endParaRPr sz="600">
              <a:solidFill>
                <a:srgbClr val="434343"/>
              </a:solidFill>
            </a:endParaRPr>
          </a:p>
        </p:txBody>
      </p:sp>
      <p:sp>
        <p:nvSpPr>
          <p:cNvPr id="300" name="Google Shape;300;p33"/>
          <p:cNvSpPr/>
          <p:nvPr/>
        </p:nvSpPr>
        <p:spPr>
          <a:xfrm>
            <a:off x="2464150"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0.0480</a:t>
            </a:r>
            <a:endParaRPr b="1">
              <a:solidFill>
                <a:srgbClr val="38761D"/>
              </a:solidFill>
              <a:latin typeface="Trebuchet MS"/>
              <a:ea typeface="Trebuchet MS"/>
              <a:cs typeface="Trebuchet MS"/>
              <a:sym typeface="Trebuchet MS"/>
            </a:endParaRPr>
          </a:p>
          <a:p>
            <a:pPr indent="0" lvl="0" marL="0" rtl="0" algn="ctr">
              <a:spcBef>
                <a:spcPts val="0"/>
              </a:spcBef>
              <a:spcAft>
                <a:spcPts val="0"/>
              </a:spcAft>
              <a:buNone/>
            </a:pPr>
            <a:r>
              <a:rPr lang="zh-CN" sz="900"/>
              <a:t>R@10</a:t>
            </a:r>
            <a:endParaRPr sz="900"/>
          </a:p>
          <a:p>
            <a:pPr indent="0" lvl="0" marL="0" rtl="0" algn="ctr">
              <a:spcBef>
                <a:spcPts val="0"/>
              </a:spcBef>
              <a:spcAft>
                <a:spcPts val="0"/>
              </a:spcAft>
              <a:buNone/>
            </a:pPr>
            <a:r>
              <a:rPr lang="zh-CN" sz="600">
                <a:solidFill>
                  <a:srgbClr val="434343"/>
                </a:solidFill>
              </a:rPr>
              <a:t>BEST</a:t>
            </a:r>
            <a:endParaRPr sz="600">
              <a:solidFill>
                <a:srgbClr val="434343"/>
              </a:solidFill>
            </a:endParaRPr>
          </a:p>
        </p:txBody>
      </p:sp>
      <p:sp>
        <p:nvSpPr>
          <p:cNvPr id="301" name="Google Shape;301;p33"/>
          <p:cNvSpPr/>
          <p:nvPr/>
        </p:nvSpPr>
        <p:spPr>
          <a:xfrm>
            <a:off x="3459325"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8761D"/>
                </a:solidFill>
                <a:latin typeface="Trebuchet MS"/>
                <a:ea typeface="Trebuchet MS"/>
                <a:cs typeface="Trebuchet MS"/>
                <a:sym typeface="Trebuchet MS"/>
              </a:rPr>
              <a:t>0.0722</a:t>
            </a:r>
            <a:endParaRPr b="1">
              <a:solidFill>
                <a:srgbClr val="38761D"/>
              </a:solidFill>
              <a:latin typeface="Trebuchet MS"/>
              <a:ea typeface="Trebuchet MS"/>
              <a:cs typeface="Trebuchet MS"/>
              <a:sym typeface="Trebuchet MS"/>
            </a:endParaRPr>
          </a:p>
          <a:p>
            <a:pPr indent="0" lvl="0" marL="0" rtl="0" algn="ctr">
              <a:spcBef>
                <a:spcPts val="0"/>
              </a:spcBef>
              <a:spcAft>
                <a:spcPts val="0"/>
              </a:spcAft>
              <a:buNone/>
            </a:pPr>
            <a:r>
              <a:rPr lang="zh-CN" sz="900"/>
              <a:t>NDCG@10</a:t>
            </a:r>
            <a:endParaRPr sz="900"/>
          </a:p>
          <a:p>
            <a:pPr indent="0" lvl="0" marL="0" rtl="0" algn="ctr">
              <a:spcBef>
                <a:spcPts val="0"/>
              </a:spcBef>
              <a:spcAft>
                <a:spcPts val="0"/>
              </a:spcAft>
              <a:buNone/>
            </a:pPr>
            <a:r>
              <a:rPr lang="zh-CN" sz="600">
                <a:solidFill>
                  <a:srgbClr val="434343"/>
                </a:solidFill>
              </a:rPr>
              <a:t>BEST</a:t>
            </a:r>
            <a:endParaRPr sz="600">
              <a:solidFill>
                <a:srgbClr val="434343"/>
              </a:solidFill>
            </a:endParaRPr>
          </a:p>
        </p:txBody>
      </p:sp>
      <p:sp>
        <p:nvSpPr>
          <p:cNvPr id="302" name="Google Shape;302;p33"/>
          <p:cNvSpPr/>
          <p:nvPr/>
        </p:nvSpPr>
        <p:spPr>
          <a:xfrm>
            <a:off x="4711174" y="1293523"/>
            <a:ext cx="29400" cy="804300"/>
          </a:xfrm>
          <a:prstGeom prst="rect">
            <a:avLst/>
          </a:prstGeom>
          <a:solidFill>
            <a:srgbClr val="1C9770"/>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303" name="Google Shape;303;p33"/>
          <p:cNvSpPr/>
          <p:nvPr/>
        </p:nvSpPr>
        <p:spPr>
          <a:xfrm>
            <a:off x="4871025" y="1308130"/>
            <a:ext cx="16419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Mechanism Explanation</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04" name="Google Shape;304;p33"/>
          <p:cNvSpPr/>
          <p:nvPr/>
        </p:nvSpPr>
        <p:spPr>
          <a:xfrm>
            <a:off x="4871025" y="1582182"/>
            <a:ext cx="4025700" cy="691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ID embeddings capture collaborative filtering signals, while the title CNN and genre pooling model longer-range item semantics, providing complementary content features. The Huber loss further stabilizes rating prediction.</a:t>
            </a:r>
            <a:endParaRPr sz="895">
              <a:solidFill>
                <a:srgbClr val="464646"/>
              </a:solidFill>
            </a:endParaRPr>
          </a:p>
        </p:txBody>
      </p:sp>
      <p:sp>
        <p:nvSpPr>
          <p:cNvPr id="305" name="Google Shape;305;p33"/>
          <p:cNvSpPr/>
          <p:nvPr/>
        </p:nvSpPr>
        <p:spPr>
          <a:xfrm>
            <a:off x="4711174" y="2423348"/>
            <a:ext cx="29400" cy="804300"/>
          </a:xfrm>
          <a:prstGeom prst="rect">
            <a:avLst/>
          </a:prstGeom>
          <a:solidFill>
            <a:srgbClr val="1C9770"/>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306" name="Google Shape;306;p33"/>
          <p:cNvSpPr/>
          <p:nvPr/>
        </p:nvSpPr>
        <p:spPr>
          <a:xfrm>
            <a:off x="4871024" y="2437953"/>
            <a:ext cx="1931100" cy="220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Source of Ranking Gains</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07" name="Google Shape;307;p33"/>
          <p:cNvSpPr/>
          <p:nvPr/>
        </p:nvSpPr>
        <p:spPr>
          <a:xfrm>
            <a:off x="4871029" y="2712000"/>
            <a:ext cx="38829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Rating-weighted sampling and content features make high-scoring items more distinguishable in ranking, leading to a clear improvement in NDCG@10.</a:t>
            </a:r>
            <a:endParaRPr i="0" sz="895" u="none" cap="none" strike="noStrike"/>
          </a:p>
        </p:txBody>
      </p:sp>
      <p:sp>
        <p:nvSpPr>
          <p:cNvPr id="308" name="Google Shape;308;p33"/>
          <p:cNvSpPr/>
          <p:nvPr/>
        </p:nvSpPr>
        <p:spPr>
          <a:xfrm>
            <a:off x="4711174" y="3487648"/>
            <a:ext cx="29400" cy="804300"/>
          </a:xfrm>
          <a:prstGeom prst="rect">
            <a:avLst/>
          </a:prstGeom>
          <a:solidFill>
            <a:srgbClr val="F1C232"/>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309" name="Google Shape;309;p33"/>
          <p:cNvSpPr/>
          <p:nvPr/>
        </p:nvSpPr>
        <p:spPr>
          <a:xfrm>
            <a:off x="4871029" y="3502288"/>
            <a:ext cx="14502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Trade-off</a:t>
            </a:r>
            <a:endParaRPr sz="1119">
              <a:solidFill>
                <a:srgbClr val="464646"/>
              </a:solidFill>
              <a:latin typeface="Trebuchet MS"/>
              <a:ea typeface="Trebuchet MS"/>
              <a:cs typeface="Trebuchet MS"/>
              <a:sym typeface="Trebuchet MS"/>
            </a:endParaRPr>
          </a:p>
        </p:txBody>
      </p:sp>
      <p:sp>
        <p:nvSpPr>
          <p:cNvPr id="310" name="Google Shape;310;p33"/>
          <p:cNvSpPr/>
          <p:nvPr/>
        </p:nvSpPr>
        <p:spPr>
          <a:xfrm>
            <a:off x="4871029" y="3776325"/>
            <a:ext cx="38829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The model is structurally more complex and relies more on GPU training and feature processing. However, at this data scale, the additional capacity translates into real performance gains.</a:t>
            </a:r>
            <a:endParaRPr sz="895">
              <a:solidFill>
                <a:srgbClr val="464646"/>
              </a:solidFill>
            </a:endParaRPr>
          </a:p>
        </p:txBody>
      </p:sp>
      <p:sp>
        <p:nvSpPr>
          <p:cNvPr id="311" name="Google Shape;311;p33"/>
          <p:cNvSpPr/>
          <p:nvPr/>
        </p:nvSpPr>
        <p:spPr>
          <a:xfrm>
            <a:off x="369979" y="3638925"/>
            <a:ext cx="15195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b="1" lang="zh-CN" sz="1119">
                <a:solidFill>
                  <a:srgbClr val="030303"/>
                </a:solidFill>
                <a:latin typeface="Trebuchet MS"/>
                <a:ea typeface="Trebuchet MS"/>
                <a:cs typeface="Trebuchet MS"/>
                <a:sym typeface="Trebuchet MS"/>
              </a:rPr>
              <a:t>Takeaway</a:t>
            </a:r>
            <a:endParaRPr b="1" sz="1119">
              <a:solidFill>
                <a:srgbClr val="030303"/>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12" name="Google Shape;312;p33"/>
          <p:cNvSpPr/>
          <p:nvPr/>
        </p:nvSpPr>
        <p:spPr>
          <a:xfrm>
            <a:off x="369975" y="3912970"/>
            <a:ext cx="4068300" cy="6171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If the goal is overall recommendation quality, Deep Hybrid is the primary model. For cost-sensitive deployment, it should be weighed against SVD (Ridge).</a:t>
            </a:r>
            <a:endParaRPr sz="895">
              <a:solidFill>
                <a:srgbClr val="464646"/>
              </a:solidFill>
            </a:endParaRPr>
          </a:p>
        </p:txBody>
      </p:sp>
      <p:pic>
        <p:nvPicPr>
          <p:cNvPr id="313" name="Google Shape;313;p33"/>
          <p:cNvPicPr preferRelativeResize="0"/>
          <p:nvPr/>
        </p:nvPicPr>
        <p:blipFill>
          <a:blip r:embed="rId3">
            <a:alphaModFix/>
          </a:blip>
          <a:stretch>
            <a:fillRect/>
          </a:stretch>
        </p:blipFill>
        <p:spPr>
          <a:xfrm>
            <a:off x="306025" y="877700"/>
            <a:ext cx="4156302" cy="1648500"/>
          </a:xfrm>
          <a:prstGeom prst="rect">
            <a:avLst/>
          </a:prstGeom>
          <a:noFill/>
          <a:ln>
            <a:noFill/>
          </a:ln>
        </p:spPr>
      </p:pic>
      <p:sp>
        <p:nvSpPr>
          <p:cNvPr id="314" name="Google Shape;314;p33"/>
          <p:cNvSpPr txBox="1"/>
          <p:nvPr/>
        </p:nvSpPr>
        <p:spPr>
          <a:xfrm>
            <a:off x="4671275" y="815075"/>
            <a:ext cx="43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latin typeface="Trebuchet MS"/>
                <a:ea typeface="Trebuchet MS"/>
                <a:cs typeface="Trebuchet MS"/>
                <a:sym typeface="Trebuchet MS"/>
              </a:rPr>
              <a:t>Why It Achieves the Best Overall Performance?</a:t>
            </a:r>
            <a:endParaRPr>
              <a:latin typeface="Trebuchet MS"/>
              <a:ea typeface="Trebuchet MS"/>
              <a:cs typeface="Trebuchet MS"/>
              <a:sym typeface="Trebuchet MS"/>
            </a:endParaRPr>
          </a:p>
        </p:txBody>
      </p:sp>
      <p:pic>
        <p:nvPicPr>
          <p:cNvPr descr="preencoded.png" id="315" name="Google Shape;315;p33"/>
          <p:cNvPicPr preferRelativeResize="0"/>
          <p:nvPr/>
        </p:nvPicPr>
        <p:blipFill rotWithShape="1">
          <a:blip r:embed="rId4">
            <a:alphaModFix/>
          </a:blip>
          <a:srcRect b="0" l="0" r="0" t="0"/>
          <a:stretch/>
        </p:blipFill>
        <p:spPr>
          <a:xfrm>
            <a:off x="5517887" y="3530318"/>
            <a:ext cx="156487" cy="1251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34"/>
          <p:cNvGrpSpPr/>
          <p:nvPr/>
        </p:nvGrpSpPr>
        <p:grpSpPr>
          <a:xfrm>
            <a:off x="0" y="0"/>
            <a:ext cx="9144150" cy="617100"/>
            <a:chOff x="0" y="0"/>
            <a:chExt cx="9144150" cy="617100"/>
          </a:xfrm>
        </p:grpSpPr>
        <p:sp>
          <p:nvSpPr>
            <p:cNvPr id="321" name="Google Shape;321;p34"/>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2" name="Google Shape;322;p34"/>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23" name="Google Shape;323;p34"/>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SVD Representation + Three Heads</a:t>
            </a:r>
            <a:endParaRPr sz="2500">
              <a:solidFill>
                <a:schemeClr val="lt1"/>
              </a:solidFill>
              <a:latin typeface="Trebuchet MS"/>
              <a:ea typeface="Trebuchet MS"/>
              <a:cs typeface="Trebuchet MS"/>
              <a:sym typeface="Trebuchet MS"/>
            </a:endParaRPr>
          </a:p>
        </p:txBody>
      </p:sp>
      <p:sp>
        <p:nvSpPr>
          <p:cNvPr id="324" name="Google Shape;324;p34"/>
          <p:cNvSpPr/>
          <p:nvPr/>
        </p:nvSpPr>
        <p:spPr>
          <a:xfrm>
            <a:off x="603107" y="888090"/>
            <a:ext cx="17178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216">
                <a:solidFill>
                  <a:srgbClr val="030303"/>
                </a:solidFill>
                <a:latin typeface="Trebuchet MS"/>
                <a:ea typeface="Trebuchet MS"/>
                <a:cs typeface="Trebuchet MS"/>
                <a:sym typeface="Trebuchet MS"/>
              </a:rPr>
              <a:t>Shared Backbone</a:t>
            </a:r>
            <a:endParaRPr sz="1216">
              <a:solidFill>
                <a:srgbClr val="030303"/>
              </a:solidFill>
              <a:latin typeface="Trebuchet MS"/>
              <a:ea typeface="Trebuchet MS"/>
              <a:cs typeface="Trebuchet MS"/>
              <a:sym typeface="Trebuchet MS"/>
            </a:endParaRPr>
          </a:p>
        </p:txBody>
      </p:sp>
      <p:sp>
        <p:nvSpPr>
          <p:cNvPr id="325" name="Google Shape;325;p34"/>
          <p:cNvSpPr/>
          <p:nvPr/>
        </p:nvSpPr>
        <p:spPr>
          <a:xfrm>
            <a:off x="603100" y="1161150"/>
            <a:ext cx="6757500" cy="31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Construct a centered interaction matrix, apply truncated SVD to obtain user/item latent factors, then estimate bias shrinkage.</a:t>
            </a:r>
            <a:endParaRPr i="0" sz="913" u="none" cap="none" strike="noStrike"/>
          </a:p>
        </p:txBody>
      </p:sp>
      <p:sp>
        <p:nvSpPr>
          <p:cNvPr id="326" name="Google Shape;326;p34"/>
          <p:cNvSpPr/>
          <p:nvPr/>
        </p:nvSpPr>
        <p:spPr>
          <a:xfrm>
            <a:off x="603100" y="1760370"/>
            <a:ext cx="1411200" cy="573600"/>
          </a:xfrm>
          <a:prstGeom prst="rect">
            <a:avLst/>
          </a:prstGeom>
          <a:solidFill>
            <a:srgbClr val="FCE5CD"/>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chemeClr val="dk1"/>
                </a:solidFill>
                <a:latin typeface="Trebuchet MS"/>
                <a:ea typeface="Trebuchet MS"/>
                <a:cs typeface="Trebuchet MS"/>
                <a:sym typeface="Trebuchet MS"/>
              </a:rPr>
              <a:t>Rating matrix</a:t>
            </a:r>
            <a:endParaRPr b="1">
              <a:solidFill>
                <a:schemeClr val="dk1"/>
              </a:solidFill>
              <a:latin typeface="Trebuchet MS"/>
              <a:ea typeface="Trebuchet MS"/>
              <a:cs typeface="Trebuchet MS"/>
              <a:sym typeface="Trebuchet MS"/>
            </a:endParaRPr>
          </a:p>
        </p:txBody>
      </p:sp>
      <p:sp>
        <p:nvSpPr>
          <p:cNvPr id="327" name="Google Shape;327;p34"/>
          <p:cNvSpPr/>
          <p:nvPr/>
        </p:nvSpPr>
        <p:spPr>
          <a:xfrm>
            <a:off x="4572000" y="1760370"/>
            <a:ext cx="1411200" cy="573600"/>
          </a:xfrm>
          <a:prstGeom prst="rect">
            <a:avLst/>
          </a:prstGeom>
          <a:solidFill>
            <a:srgbClr val="F3F3F3"/>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solidFill>
                  <a:srgbClr val="0C343D"/>
                </a:solidFill>
                <a:latin typeface="Trebuchet MS"/>
                <a:ea typeface="Trebuchet MS"/>
                <a:cs typeface="Trebuchet MS"/>
                <a:sym typeface="Trebuchet MS"/>
              </a:rPr>
              <a:t>Bias shrinkage</a:t>
            </a:r>
            <a:endParaRPr>
              <a:solidFill>
                <a:srgbClr val="0C343D"/>
              </a:solidFill>
              <a:latin typeface="Trebuchet MS"/>
              <a:ea typeface="Trebuchet MS"/>
              <a:cs typeface="Trebuchet MS"/>
              <a:sym typeface="Trebuchet MS"/>
            </a:endParaRPr>
          </a:p>
          <a:p>
            <a:pPr indent="0" lvl="0" marL="0" rtl="0" algn="ctr">
              <a:spcBef>
                <a:spcPts val="0"/>
              </a:spcBef>
              <a:spcAft>
                <a:spcPts val="0"/>
              </a:spcAft>
              <a:buNone/>
            </a:pPr>
            <a:r>
              <a:rPr lang="zh-CN">
                <a:solidFill>
                  <a:srgbClr val="0C343D"/>
                </a:solidFill>
                <a:latin typeface="Trebuchet MS"/>
                <a:ea typeface="Trebuchet MS"/>
                <a:cs typeface="Trebuchet MS"/>
                <a:sym typeface="Trebuchet MS"/>
              </a:rPr>
              <a:t>lambda_b</a:t>
            </a:r>
            <a:endParaRPr>
              <a:solidFill>
                <a:srgbClr val="0C343D"/>
              </a:solidFill>
              <a:latin typeface="Trebuchet MS"/>
              <a:ea typeface="Trebuchet MS"/>
              <a:cs typeface="Trebuchet MS"/>
              <a:sym typeface="Trebuchet MS"/>
            </a:endParaRPr>
          </a:p>
        </p:txBody>
      </p:sp>
      <p:sp>
        <p:nvSpPr>
          <p:cNvPr id="328" name="Google Shape;328;p34"/>
          <p:cNvSpPr/>
          <p:nvPr/>
        </p:nvSpPr>
        <p:spPr>
          <a:xfrm>
            <a:off x="2638675" y="1760370"/>
            <a:ext cx="1411200" cy="573600"/>
          </a:xfrm>
          <a:prstGeom prst="rect">
            <a:avLst/>
          </a:prstGeom>
          <a:solidFill>
            <a:srgbClr val="F3F3F3"/>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latin typeface="Trebuchet MS"/>
                <a:ea typeface="Trebuchet MS"/>
                <a:cs typeface="Trebuchet MS"/>
                <a:sym typeface="Trebuchet MS"/>
              </a:rPr>
              <a:t>Truncated SVD</a:t>
            </a:r>
            <a:endParaRPr>
              <a:latin typeface="Trebuchet MS"/>
              <a:ea typeface="Trebuchet MS"/>
              <a:cs typeface="Trebuchet MS"/>
              <a:sym typeface="Trebuchet MS"/>
            </a:endParaRPr>
          </a:p>
          <a:p>
            <a:pPr indent="0" lvl="0" marL="0" rtl="0" algn="ctr">
              <a:spcBef>
                <a:spcPts val="0"/>
              </a:spcBef>
              <a:spcAft>
                <a:spcPts val="0"/>
              </a:spcAft>
              <a:buNone/>
            </a:pPr>
            <a:r>
              <a:rPr lang="zh-CN">
                <a:latin typeface="Trebuchet MS"/>
                <a:ea typeface="Trebuchet MS"/>
                <a:cs typeface="Trebuchet MS"/>
                <a:sym typeface="Trebuchet MS"/>
              </a:rPr>
              <a:t>k = 48</a:t>
            </a:r>
            <a:endParaRPr>
              <a:latin typeface="Trebuchet MS"/>
              <a:ea typeface="Trebuchet MS"/>
              <a:cs typeface="Trebuchet MS"/>
              <a:sym typeface="Trebuchet MS"/>
            </a:endParaRPr>
          </a:p>
        </p:txBody>
      </p:sp>
      <p:sp>
        <p:nvSpPr>
          <p:cNvPr id="329" name="Google Shape;329;p34"/>
          <p:cNvSpPr/>
          <p:nvPr/>
        </p:nvSpPr>
        <p:spPr>
          <a:xfrm>
            <a:off x="6448700" y="1760370"/>
            <a:ext cx="1717800" cy="573600"/>
          </a:xfrm>
          <a:prstGeom prst="rect">
            <a:avLst/>
          </a:prstGeom>
          <a:solidFill>
            <a:srgbClr val="FCE5CD"/>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latin typeface="Trebuchet MS"/>
                <a:ea typeface="Trebuchet MS"/>
                <a:cs typeface="Trebuchet MS"/>
                <a:sym typeface="Trebuchet MS"/>
              </a:rPr>
              <a:t>F</a:t>
            </a:r>
            <a:r>
              <a:rPr lang="zh-CN">
                <a:latin typeface="Trebuchet MS"/>
                <a:ea typeface="Trebuchet MS"/>
                <a:cs typeface="Trebuchet MS"/>
                <a:sym typeface="Trebuchet MS"/>
              </a:rPr>
              <a:t>eature phi(u,i)</a:t>
            </a:r>
            <a:endParaRPr>
              <a:latin typeface="Trebuchet MS"/>
              <a:ea typeface="Trebuchet MS"/>
              <a:cs typeface="Trebuchet MS"/>
              <a:sym typeface="Trebuchet MS"/>
            </a:endParaRPr>
          </a:p>
          <a:p>
            <a:pPr indent="0" lvl="0" marL="0" rtl="0" algn="ctr">
              <a:spcBef>
                <a:spcPts val="0"/>
              </a:spcBef>
              <a:spcAft>
                <a:spcPts val="0"/>
              </a:spcAft>
              <a:buNone/>
            </a:pPr>
            <a:r>
              <a:rPr lang="zh-CN">
                <a:latin typeface="Trebuchet MS"/>
                <a:ea typeface="Trebuchet MS"/>
                <a:cs typeface="Trebuchet MS"/>
                <a:sym typeface="Trebuchet MS"/>
              </a:rPr>
              <a:t>p_u * q_i + biases</a:t>
            </a:r>
            <a:endParaRPr>
              <a:latin typeface="Trebuchet MS"/>
              <a:ea typeface="Trebuchet MS"/>
              <a:cs typeface="Trebuchet MS"/>
              <a:sym typeface="Trebuchet MS"/>
            </a:endParaRPr>
          </a:p>
        </p:txBody>
      </p:sp>
      <p:cxnSp>
        <p:nvCxnSpPr>
          <p:cNvPr id="330" name="Google Shape;330;p34"/>
          <p:cNvCxnSpPr>
            <a:stCxn id="326" idx="3"/>
            <a:endCxn id="328" idx="1"/>
          </p:cNvCxnSpPr>
          <p:nvPr/>
        </p:nvCxnSpPr>
        <p:spPr>
          <a:xfrm>
            <a:off x="2014300" y="2047170"/>
            <a:ext cx="624300" cy="0"/>
          </a:xfrm>
          <a:prstGeom prst="straightConnector1">
            <a:avLst/>
          </a:prstGeom>
          <a:noFill/>
          <a:ln cap="flat" cmpd="sng" w="9525">
            <a:solidFill>
              <a:schemeClr val="dk2"/>
            </a:solidFill>
            <a:prstDash val="solid"/>
            <a:round/>
            <a:headEnd len="med" w="med" type="none"/>
            <a:tailEnd len="med" w="med" type="stealth"/>
          </a:ln>
        </p:spPr>
      </p:cxnSp>
      <p:cxnSp>
        <p:nvCxnSpPr>
          <p:cNvPr id="331" name="Google Shape;331;p34"/>
          <p:cNvCxnSpPr>
            <a:stCxn id="328" idx="3"/>
            <a:endCxn id="327" idx="1"/>
          </p:cNvCxnSpPr>
          <p:nvPr/>
        </p:nvCxnSpPr>
        <p:spPr>
          <a:xfrm>
            <a:off x="4049875" y="2047170"/>
            <a:ext cx="522000" cy="0"/>
          </a:xfrm>
          <a:prstGeom prst="straightConnector1">
            <a:avLst/>
          </a:prstGeom>
          <a:noFill/>
          <a:ln cap="flat" cmpd="sng" w="9525">
            <a:solidFill>
              <a:schemeClr val="dk2"/>
            </a:solidFill>
            <a:prstDash val="solid"/>
            <a:round/>
            <a:headEnd len="med" w="med" type="none"/>
            <a:tailEnd len="med" w="med" type="stealth"/>
          </a:ln>
        </p:spPr>
      </p:cxnSp>
      <p:cxnSp>
        <p:nvCxnSpPr>
          <p:cNvPr id="332" name="Google Shape;332;p34"/>
          <p:cNvCxnSpPr>
            <a:stCxn id="327" idx="3"/>
            <a:endCxn id="329" idx="1"/>
          </p:cNvCxnSpPr>
          <p:nvPr/>
        </p:nvCxnSpPr>
        <p:spPr>
          <a:xfrm>
            <a:off x="5983200" y="2047170"/>
            <a:ext cx="465600" cy="0"/>
          </a:xfrm>
          <a:prstGeom prst="straightConnector1">
            <a:avLst/>
          </a:prstGeom>
          <a:noFill/>
          <a:ln cap="flat" cmpd="sng" w="9525">
            <a:solidFill>
              <a:schemeClr val="dk2"/>
            </a:solidFill>
            <a:prstDash val="solid"/>
            <a:round/>
            <a:headEnd len="med" w="med" type="none"/>
            <a:tailEnd len="med" w="med" type="stealth"/>
          </a:ln>
        </p:spPr>
      </p:cxnSp>
      <p:sp>
        <p:nvSpPr>
          <p:cNvPr id="333" name="Google Shape;333;p34"/>
          <p:cNvSpPr/>
          <p:nvPr/>
        </p:nvSpPr>
        <p:spPr>
          <a:xfrm>
            <a:off x="1135975" y="2742806"/>
            <a:ext cx="2009700" cy="1127100"/>
          </a:xfrm>
          <a:prstGeom prst="rect">
            <a:avLst/>
          </a:prstGeom>
          <a:solidFill>
            <a:schemeClr val="lt1"/>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CN"/>
              <a:t>Ridge </a:t>
            </a:r>
            <a:endParaRPr/>
          </a:p>
          <a:p>
            <a:pPr indent="0" lvl="0" marL="0" rtl="0" algn="l">
              <a:spcBef>
                <a:spcPts val="0"/>
              </a:spcBef>
              <a:spcAft>
                <a:spcPts val="0"/>
              </a:spcAft>
              <a:buNone/>
            </a:pPr>
            <a:r>
              <a:rPr lang="zh-CN" sz="1100"/>
              <a:t>(L2 calibration, α = 0.1)</a:t>
            </a:r>
            <a:endParaRPr sz="1100"/>
          </a:p>
          <a:p>
            <a:pPr indent="0" lvl="0" marL="0" rtl="0" algn="l">
              <a:spcBef>
                <a:spcPts val="1000"/>
              </a:spcBef>
              <a:spcAft>
                <a:spcPts val="0"/>
              </a:spcAft>
              <a:buNone/>
            </a:pPr>
            <a:r>
              <a:rPr lang="zh-CN" sz="1000">
                <a:solidFill>
                  <a:srgbClr val="434343"/>
                </a:solidFill>
              </a:rPr>
              <a:t>Strong linear head with stable ranking performance</a:t>
            </a:r>
            <a:endParaRPr sz="1000">
              <a:solidFill>
                <a:srgbClr val="434343"/>
              </a:solidFill>
            </a:endParaRPr>
          </a:p>
        </p:txBody>
      </p:sp>
      <p:sp>
        <p:nvSpPr>
          <p:cNvPr id="334" name="Google Shape;334;p34"/>
          <p:cNvSpPr/>
          <p:nvPr/>
        </p:nvSpPr>
        <p:spPr>
          <a:xfrm>
            <a:off x="3336900" y="2742806"/>
            <a:ext cx="2192700" cy="1127100"/>
          </a:xfrm>
          <a:prstGeom prst="rect">
            <a:avLst/>
          </a:prstGeom>
          <a:solidFill>
            <a:schemeClr val="lt1"/>
          </a:solidFill>
          <a:ln cap="flat" cmpd="sng" w="9525">
            <a:solidFill>
              <a:srgbClr val="B45F0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CN"/>
              <a:t>Lasso </a:t>
            </a:r>
            <a:endParaRPr/>
          </a:p>
          <a:p>
            <a:pPr indent="0" lvl="0" marL="0" rtl="0" algn="l">
              <a:spcBef>
                <a:spcPts val="0"/>
              </a:spcBef>
              <a:spcAft>
                <a:spcPts val="0"/>
              </a:spcAft>
              <a:buNone/>
            </a:pPr>
            <a:r>
              <a:rPr lang="zh-CN" sz="1100"/>
              <a:t>(L1 calibration, max_iter = 2000)</a:t>
            </a:r>
            <a:endParaRPr sz="1100"/>
          </a:p>
          <a:p>
            <a:pPr indent="0" lvl="0" marL="0" rtl="0" algn="l">
              <a:spcBef>
                <a:spcPts val="1000"/>
              </a:spcBef>
              <a:spcAft>
                <a:spcPts val="0"/>
              </a:spcAft>
              <a:buNone/>
            </a:pPr>
            <a:r>
              <a:rPr lang="zh-CN" sz="1000">
                <a:solidFill>
                  <a:srgbClr val="464646"/>
                </a:solidFill>
              </a:rPr>
              <a:t>Sparse solution, but weaker ranking performance</a:t>
            </a:r>
            <a:endParaRPr sz="1000">
              <a:solidFill>
                <a:srgbClr val="464646"/>
              </a:solidFill>
            </a:endParaRPr>
          </a:p>
        </p:txBody>
      </p:sp>
      <p:sp>
        <p:nvSpPr>
          <p:cNvPr id="335" name="Google Shape;335;p34"/>
          <p:cNvSpPr/>
          <p:nvPr/>
        </p:nvSpPr>
        <p:spPr>
          <a:xfrm>
            <a:off x="5769425" y="2742806"/>
            <a:ext cx="2238600" cy="1127100"/>
          </a:xfrm>
          <a:prstGeom prst="rect">
            <a:avLst/>
          </a:prstGeom>
          <a:solidFill>
            <a:schemeClr val="lt1"/>
          </a:solidFill>
          <a:ln cap="flat" cmpd="sng" w="9525">
            <a:solidFill>
              <a:srgbClr val="351C7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CN"/>
              <a:t>KNN-style </a:t>
            </a:r>
            <a:endParaRPr/>
          </a:p>
          <a:p>
            <a:pPr indent="0" lvl="0" marL="0" rtl="0" algn="l">
              <a:spcBef>
                <a:spcPts val="0"/>
              </a:spcBef>
              <a:spcAft>
                <a:spcPts val="0"/>
              </a:spcAft>
              <a:buNone/>
            </a:pPr>
            <a:r>
              <a:rPr lang="zh-CN" sz="1100"/>
              <a:t>(mean-normalized item vectors, cosine-like score)</a:t>
            </a:r>
            <a:endParaRPr sz="1100"/>
          </a:p>
          <a:p>
            <a:pPr indent="0" lvl="0" marL="0" rtl="0" algn="l">
              <a:spcBef>
                <a:spcPts val="1000"/>
              </a:spcBef>
              <a:spcAft>
                <a:spcPts val="0"/>
              </a:spcAft>
              <a:buNone/>
            </a:pPr>
            <a:r>
              <a:rPr lang="zh-CN" sz="1000">
                <a:solidFill>
                  <a:srgbClr val="434343"/>
                </a:solidFill>
              </a:rPr>
              <a:t>Highly interpretable, but lacks proper calibration</a:t>
            </a:r>
            <a:endParaRPr sz="1000">
              <a:solidFill>
                <a:srgbClr val="434343"/>
              </a:solidFill>
            </a:endParaRPr>
          </a:p>
        </p:txBody>
      </p:sp>
      <p:sp>
        <p:nvSpPr>
          <p:cNvPr id="336" name="Google Shape;336;p34"/>
          <p:cNvSpPr/>
          <p:nvPr/>
        </p:nvSpPr>
        <p:spPr>
          <a:xfrm>
            <a:off x="603113" y="4272025"/>
            <a:ext cx="34347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216">
                <a:solidFill>
                  <a:srgbClr val="030303"/>
                </a:solidFill>
                <a:latin typeface="Trebuchet MS"/>
                <a:ea typeface="Trebuchet MS"/>
                <a:cs typeface="Trebuchet MS"/>
                <a:sym typeface="Trebuchet MS"/>
              </a:rPr>
              <a:t>Design Positioning</a:t>
            </a:r>
            <a:endParaRPr sz="1216">
              <a:solidFill>
                <a:srgbClr val="030303"/>
              </a:solidFill>
              <a:latin typeface="Trebuchet MS"/>
              <a:ea typeface="Trebuchet MS"/>
              <a:cs typeface="Trebuchet MS"/>
              <a:sym typeface="Trebuchet MS"/>
            </a:endParaRPr>
          </a:p>
        </p:txBody>
      </p:sp>
      <p:sp>
        <p:nvSpPr>
          <p:cNvPr id="337" name="Google Shape;337;p34"/>
          <p:cNvSpPr/>
          <p:nvPr/>
        </p:nvSpPr>
        <p:spPr>
          <a:xfrm>
            <a:off x="603100" y="4545075"/>
            <a:ext cx="7693500" cy="20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SVD captures collaborative structure, while the head determines scoring calibration or geometric interpretation.</a:t>
            </a:r>
            <a:endParaRPr sz="913">
              <a:solidFill>
                <a:srgbClr val="46464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grpSp>
        <p:nvGrpSpPr>
          <p:cNvPr id="342" name="Google Shape;342;p35"/>
          <p:cNvGrpSpPr/>
          <p:nvPr/>
        </p:nvGrpSpPr>
        <p:grpSpPr>
          <a:xfrm>
            <a:off x="0" y="0"/>
            <a:ext cx="9144150" cy="617100"/>
            <a:chOff x="0" y="0"/>
            <a:chExt cx="9144150" cy="617100"/>
          </a:xfrm>
        </p:grpSpPr>
        <p:sp>
          <p:nvSpPr>
            <p:cNvPr id="343" name="Google Shape;343;p35"/>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4" name="Google Shape;344;p35"/>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45" name="Google Shape;345;p35"/>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SVD </a:t>
            </a:r>
            <a:r>
              <a:rPr lang="zh-CN" sz="2500">
                <a:solidFill>
                  <a:schemeClr val="lt1"/>
                </a:solidFill>
                <a:latin typeface="Trebuchet MS"/>
                <a:ea typeface="Trebuchet MS"/>
                <a:cs typeface="Trebuchet MS"/>
                <a:sym typeface="Trebuchet MS"/>
              </a:rPr>
              <a:t>ANALYSIS</a:t>
            </a:r>
            <a:endParaRPr sz="2500">
              <a:solidFill>
                <a:schemeClr val="lt1"/>
              </a:solidFill>
              <a:latin typeface="Trebuchet MS"/>
              <a:ea typeface="Trebuchet MS"/>
              <a:cs typeface="Trebuchet MS"/>
              <a:sym typeface="Trebuchet MS"/>
            </a:endParaRPr>
          </a:p>
        </p:txBody>
      </p:sp>
      <p:sp>
        <p:nvSpPr>
          <p:cNvPr id="346" name="Google Shape;346;p35"/>
          <p:cNvSpPr txBox="1"/>
          <p:nvPr/>
        </p:nvSpPr>
        <p:spPr>
          <a:xfrm>
            <a:off x="470425" y="817675"/>
            <a:ext cx="515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latin typeface="Trebuchet MS"/>
                <a:ea typeface="Trebuchet MS"/>
                <a:cs typeface="Trebuchet MS"/>
                <a:sym typeface="Trebuchet MS"/>
              </a:rPr>
              <a:t>Ridge Approaches Deep, Lasso/KNN Expose Head Differences</a:t>
            </a:r>
            <a:endParaRPr>
              <a:latin typeface="Trebuchet MS"/>
              <a:ea typeface="Trebuchet MS"/>
              <a:cs typeface="Trebuchet MS"/>
              <a:sym typeface="Trebuchet MS"/>
            </a:endParaRPr>
          </a:p>
        </p:txBody>
      </p:sp>
      <p:graphicFrame>
        <p:nvGraphicFramePr>
          <p:cNvPr id="347" name="Google Shape;347;p35"/>
          <p:cNvGraphicFramePr/>
          <p:nvPr/>
        </p:nvGraphicFramePr>
        <p:xfrm>
          <a:off x="545225" y="1394813"/>
          <a:ext cx="3000000" cy="3000000"/>
        </p:xfrm>
        <a:graphic>
          <a:graphicData uri="http://schemas.openxmlformats.org/drawingml/2006/table">
            <a:tbl>
              <a:tblPr>
                <a:noFill/>
                <a:tableStyleId>{04352D28-8A1F-403E-BDEB-144B55623AA5}</a:tableStyleId>
              </a:tblPr>
              <a:tblGrid>
                <a:gridCol w="597425"/>
                <a:gridCol w="688350"/>
                <a:gridCol w="688350"/>
                <a:gridCol w="688350"/>
                <a:gridCol w="688350"/>
                <a:gridCol w="1493575"/>
              </a:tblGrid>
              <a:tr h="209550">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Head</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MAE</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RMSE</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P@10</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NDCG</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Interpretation</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209550">
                <a:tc>
                  <a:txBody>
                    <a:bodyPr/>
                    <a:lstStyle/>
                    <a:p>
                      <a:pPr indent="0" lvl="0" marL="0" rtl="0" algn="l">
                        <a:spcBef>
                          <a:spcPts val="0"/>
                        </a:spcBef>
                        <a:spcAft>
                          <a:spcPts val="0"/>
                        </a:spcAft>
                        <a:buNone/>
                      </a:pPr>
                      <a:r>
                        <a:rPr lang="zh-CN" sz="1000"/>
                        <a:t>Ridge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0.6286</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0.8312</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0.0520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0.0671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zh-CN" sz="1000"/>
                        <a:t>S</a:t>
                      </a:r>
                      <a:r>
                        <a:rPr b="1" lang="zh-CN" sz="1000"/>
                        <a:t>trong</a:t>
                      </a:r>
                      <a:endParaRPr b="1"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lang="zh-CN" sz="1000"/>
                        <a:t>Lasso</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0.6714</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0.8747</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0.0152</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0.0177</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zh-CN" sz="1000"/>
                        <a:t>T</a:t>
                      </a:r>
                      <a:r>
                        <a:rPr b="1" lang="zh-CN" sz="1000"/>
                        <a:t>oo sparse</a:t>
                      </a:r>
                      <a:endParaRPr b="1"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lang="zh-CN" sz="1000"/>
                        <a:t>KNN</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0.6810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0.9058</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0.0159</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000"/>
                        <a:t>0.0230</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zh-CN" sz="1000"/>
                        <a:t>U</a:t>
                      </a:r>
                      <a:r>
                        <a:rPr b="1" lang="zh-CN" sz="1000"/>
                        <a:t>ncalibrated</a:t>
                      </a:r>
                      <a:endParaRPr b="1"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48" name="Google Shape;348;p35"/>
          <p:cNvSpPr/>
          <p:nvPr/>
        </p:nvSpPr>
        <p:spPr>
          <a:xfrm>
            <a:off x="605130" y="3359270"/>
            <a:ext cx="18147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chemeClr val="dk1"/>
                </a:solidFill>
                <a:latin typeface="Trebuchet MS"/>
                <a:ea typeface="Trebuchet MS"/>
                <a:cs typeface="Trebuchet MS"/>
                <a:sym typeface="Trebuchet MS"/>
              </a:rPr>
              <a:t>Why Ridge Works?</a:t>
            </a:r>
            <a:endParaRPr sz="1119">
              <a:solidFill>
                <a:schemeClr val="dk1"/>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49" name="Google Shape;349;p35"/>
          <p:cNvSpPr/>
          <p:nvPr/>
        </p:nvSpPr>
        <p:spPr>
          <a:xfrm>
            <a:off x="605138" y="3633342"/>
            <a:ext cx="2507700" cy="6156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L2 calibration re-adjusts the SVD latent product and bias terms, suppressing SVD noise while preserving sufficient score diversity.</a:t>
            </a:r>
            <a:endParaRPr sz="895">
              <a:solidFill>
                <a:srgbClr val="464646"/>
              </a:solidFill>
            </a:endParaRPr>
          </a:p>
        </p:txBody>
      </p:sp>
      <p:sp>
        <p:nvSpPr>
          <p:cNvPr id="350" name="Google Shape;350;p35"/>
          <p:cNvSpPr/>
          <p:nvPr/>
        </p:nvSpPr>
        <p:spPr>
          <a:xfrm>
            <a:off x="3350425" y="3359275"/>
            <a:ext cx="1935600" cy="2301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030303"/>
                </a:solidFill>
                <a:latin typeface="Trebuchet MS"/>
                <a:ea typeface="Trebuchet MS"/>
                <a:cs typeface="Trebuchet MS"/>
                <a:sym typeface="Trebuchet MS"/>
              </a:rPr>
              <a:t>Why Lasso Underperforms?</a:t>
            </a:r>
            <a:endParaRPr sz="1119">
              <a:solidFill>
                <a:srgbClr val="030303"/>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51" name="Google Shape;351;p35"/>
          <p:cNvSpPr/>
          <p:nvPr/>
        </p:nvSpPr>
        <p:spPr>
          <a:xfrm>
            <a:off x="3350413" y="3633292"/>
            <a:ext cx="2276400" cy="780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L1 sparsity reduces calibration weight diversity, leading to acceptable rating error but significantly degraded top-N ranking.</a:t>
            </a:r>
            <a:endParaRPr i="0" sz="895" u="none" cap="none" strike="noStrike"/>
          </a:p>
        </p:txBody>
      </p:sp>
      <p:sp>
        <p:nvSpPr>
          <p:cNvPr id="352" name="Google Shape;352;p35"/>
          <p:cNvSpPr/>
          <p:nvPr/>
        </p:nvSpPr>
        <p:spPr>
          <a:xfrm>
            <a:off x="6066413" y="3359255"/>
            <a:ext cx="1983900" cy="2301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030303"/>
                </a:solidFill>
                <a:latin typeface="Trebuchet MS"/>
                <a:ea typeface="Trebuchet MS"/>
                <a:cs typeface="Trebuchet MS"/>
                <a:sym typeface="Trebuchet MS"/>
              </a:rPr>
              <a:t>Why KNN is Meaningful?</a:t>
            </a:r>
            <a:endParaRPr sz="1119">
              <a:solidFill>
                <a:srgbClr val="030303"/>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53" name="Google Shape;353;p35"/>
          <p:cNvSpPr/>
          <p:nvPr/>
        </p:nvSpPr>
        <p:spPr>
          <a:xfrm>
            <a:off x="6066413" y="3633267"/>
            <a:ext cx="2472600" cy="8553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User vectors represent the centroid of rated item factors, essentially a latent-space average. It is highly interpretable, but lacks regression-based calibration.</a:t>
            </a:r>
            <a:endParaRPr sz="895">
              <a:solidFill>
                <a:srgbClr val="464646"/>
              </a:solidFill>
            </a:endParaRPr>
          </a:p>
        </p:txBody>
      </p:sp>
      <p:pic>
        <p:nvPicPr>
          <p:cNvPr id="354" name="Google Shape;354;p35" title="metrics_scatter_mae_ndcg.png"/>
          <p:cNvPicPr preferRelativeResize="0"/>
          <p:nvPr/>
        </p:nvPicPr>
        <p:blipFill>
          <a:blip r:embed="rId3">
            <a:alphaModFix/>
          </a:blip>
          <a:stretch>
            <a:fillRect/>
          </a:stretch>
        </p:blipFill>
        <p:spPr>
          <a:xfrm>
            <a:off x="5779225" y="769500"/>
            <a:ext cx="2990577" cy="22628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grpSp>
        <p:nvGrpSpPr>
          <p:cNvPr id="359" name="Google Shape;359;p36"/>
          <p:cNvGrpSpPr/>
          <p:nvPr/>
        </p:nvGrpSpPr>
        <p:grpSpPr>
          <a:xfrm>
            <a:off x="0" y="0"/>
            <a:ext cx="9144150" cy="617100"/>
            <a:chOff x="0" y="0"/>
            <a:chExt cx="9144150" cy="617100"/>
          </a:xfrm>
        </p:grpSpPr>
        <p:sp>
          <p:nvSpPr>
            <p:cNvPr id="360" name="Google Shape;360;p36"/>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61" name="Google Shape;361;p36"/>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62" name="Google Shape;362;p36"/>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Alternating Least Squares</a:t>
            </a:r>
            <a:endParaRPr sz="2500">
              <a:solidFill>
                <a:schemeClr val="lt1"/>
              </a:solidFill>
              <a:latin typeface="Trebuchet MS"/>
              <a:ea typeface="Trebuchet MS"/>
              <a:cs typeface="Trebuchet MS"/>
              <a:sym typeface="Trebuchet MS"/>
            </a:endParaRPr>
          </a:p>
        </p:txBody>
      </p:sp>
      <p:pic>
        <p:nvPicPr>
          <p:cNvPr id="363" name="Google Shape;363;p36"/>
          <p:cNvPicPr preferRelativeResize="0"/>
          <p:nvPr/>
        </p:nvPicPr>
        <p:blipFill>
          <a:blip r:embed="rId3">
            <a:alphaModFix/>
          </a:blip>
          <a:stretch>
            <a:fillRect/>
          </a:stretch>
        </p:blipFill>
        <p:spPr>
          <a:xfrm>
            <a:off x="603088" y="1223325"/>
            <a:ext cx="2173050" cy="282450"/>
          </a:xfrm>
          <a:prstGeom prst="rect">
            <a:avLst/>
          </a:prstGeom>
          <a:noFill/>
          <a:ln>
            <a:noFill/>
          </a:ln>
        </p:spPr>
      </p:pic>
      <p:sp>
        <p:nvSpPr>
          <p:cNvPr id="364" name="Google Shape;364;p36"/>
          <p:cNvSpPr/>
          <p:nvPr/>
        </p:nvSpPr>
        <p:spPr>
          <a:xfrm>
            <a:off x="603100" y="1825200"/>
            <a:ext cx="1411200" cy="573600"/>
          </a:xfrm>
          <a:prstGeom prst="rect">
            <a:avLst/>
          </a:prstGeom>
          <a:solidFill>
            <a:srgbClr val="D9D2E9"/>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51C75"/>
                </a:solidFill>
                <a:latin typeface="Trebuchet MS"/>
                <a:ea typeface="Trebuchet MS"/>
                <a:cs typeface="Trebuchet MS"/>
                <a:sym typeface="Trebuchet MS"/>
              </a:rPr>
              <a:t>Fix Q</a:t>
            </a:r>
            <a:endParaRPr b="1">
              <a:solidFill>
                <a:srgbClr val="351C75"/>
              </a:solidFill>
              <a:latin typeface="Trebuchet MS"/>
              <a:ea typeface="Trebuchet MS"/>
              <a:cs typeface="Trebuchet MS"/>
              <a:sym typeface="Trebuchet MS"/>
            </a:endParaRPr>
          </a:p>
        </p:txBody>
      </p:sp>
      <p:sp>
        <p:nvSpPr>
          <p:cNvPr id="365" name="Google Shape;365;p36"/>
          <p:cNvSpPr/>
          <p:nvPr/>
        </p:nvSpPr>
        <p:spPr>
          <a:xfrm>
            <a:off x="4572000" y="1825200"/>
            <a:ext cx="1411200" cy="573600"/>
          </a:xfrm>
          <a:prstGeom prst="rect">
            <a:avLst/>
          </a:prstGeom>
          <a:solidFill>
            <a:srgbClr val="D9D2E9"/>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351C75"/>
                </a:solidFill>
                <a:latin typeface="Trebuchet MS"/>
                <a:ea typeface="Trebuchet MS"/>
                <a:cs typeface="Trebuchet MS"/>
                <a:sym typeface="Trebuchet MS"/>
              </a:rPr>
              <a:t>Fix P</a:t>
            </a:r>
            <a:endParaRPr b="1">
              <a:solidFill>
                <a:srgbClr val="351C75"/>
              </a:solidFill>
              <a:latin typeface="Trebuchet MS"/>
              <a:ea typeface="Trebuchet MS"/>
              <a:cs typeface="Trebuchet MS"/>
              <a:sym typeface="Trebuchet MS"/>
            </a:endParaRPr>
          </a:p>
        </p:txBody>
      </p:sp>
      <p:sp>
        <p:nvSpPr>
          <p:cNvPr id="366" name="Google Shape;366;p36"/>
          <p:cNvSpPr/>
          <p:nvPr/>
        </p:nvSpPr>
        <p:spPr>
          <a:xfrm>
            <a:off x="2638675" y="1825200"/>
            <a:ext cx="1411200" cy="573600"/>
          </a:xfrm>
          <a:prstGeom prst="rect">
            <a:avLst/>
          </a:prstGeom>
          <a:solidFill>
            <a:srgbClr val="F3F3F3"/>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t>Solve all user P, b_u</a:t>
            </a:r>
            <a:endParaRPr/>
          </a:p>
        </p:txBody>
      </p:sp>
      <p:sp>
        <p:nvSpPr>
          <p:cNvPr id="367" name="Google Shape;367;p36"/>
          <p:cNvSpPr/>
          <p:nvPr/>
        </p:nvSpPr>
        <p:spPr>
          <a:xfrm>
            <a:off x="6448700" y="1825200"/>
            <a:ext cx="1717800" cy="573600"/>
          </a:xfrm>
          <a:prstGeom prst="rect">
            <a:avLst/>
          </a:prstGeom>
          <a:solidFill>
            <a:srgbClr val="F3F3F3"/>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t>Solve all </a:t>
            </a:r>
            <a:r>
              <a:rPr lang="zh-CN"/>
              <a:t>item </a:t>
            </a:r>
            <a:endParaRPr/>
          </a:p>
          <a:p>
            <a:pPr indent="0" lvl="0" marL="0" rtl="0" algn="ctr">
              <a:spcBef>
                <a:spcPts val="0"/>
              </a:spcBef>
              <a:spcAft>
                <a:spcPts val="0"/>
              </a:spcAft>
              <a:buNone/>
            </a:pPr>
            <a:r>
              <a:rPr lang="zh-CN"/>
              <a:t>Q, b_i</a:t>
            </a:r>
            <a:endParaRPr/>
          </a:p>
        </p:txBody>
      </p:sp>
      <p:cxnSp>
        <p:nvCxnSpPr>
          <p:cNvPr id="368" name="Google Shape;368;p36"/>
          <p:cNvCxnSpPr>
            <a:stCxn id="364" idx="3"/>
            <a:endCxn id="366" idx="1"/>
          </p:cNvCxnSpPr>
          <p:nvPr/>
        </p:nvCxnSpPr>
        <p:spPr>
          <a:xfrm>
            <a:off x="2014300" y="2112000"/>
            <a:ext cx="624300" cy="0"/>
          </a:xfrm>
          <a:prstGeom prst="straightConnector1">
            <a:avLst/>
          </a:prstGeom>
          <a:noFill/>
          <a:ln cap="flat" cmpd="sng" w="9525">
            <a:solidFill>
              <a:schemeClr val="dk2"/>
            </a:solidFill>
            <a:prstDash val="solid"/>
            <a:round/>
            <a:headEnd len="med" w="med" type="none"/>
            <a:tailEnd len="med" w="med" type="stealth"/>
          </a:ln>
        </p:spPr>
      </p:cxnSp>
      <p:cxnSp>
        <p:nvCxnSpPr>
          <p:cNvPr id="369" name="Google Shape;369;p36"/>
          <p:cNvCxnSpPr>
            <a:stCxn id="366" idx="3"/>
            <a:endCxn id="365" idx="1"/>
          </p:cNvCxnSpPr>
          <p:nvPr/>
        </p:nvCxnSpPr>
        <p:spPr>
          <a:xfrm>
            <a:off x="4049875" y="2112000"/>
            <a:ext cx="522000" cy="0"/>
          </a:xfrm>
          <a:prstGeom prst="straightConnector1">
            <a:avLst/>
          </a:prstGeom>
          <a:noFill/>
          <a:ln cap="flat" cmpd="sng" w="9525">
            <a:solidFill>
              <a:schemeClr val="dk2"/>
            </a:solidFill>
            <a:prstDash val="solid"/>
            <a:round/>
            <a:headEnd len="med" w="med" type="none"/>
            <a:tailEnd len="med" w="med" type="stealth"/>
          </a:ln>
        </p:spPr>
      </p:cxnSp>
      <p:cxnSp>
        <p:nvCxnSpPr>
          <p:cNvPr id="370" name="Google Shape;370;p36"/>
          <p:cNvCxnSpPr>
            <a:stCxn id="365" idx="3"/>
            <a:endCxn id="367" idx="1"/>
          </p:cNvCxnSpPr>
          <p:nvPr/>
        </p:nvCxnSpPr>
        <p:spPr>
          <a:xfrm>
            <a:off x="5983200" y="2112000"/>
            <a:ext cx="465600" cy="0"/>
          </a:xfrm>
          <a:prstGeom prst="straightConnector1">
            <a:avLst/>
          </a:prstGeom>
          <a:noFill/>
          <a:ln cap="flat" cmpd="sng" w="9525">
            <a:solidFill>
              <a:schemeClr val="dk2"/>
            </a:solidFill>
            <a:prstDash val="solid"/>
            <a:round/>
            <a:headEnd len="med" w="med" type="none"/>
            <a:tailEnd len="med" w="med" type="stealth"/>
          </a:ln>
        </p:spPr>
      </p:cxnSp>
      <p:sp>
        <p:nvSpPr>
          <p:cNvPr id="371" name="Google Shape;371;p36"/>
          <p:cNvSpPr/>
          <p:nvPr/>
        </p:nvSpPr>
        <p:spPr>
          <a:xfrm>
            <a:off x="5800850" y="916787"/>
            <a:ext cx="22083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Hyperparameters</a:t>
            </a:r>
            <a:endParaRPr i="0" sz="1116" u="none" cap="none" strike="noStrike">
              <a:latin typeface="Trebuchet MS"/>
              <a:ea typeface="Trebuchet MS"/>
              <a:cs typeface="Trebuchet MS"/>
              <a:sym typeface="Trebuchet MS"/>
            </a:endParaRPr>
          </a:p>
        </p:txBody>
      </p:sp>
      <p:sp>
        <p:nvSpPr>
          <p:cNvPr id="372" name="Google Shape;372;p36"/>
          <p:cNvSpPr/>
          <p:nvPr/>
        </p:nvSpPr>
        <p:spPr>
          <a:xfrm>
            <a:off x="5800850" y="1189825"/>
            <a:ext cx="2659500" cy="41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k=96, reg =0.16, bias_reg =6.0, epochs =40, validation split =10%, early stopping patience = 6</a:t>
            </a:r>
            <a:endParaRPr i="0" sz="913" u="none" cap="none" strike="noStrike"/>
          </a:p>
        </p:txBody>
      </p:sp>
      <p:sp>
        <p:nvSpPr>
          <p:cNvPr id="373" name="Google Shape;373;p36"/>
          <p:cNvSpPr/>
          <p:nvPr/>
        </p:nvSpPr>
        <p:spPr>
          <a:xfrm>
            <a:off x="6012852" y="2813575"/>
            <a:ext cx="19404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Challenges </a:t>
            </a:r>
            <a:endParaRPr sz="1116">
              <a:solidFill>
                <a:srgbClr val="030303"/>
              </a:solidFill>
              <a:latin typeface="Trebuchet MS"/>
              <a:ea typeface="Trebuchet MS"/>
              <a:cs typeface="Trebuchet MS"/>
              <a:sym typeface="Trebuchet MS"/>
            </a:endParaRPr>
          </a:p>
        </p:txBody>
      </p:sp>
      <p:sp>
        <p:nvSpPr>
          <p:cNvPr id="374" name="Google Shape;374;p36"/>
          <p:cNvSpPr/>
          <p:nvPr/>
        </p:nvSpPr>
        <p:spPr>
          <a:xfrm>
            <a:off x="6012850" y="3086600"/>
            <a:ext cx="2659500" cy="81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Ranking performance is sensitive to the interaction of rank, regularization, and bias shrinkage under a long-tail sparse structure; current preset does not achieve strong ranking quality.</a:t>
            </a:r>
            <a:endParaRPr i="0" sz="913" u="none" cap="none" strike="noStrike"/>
          </a:p>
        </p:txBody>
      </p:sp>
      <p:sp>
        <p:nvSpPr>
          <p:cNvPr id="375" name="Google Shape;375;p36"/>
          <p:cNvSpPr/>
          <p:nvPr/>
        </p:nvSpPr>
        <p:spPr>
          <a:xfrm>
            <a:off x="3448594" y="2813575"/>
            <a:ext cx="21729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Theoretical Advantages</a:t>
            </a:r>
            <a:endParaRPr sz="1116">
              <a:solidFill>
                <a:srgbClr val="030303"/>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030303"/>
              </a:buClr>
              <a:buSzPts val="1115"/>
              <a:buFont typeface="DM Sans"/>
              <a:buNone/>
            </a:pPr>
            <a:r>
              <a:t/>
            </a:r>
            <a:endParaRPr sz="1116">
              <a:solidFill>
                <a:srgbClr val="030303"/>
              </a:solidFill>
              <a:latin typeface="Trebuchet MS"/>
              <a:ea typeface="Trebuchet MS"/>
              <a:cs typeface="Trebuchet MS"/>
              <a:sym typeface="Trebuchet MS"/>
            </a:endParaRPr>
          </a:p>
        </p:txBody>
      </p:sp>
      <p:sp>
        <p:nvSpPr>
          <p:cNvPr id="376" name="Google Shape;376;p36"/>
          <p:cNvSpPr/>
          <p:nvPr/>
        </p:nvSpPr>
        <p:spPr>
          <a:xfrm>
            <a:off x="3448625" y="3086600"/>
            <a:ext cx="2276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Each block update is a closed-form least-squares solution; well-suited for sparse matrices and a strong scalable baseline in classical collaborative filtering.</a:t>
            </a:r>
            <a:endParaRPr i="0" sz="913" u="none" cap="none" strike="noStrike"/>
          </a:p>
        </p:txBody>
      </p:sp>
      <p:sp>
        <p:nvSpPr>
          <p:cNvPr id="377" name="Google Shape;377;p36"/>
          <p:cNvSpPr/>
          <p:nvPr/>
        </p:nvSpPr>
        <p:spPr>
          <a:xfrm>
            <a:off x="568650" y="2813575"/>
            <a:ext cx="17178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Core Idea</a:t>
            </a:r>
            <a:endParaRPr sz="1116">
              <a:solidFill>
                <a:srgbClr val="030303"/>
              </a:solidFill>
              <a:latin typeface="Trebuchet MS"/>
              <a:ea typeface="Trebuchet MS"/>
              <a:cs typeface="Trebuchet MS"/>
              <a:sym typeface="Trebuchet MS"/>
            </a:endParaRPr>
          </a:p>
        </p:txBody>
      </p:sp>
      <p:sp>
        <p:nvSpPr>
          <p:cNvPr id="378" name="Google Shape;378;p36"/>
          <p:cNvSpPr/>
          <p:nvPr/>
        </p:nvSpPr>
        <p:spPr>
          <a:xfrm>
            <a:off x="568650" y="3086626"/>
            <a:ext cx="24984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Fix item factors Q, solve a regularized least-squares problem for each user; then fix user factors P and solve the symmetric problem for each item, alternating until convergence.</a:t>
            </a:r>
            <a:endParaRPr i="0" sz="913" u="none" cap="none" strike="noStrike"/>
          </a:p>
        </p:txBody>
      </p:sp>
      <p:sp>
        <p:nvSpPr>
          <p:cNvPr id="379" name="Google Shape;379;p36"/>
          <p:cNvSpPr txBox="1"/>
          <p:nvPr/>
        </p:nvSpPr>
        <p:spPr>
          <a:xfrm>
            <a:off x="503200" y="4024450"/>
            <a:ext cx="806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200"/>
              <a:t>Note</a:t>
            </a:r>
            <a:r>
              <a:rPr lang="zh-CN" sz="1200"/>
              <a:t>: </a:t>
            </a:r>
            <a:r>
              <a:rPr lang="zh-CN" sz="1200"/>
              <a:t>This does not reject ALS; it indicates that, under explicit-feedback settings, a more systematic sweep over rank and regularization is still needed.</a:t>
            </a:r>
            <a:endParaRPr sz="1200"/>
          </a:p>
        </p:txBody>
      </p:sp>
      <p:sp>
        <p:nvSpPr>
          <p:cNvPr id="380" name="Google Shape;380;p36"/>
          <p:cNvSpPr txBox="1"/>
          <p:nvPr/>
        </p:nvSpPr>
        <p:spPr>
          <a:xfrm>
            <a:off x="568650" y="869325"/>
            <a:ext cx="425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100">
                <a:latin typeface="Trebuchet MS"/>
                <a:ea typeface="Trebuchet MS"/>
                <a:cs typeface="Trebuchet MS"/>
                <a:sym typeface="Trebuchet MS"/>
              </a:rPr>
              <a:t>Using Ridge Regression while keeping user embeddings fixed:</a:t>
            </a:r>
            <a:endParaRPr sz="1100">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grpSp>
        <p:nvGrpSpPr>
          <p:cNvPr id="385" name="Google Shape;385;p37"/>
          <p:cNvGrpSpPr/>
          <p:nvPr/>
        </p:nvGrpSpPr>
        <p:grpSpPr>
          <a:xfrm>
            <a:off x="0" y="0"/>
            <a:ext cx="9144150" cy="617100"/>
            <a:chOff x="0" y="0"/>
            <a:chExt cx="9144150" cy="617100"/>
          </a:xfrm>
        </p:grpSpPr>
        <p:sp>
          <p:nvSpPr>
            <p:cNvPr id="386" name="Google Shape;386;p37"/>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7" name="Google Shape;387;p37"/>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88" name="Google Shape;388;p37"/>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MF-ALS </a:t>
            </a:r>
            <a:r>
              <a:rPr lang="zh-CN" sz="2500">
                <a:solidFill>
                  <a:schemeClr val="lt1"/>
                </a:solidFill>
                <a:latin typeface="Trebuchet MS"/>
                <a:ea typeface="Trebuchet MS"/>
                <a:cs typeface="Trebuchet MS"/>
                <a:sym typeface="Trebuchet MS"/>
              </a:rPr>
              <a:t>ANALYSIS</a:t>
            </a:r>
            <a:endParaRPr sz="2500">
              <a:solidFill>
                <a:schemeClr val="lt1"/>
              </a:solidFill>
              <a:latin typeface="Trebuchet MS"/>
              <a:ea typeface="Trebuchet MS"/>
              <a:cs typeface="Trebuchet MS"/>
              <a:sym typeface="Trebuchet MS"/>
            </a:endParaRPr>
          </a:p>
        </p:txBody>
      </p:sp>
      <p:sp>
        <p:nvSpPr>
          <p:cNvPr id="389" name="Google Shape;389;p37"/>
          <p:cNvSpPr/>
          <p:nvPr/>
        </p:nvSpPr>
        <p:spPr>
          <a:xfrm>
            <a:off x="408925"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990000"/>
                </a:solidFill>
                <a:latin typeface="Trebuchet MS"/>
                <a:ea typeface="Trebuchet MS"/>
                <a:cs typeface="Trebuchet MS"/>
                <a:sym typeface="Trebuchet MS"/>
              </a:rPr>
              <a:t>0.7303</a:t>
            </a:r>
            <a:endParaRPr b="1">
              <a:solidFill>
                <a:srgbClr val="990000"/>
              </a:solidFill>
              <a:latin typeface="Trebuchet MS"/>
              <a:ea typeface="Trebuchet MS"/>
              <a:cs typeface="Trebuchet MS"/>
              <a:sym typeface="Trebuchet MS"/>
            </a:endParaRPr>
          </a:p>
          <a:p>
            <a:pPr indent="0" lvl="0" marL="0" rtl="0" algn="ctr">
              <a:spcBef>
                <a:spcPts val="0"/>
              </a:spcBef>
              <a:spcAft>
                <a:spcPts val="0"/>
              </a:spcAft>
              <a:buNone/>
            </a:pPr>
            <a:r>
              <a:rPr lang="zh-CN" sz="900"/>
              <a:t>MAE</a:t>
            </a:r>
            <a:endParaRPr sz="900"/>
          </a:p>
          <a:p>
            <a:pPr indent="0" lvl="0" marL="0" rtl="0" algn="ctr">
              <a:spcBef>
                <a:spcPts val="0"/>
              </a:spcBef>
              <a:spcAft>
                <a:spcPts val="0"/>
              </a:spcAft>
              <a:buClr>
                <a:schemeClr val="dk1"/>
              </a:buClr>
              <a:buSzPts val="1100"/>
              <a:buFont typeface="Arial"/>
              <a:buNone/>
            </a:pPr>
            <a:r>
              <a:rPr lang="zh-CN" sz="600">
                <a:solidFill>
                  <a:srgbClr val="434343"/>
                </a:solidFill>
              </a:rPr>
              <a:t>WORST</a:t>
            </a:r>
            <a:endParaRPr sz="600">
              <a:solidFill>
                <a:srgbClr val="434343"/>
              </a:solidFill>
            </a:endParaRPr>
          </a:p>
        </p:txBody>
      </p:sp>
      <p:sp>
        <p:nvSpPr>
          <p:cNvPr id="390" name="Google Shape;390;p37"/>
          <p:cNvSpPr/>
          <p:nvPr/>
        </p:nvSpPr>
        <p:spPr>
          <a:xfrm>
            <a:off x="1449000"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990000"/>
                </a:solidFill>
                <a:latin typeface="Trebuchet MS"/>
                <a:ea typeface="Trebuchet MS"/>
                <a:cs typeface="Trebuchet MS"/>
                <a:sym typeface="Trebuchet MS"/>
              </a:rPr>
              <a:t>0.9786</a:t>
            </a:r>
            <a:endParaRPr b="1">
              <a:solidFill>
                <a:srgbClr val="990000"/>
              </a:solidFill>
              <a:latin typeface="Trebuchet MS"/>
              <a:ea typeface="Trebuchet MS"/>
              <a:cs typeface="Trebuchet MS"/>
              <a:sym typeface="Trebuchet MS"/>
            </a:endParaRPr>
          </a:p>
          <a:p>
            <a:pPr indent="0" lvl="0" marL="0" rtl="0" algn="ctr">
              <a:spcBef>
                <a:spcPts val="0"/>
              </a:spcBef>
              <a:spcAft>
                <a:spcPts val="0"/>
              </a:spcAft>
              <a:buNone/>
            </a:pPr>
            <a:r>
              <a:rPr lang="zh-CN" sz="900"/>
              <a:t>P@10</a:t>
            </a:r>
            <a:endParaRPr sz="900"/>
          </a:p>
          <a:p>
            <a:pPr indent="0" lvl="0" marL="0" rtl="0" algn="ctr">
              <a:spcBef>
                <a:spcPts val="0"/>
              </a:spcBef>
              <a:spcAft>
                <a:spcPts val="0"/>
              </a:spcAft>
              <a:buClr>
                <a:schemeClr val="dk1"/>
              </a:buClr>
              <a:buSzPts val="1100"/>
              <a:buFont typeface="Arial"/>
              <a:buNone/>
            </a:pPr>
            <a:r>
              <a:rPr lang="zh-CN" sz="600">
                <a:solidFill>
                  <a:srgbClr val="434343"/>
                </a:solidFill>
              </a:rPr>
              <a:t>WORST</a:t>
            </a:r>
            <a:endParaRPr sz="600">
              <a:solidFill>
                <a:srgbClr val="434343"/>
              </a:solidFill>
            </a:endParaRPr>
          </a:p>
        </p:txBody>
      </p:sp>
      <p:sp>
        <p:nvSpPr>
          <p:cNvPr id="391" name="Google Shape;391;p37"/>
          <p:cNvSpPr/>
          <p:nvPr/>
        </p:nvSpPr>
        <p:spPr>
          <a:xfrm>
            <a:off x="2464150"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85200C"/>
                </a:solidFill>
                <a:latin typeface="Trebuchet MS"/>
                <a:ea typeface="Trebuchet MS"/>
                <a:cs typeface="Trebuchet MS"/>
                <a:sym typeface="Trebuchet MS"/>
              </a:rPr>
              <a:t>0.0072</a:t>
            </a:r>
            <a:endParaRPr b="1">
              <a:solidFill>
                <a:srgbClr val="85200C"/>
              </a:solidFill>
              <a:latin typeface="Trebuchet MS"/>
              <a:ea typeface="Trebuchet MS"/>
              <a:cs typeface="Trebuchet MS"/>
              <a:sym typeface="Trebuchet MS"/>
            </a:endParaRPr>
          </a:p>
          <a:p>
            <a:pPr indent="0" lvl="0" marL="0" rtl="0" algn="ctr">
              <a:spcBef>
                <a:spcPts val="0"/>
              </a:spcBef>
              <a:spcAft>
                <a:spcPts val="0"/>
              </a:spcAft>
              <a:buNone/>
            </a:pPr>
            <a:r>
              <a:rPr lang="zh-CN" sz="900"/>
              <a:t>NDCG@10</a:t>
            </a:r>
            <a:endParaRPr sz="900"/>
          </a:p>
          <a:p>
            <a:pPr indent="0" lvl="0" marL="0" rtl="0" algn="ctr">
              <a:spcBef>
                <a:spcPts val="0"/>
              </a:spcBef>
              <a:spcAft>
                <a:spcPts val="0"/>
              </a:spcAft>
              <a:buClr>
                <a:schemeClr val="dk1"/>
              </a:buClr>
              <a:buSzPts val="1100"/>
              <a:buFont typeface="Arial"/>
              <a:buNone/>
            </a:pPr>
            <a:r>
              <a:rPr lang="zh-CN" sz="600">
                <a:solidFill>
                  <a:srgbClr val="434343"/>
                </a:solidFill>
              </a:rPr>
              <a:t>WORST</a:t>
            </a:r>
            <a:endParaRPr sz="600">
              <a:solidFill>
                <a:srgbClr val="434343"/>
              </a:solidFill>
            </a:endParaRPr>
          </a:p>
        </p:txBody>
      </p:sp>
      <p:sp>
        <p:nvSpPr>
          <p:cNvPr id="392" name="Google Shape;392;p37"/>
          <p:cNvSpPr/>
          <p:nvPr/>
        </p:nvSpPr>
        <p:spPr>
          <a:xfrm>
            <a:off x="3459325" y="2663000"/>
            <a:ext cx="922500" cy="617100"/>
          </a:xfrm>
          <a:prstGeom prst="rect">
            <a:avLst/>
          </a:prstGeom>
          <a:solidFill>
            <a:schemeClr val="lt1"/>
          </a:solidFill>
          <a:ln cap="flat" cmpd="sng" w="95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zh-CN">
                <a:solidFill>
                  <a:srgbClr val="945246"/>
                </a:solidFill>
                <a:latin typeface="Trebuchet MS"/>
                <a:ea typeface="Trebuchet MS"/>
                <a:cs typeface="Trebuchet MS"/>
                <a:sym typeface="Trebuchet MS"/>
              </a:rPr>
              <a:t>0.0091</a:t>
            </a:r>
            <a:endParaRPr b="1">
              <a:solidFill>
                <a:srgbClr val="945246"/>
              </a:solidFill>
              <a:latin typeface="Trebuchet MS"/>
              <a:ea typeface="Trebuchet MS"/>
              <a:cs typeface="Trebuchet MS"/>
              <a:sym typeface="Trebuchet MS"/>
            </a:endParaRPr>
          </a:p>
          <a:p>
            <a:pPr indent="0" lvl="0" marL="0" rtl="0" algn="ctr">
              <a:spcBef>
                <a:spcPts val="0"/>
              </a:spcBef>
              <a:spcAft>
                <a:spcPts val="0"/>
              </a:spcAft>
              <a:buNone/>
            </a:pPr>
            <a:r>
              <a:rPr lang="zh-CN" sz="900"/>
              <a:t>NDCG@10</a:t>
            </a:r>
            <a:endParaRPr sz="900"/>
          </a:p>
          <a:p>
            <a:pPr indent="0" lvl="0" marL="0" rtl="0" algn="ctr">
              <a:spcBef>
                <a:spcPts val="0"/>
              </a:spcBef>
              <a:spcAft>
                <a:spcPts val="0"/>
              </a:spcAft>
              <a:buClr>
                <a:schemeClr val="dk1"/>
              </a:buClr>
              <a:buSzPts val="1100"/>
              <a:buFont typeface="Arial"/>
              <a:buNone/>
            </a:pPr>
            <a:r>
              <a:rPr lang="zh-CN" sz="600">
                <a:solidFill>
                  <a:srgbClr val="434343"/>
                </a:solidFill>
              </a:rPr>
              <a:t>WORST</a:t>
            </a:r>
            <a:endParaRPr sz="600">
              <a:solidFill>
                <a:srgbClr val="434343"/>
              </a:solidFill>
            </a:endParaRPr>
          </a:p>
        </p:txBody>
      </p:sp>
      <p:sp>
        <p:nvSpPr>
          <p:cNvPr id="393" name="Google Shape;393;p37"/>
          <p:cNvSpPr/>
          <p:nvPr/>
        </p:nvSpPr>
        <p:spPr>
          <a:xfrm>
            <a:off x="4730600" y="1545633"/>
            <a:ext cx="28200" cy="804300"/>
          </a:xfrm>
          <a:prstGeom prst="rect">
            <a:avLst/>
          </a:prstGeom>
          <a:solidFill>
            <a:srgbClr val="F1C232"/>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394" name="Google Shape;394;p37"/>
          <p:cNvSpPr/>
          <p:nvPr/>
        </p:nvSpPr>
        <p:spPr>
          <a:xfrm>
            <a:off x="4883993" y="1560240"/>
            <a:ext cx="18147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Overfitting / Mismatch</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95" name="Google Shape;395;p37"/>
          <p:cNvSpPr/>
          <p:nvPr/>
        </p:nvSpPr>
        <p:spPr>
          <a:xfrm>
            <a:off x="4884000" y="1834303"/>
            <a:ext cx="3863100" cy="6156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The training objective continues to decrease, but validation error plateaus early, indicating a mismatch between current regularization/ranking setup and the large-scale data split.</a:t>
            </a:r>
            <a:endParaRPr sz="895">
              <a:solidFill>
                <a:srgbClr val="464646"/>
              </a:solidFill>
            </a:endParaRPr>
          </a:p>
        </p:txBody>
      </p:sp>
      <p:sp>
        <p:nvSpPr>
          <p:cNvPr id="396" name="Google Shape;396;p37"/>
          <p:cNvSpPr/>
          <p:nvPr/>
        </p:nvSpPr>
        <p:spPr>
          <a:xfrm>
            <a:off x="4730600" y="2675458"/>
            <a:ext cx="28200" cy="804300"/>
          </a:xfrm>
          <a:prstGeom prst="rect">
            <a:avLst/>
          </a:prstGeom>
          <a:solidFill>
            <a:srgbClr val="F1C232"/>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397" name="Google Shape;397;p37"/>
          <p:cNvSpPr/>
          <p:nvPr/>
        </p:nvSpPr>
        <p:spPr>
          <a:xfrm>
            <a:off x="4883992" y="2690064"/>
            <a:ext cx="1853100" cy="220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lang="zh-CN" sz="1119">
                <a:solidFill>
                  <a:srgbClr val="464646"/>
                </a:solidFill>
                <a:latin typeface="Trebuchet MS"/>
                <a:ea typeface="Trebuchet MS"/>
                <a:cs typeface="Trebuchet MS"/>
                <a:sym typeface="Trebuchet MS"/>
              </a:rPr>
              <a:t>Weak Score Separation</a:t>
            </a:r>
            <a:endParaRPr sz="1119">
              <a:solidFill>
                <a:srgbClr val="464646"/>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398" name="Google Shape;398;p37"/>
          <p:cNvSpPr/>
          <p:nvPr/>
        </p:nvSpPr>
        <p:spPr>
          <a:xfrm>
            <a:off x="4883996" y="2964111"/>
            <a:ext cx="37260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Top-10 metrics are the lowest among all models, suggesting that predicted scores fail to effectively distinguish relevant from irrelevant items.</a:t>
            </a:r>
            <a:endParaRPr i="0" sz="895" u="none" cap="none" strike="noStrike"/>
          </a:p>
        </p:txBody>
      </p:sp>
      <p:sp>
        <p:nvSpPr>
          <p:cNvPr id="399" name="Google Shape;399;p37"/>
          <p:cNvSpPr/>
          <p:nvPr/>
        </p:nvSpPr>
        <p:spPr>
          <a:xfrm>
            <a:off x="369979" y="3638925"/>
            <a:ext cx="15195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b="1" lang="zh-CN" sz="1119">
                <a:solidFill>
                  <a:srgbClr val="030303"/>
                </a:solidFill>
                <a:latin typeface="Trebuchet MS"/>
                <a:ea typeface="Trebuchet MS"/>
                <a:cs typeface="Trebuchet MS"/>
                <a:sym typeface="Trebuchet MS"/>
              </a:rPr>
              <a:t>Takeaway</a:t>
            </a:r>
            <a:endParaRPr b="1" sz="1119">
              <a:solidFill>
                <a:srgbClr val="030303"/>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400" name="Google Shape;400;p37"/>
          <p:cNvSpPr/>
          <p:nvPr/>
        </p:nvSpPr>
        <p:spPr>
          <a:xfrm>
            <a:off x="369975" y="3912973"/>
            <a:ext cx="4068300" cy="4155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ALS is a meaningful but under-optimized classical baseline.</a:t>
            </a:r>
            <a:endParaRPr sz="895">
              <a:solidFill>
                <a:srgbClr val="464646"/>
              </a:solidFill>
            </a:endParaRPr>
          </a:p>
          <a:p>
            <a:pPr indent="0" lvl="0" marL="0" marR="0" rtl="0" algn="l">
              <a:lnSpc>
                <a:spcPct val="146428"/>
              </a:lnSpc>
              <a:spcBef>
                <a:spcPts val="0"/>
              </a:spcBef>
              <a:spcAft>
                <a:spcPts val="0"/>
              </a:spcAft>
              <a:buClr>
                <a:srgbClr val="464646"/>
              </a:buClr>
              <a:buSzPts val="895"/>
              <a:buFont typeface="Inter"/>
              <a:buNone/>
            </a:pPr>
            <a:r>
              <a:rPr lang="zh-CN" sz="895">
                <a:solidFill>
                  <a:srgbClr val="464646"/>
                </a:solidFill>
              </a:rPr>
              <a:t>Its limitations highlight that evaluation cannot rely solely on training loss.</a:t>
            </a:r>
            <a:endParaRPr sz="895">
              <a:solidFill>
                <a:srgbClr val="464646"/>
              </a:solidFill>
            </a:endParaRPr>
          </a:p>
        </p:txBody>
      </p:sp>
      <p:sp>
        <p:nvSpPr>
          <p:cNvPr id="401" name="Google Shape;401;p37"/>
          <p:cNvSpPr txBox="1"/>
          <p:nvPr/>
        </p:nvSpPr>
        <p:spPr>
          <a:xfrm>
            <a:off x="4620400" y="867513"/>
            <a:ext cx="406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latin typeface="Trebuchet MS"/>
                <a:ea typeface="Trebuchet MS"/>
                <a:cs typeface="Trebuchet MS"/>
                <a:sym typeface="Trebuchet MS"/>
              </a:rPr>
              <a:t>Training Objective Improves, </a:t>
            </a:r>
            <a:endParaRPr>
              <a:latin typeface="Trebuchet MS"/>
              <a:ea typeface="Trebuchet MS"/>
              <a:cs typeface="Trebuchet MS"/>
              <a:sym typeface="Trebuchet MS"/>
            </a:endParaRPr>
          </a:p>
          <a:p>
            <a:pPr indent="0" lvl="0" marL="0" rtl="0" algn="l">
              <a:spcBef>
                <a:spcPts val="0"/>
              </a:spcBef>
              <a:spcAft>
                <a:spcPts val="0"/>
              </a:spcAft>
              <a:buNone/>
            </a:pPr>
            <a:r>
              <a:rPr lang="zh-CN">
                <a:latin typeface="Trebuchet MS"/>
                <a:ea typeface="Trebuchet MS"/>
                <a:cs typeface="Trebuchet MS"/>
                <a:sym typeface="Trebuchet MS"/>
              </a:rPr>
              <a:t>but Validation and Ranking Lag Behind.</a:t>
            </a:r>
            <a:endParaRPr>
              <a:latin typeface="Trebuchet MS"/>
              <a:ea typeface="Trebuchet MS"/>
              <a:cs typeface="Trebuchet MS"/>
              <a:sym typeface="Trebuchet MS"/>
            </a:endParaRPr>
          </a:p>
        </p:txBody>
      </p:sp>
      <p:pic>
        <p:nvPicPr>
          <p:cNvPr id="402" name="Google Shape;402;p37" title="training_als.png"/>
          <p:cNvPicPr preferRelativeResize="0"/>
          <p:nvPr/>
        </p:nvPicPr>
        <p:blipFill>
          <a:blip r:embed="rId3">
            <a:alphaModFix/>
          </a:blip>
          <a:stretch>
            <a:fillRect/>
          </a:stretch>
        </p:blipFill>
        <p:spPr>
          <a:xfrm>
            <a:off x="306025" y="857875"/>
            <a:ext cx="4123176" cy="1635349"/>
          </a:xfrm>
          <a:prstGeom prst="rect">
            <a:avLst/>
          </a:prstGeom>
          <a:noFill/>
          <a:ln>
            <a:noFill/>
          </a:ln>
        </p:spPr>
      </p:pic>
      <p:sp>
        <p:nvSpPr>
          <p:cNvPr id="403" name="Google Shape;403;p37"/>
          <p:cNvSpPr/>
          <p:nvPr/>
        </p:nvSpPr>
        <p:spPr>
          <a:xfrm>
            <a:off x="4655292" y="3767864"/>
            <a:ext cx="1853100" cy="220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b="1" lang="zh-CN" sz="1119">
                <a:solidFill>
                  <a:schemeClr val="dk1"/>
                </a:solidFill>
                <a:latin typeface="Trebuchet MS"/>
                <a:ea typeface="Trebuchet MS"/>
                <a:cs typeface="Trebuchet MS"/>
                <a:sym typeface="Trebuchet MS"/>
              </a:rPr>
              <a:t>Next Steps</a:t>
            </a:r>
            <a:endParaRPr b="1" sz="1119">
              <a:solidFill>
                <a:schemeClr val="dk1"/>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464646"/>
              </a:buClr>
              <a:buSzPts val="1119"/>
              <a:buFont typeface="DM Sans"/>
              <a:buNone/>
            </a:pPr>
            <a:r>
              <a:t/>
            </a:r>
            <a:endParaRPr sz="1119">
              <a:solidFill>
                <a:srgbClr val="464646"/>
              </a:solidFill>
              <a:latin typeface="Trebuchet MS"/>
              <a:ea typeface="Trebuchet MS"/>
              <a:cs typeface="Trebuchet MS"/>
              <a:sym typeface="Trebuchet MS"/>
            </a:endParaRPr>
          </a:p>
        </p:txBody>
      </p:sp>
      <p:sp>
        <p:nvSpPr>
          <p:cNvPr id="404" name="Google Shape;404;p37"/>
          <p:cNvSpPr/>
          <p:nvPr/>
        </p:nvSpPr>
        <p:spPr>
          <a:xfrm>
            <a:off x="4655296" y="4041911"/>
            <a:ext cx="3726000" cy="501000"/>
          </a:xfrm>
          <a:prstGeom prst="rect">
            <a:avLst/>
          </a:prstGeom>
          <a:noFill/>
          <a:ln>
            <a:noFill/>
          </a:ln>
        </p:spPr>
        <p:txBody>
          <a:bodyPr anchorCtr="0" anchor="t" bIns="0" lIns="0" spcFirstLastPara="1" rIns="0" wrap="square" tIns="0">
            <a:noAutofit/>
          </a:bodyPr>
          <a:lstStyle/>
          <a:p>
            <a:pPr indent="-285438" lvl="0" marL="457200" marR="0" rtl="0" algn="l">
              <a:lnSpc>
                <a:spcPct val="146428"/>
              </a:lnSpc>
              <a:spcBef>
                <a:spcPts val="0"/>
              </a:spcBef>
              <a:spcAft>
                <a:spcPts val="0"/>
              </a:spcAft>
              <a:buClr>
                <a:srgbClr val="464646"/>
              </a:buClr>
              <a:buSzPts val="895"/>
              <a:buChar char="➔"/>
            </a:pPr>
            <a:r>
              <a:rPr lang="zh-CN" sz="895">
                <a:solidFill>
                  <a:srgbClr val="464646"/>
                </a:solidFill>
              </a:rPr>
              <a:t>Rank-aware hyperparameter sweep</a:t>
            </a:r>
            <a:endParaRPr sz="895">
              <a:solidFill>
                <a:srgbClr val="464646"/>
              </a:solidFill>
            </a:endParaRPr>
          </a:p>
          <a:p>
            <a:pPr indent="-285438" lvl="0" marL="457200" marR="0" rtl="0" algn="l">
              <a:lnSpc>
                <a:spcPct val="146428"/>
              </a:lnSpc>
              <a:spcBef>
                <a:spcPts val="0"/>
              </a:spcBef>
              <a:spcAft>
                <a:spcPts val="0"/>
              </a:spcAft>
              <a:buClr>
                <a:srgbClr val="464646"/>
              </a:buClr>
              <a:buSzPts val="895"/>
              <a:buChar char="➔"/>
            </a:pPr>
            <a:r>
              <a:rPr lang="zh-CN" sz="895">
                <a:solidFill>
                  <a:srgbClr val="464646"/>
                </a:solidFill>
              </a:rPr>
              <a:t>Per-block regularization</a:t>
            </a:r>
            <a:endParaRPr sz="895">
              <a:solidFill>
                <a:srgbClr val="464646"/>
              </a:solidFill>
            </a:endParaRPr>
          </a:p>
          <a:p>
            <a:pPr indent="-285438" lvl="0" marL="457200" marR="0" rtl="0" algn="l">
              <a:lnSpc>
                <a:spcPct val="146428"/>
              </a:lnSpc>
              <a:spcBef>
                <a:spcPts val="0"/>
              </a:spcBef>
              <a:spcAft>
                <a:spcPts val="0"/>
              </a:spcAft>
              <a:buClr>
                <a:srgbClr val="464646"/>
              </a:buClr>
              <a:buSzPts val="895"/>
              <a:buChar char="➔"/>
            </a:pPr>
            <a:r>
              <a:rPr lang="zh-CN" sz="895">
                <a:solidFill>
                  <a:srgbClr val="464646"/>
                </a:solidFill>
              </a:rPr>
              <a:t>Implicit-feedback ALS or confidence-weighted formulation</a:t>
            </a:r>
            <a:endParaRPr sz="895">
              <a:solidFill>
                <a:srgbClr val="464646"/>
              </a:solidFill>
            </a:endParaRPr>
          </a:p>
        </p:txBody>
      </p:sp>
      <p:pic>
        <p:nvPicPr>
          <p:cNvPr descr="preencoded.png" id="405" name="Google Shape;405;p37"/>
          <p:cNvPicPr preferRelativeResize="0"/>
          <p:nvPr/>
        </p:nvPicPr>
        <p:blipFill rotWithShape="1">
          <a:blip r:embed="rId4">
            <a:alphaModFix/>
          </a:blip>
          <a:srcRect b="0" l="0" r="0" t="0"/>
          <a:stretch/>
        </p:blipFill>
        <p:spPr>
          <a:xfrm>
            <a:off x="6351924" y="2737593"/>
            <a:ext cx="156487" cy="125159"/>
          </a:xfrm>
          <a:prstGeom prst="rect">
            <a:avLst/>
          </a:prstGeom>
          <a:noFill/>
          <a:ln>
            <a:noFill/>
          </a:ln>
        </p:spPr>
      </p:pic>
      <p:pic>
        <p:nvPicPr>
          <p:cNvPr descr="preencoded.png" id="406" name="Google Shape;406;p37"/>
          <p:cNvPicPr preferRelativeResize="0"/>
          <p:nvPr/>
        </p:nvPicPr>
        <p:blipFill rotWithShape="1">
          <a:blip r:embed="rId4">
            <a:alphaModFix/>
          </a:blip>
          <a:srcRect b="0" l="0" r="0" t="0"/>
          <a:stretch/>
        </p:blipFill>
        <p:spPr>
          <a:xfrm>
            <a:off x="6351924" y="1588267"/>
            <a:ext cx="156487" cy="1251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grpSp>
        <p:nvGrpSpPr>
          <p:cNvPr id="411" name="Google Shape;411;p38"/>
          <p:cNvGrpSpPr/>
          <p:nvPr/>
        </p:nvGrpSpPr>
        <p:grpSpPr>
          <a:xfrm>
            <a:off x="0" y="0"/>
            <a:ext cx="9144150" cy="617100"/>
            <a:chOff x="0" y="0"/>
            <a:chExt cx="9144150" cy="617100"/>
          </a:xfrm>
        </p:grpSpPr>
        <p:sp>
          <p:nvSpPr>
            <p:cNvPr id="412" name="Google Shape;412;p38"/>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3" name="Google Shape;413;p38"/>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14" name="Google Shape;414;p38"/>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Results: Rating Prediction</a:t>
            </a:r>
            <a:endParaRPr sz="2500">
              <a:solidFill>
                <a:schemeClr val="lt1"/>
              </a:solidFill>
              <a:latin typeface="Trebuchet MS"/>
              <a:ea typeface="Trebuchet MS"/>
              <a:cs typeface="Trebuchet MS"/>
              <a:sym typeface="Trebuchet MS"/>
            </a:endParaRPr>
          </a:p>
        </p:txBody>
      </p:sp>
      <p:sp>
        <p:nvSpPr>
          <p:cNvPr id="415" name="Google Shape;415;p38"/>
          <p:cNvSpPr txBox="1"/>
          <p:nvPr/>
        </p:nvSpPr>
        <p:spPr>
          <a:xfrm>
            <a:off x="306025" y="829675"/>
            <a:ext cx="4266000" cy="71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latin typeface="Trebuchet MS"/>
                <a:ea typeface="Trebuchet MS"/>
                <a:cs typeface="Trebuchet MS"/>
                <a:sym typeface="Trebuchet MS"/>
              </a:rPr>
              <a:t>Rating Prediction Performance Test</a:t>
            </a:r>
            <a:endParaRPr>
              <a:latin typeface="Trebuchet MS"/>
              <a:ea typeface="Trebuchet MS"/>
              <a:cs typeface="Trebuchet MS"/>
              <a:sym typeface="Trebuchet MS"/>
            </a:endParaRPr>
          </a:p>
          <a:p>
            <a:pPr indent="0" lvl="0" marL="0" rtl="0" algn="l">
              <a:spcBef>
                <a:spcPts val="1000"/>
              </a:spcBef>
              <a:spcAft>
                <a:spcPts val="0"/>
              </a:spcAft>
              <a:buNone/>
            </a:pPr>
            <a:r>
              <a:rPr lang="zh-CN" sz="1200">
                <a:solidFill>
                  <a:srgbClr val="666666"/>
                </a:solidFill>
              </a:rPr>
              <a:t>(Lower MAE and RMSE indicate better accuracy)</a:t>
            </a:r>
            <a:endParaRPr sz="1200">
              <a:solidFill>
                <a:srgbClr val="666666"/>
              </a:solidFill>
            </a:endParaRPr>
          </a:p>
        </p:txBody>
      </p:sp>
      <p:pic>
        <p:nvPicPr>
          <p:cNvPr id="416" name="Google Shape;416;p38"/>
          <p:cNvPicPr preferRelativeResize="0"/>
          <p:nvPr/>
        </p:nvPicPr>
        <p:blipFill>
          <a:blip r:embed="rId3">
            <a:alphaModFix/>
          </a:blip>
          <a:stretch>
            <a:fillRect/>
          </a:stretch>
        </p:blipFill>
        <p:spPr>
          <a:xfrm>
            <a:off x="5058175" y="829675"/>
            <a:ext cx="3437049" cy="4127324"/>
          </a:xfrm>
          <a:prstGeom prst="rect">
            <a:avLst/>
          </a:prstGeom>
          <a:noFill/>
          <a:ln>
            <a:noFill/>
          </a:ln>
        </p:spPr>
      </p:pic>
      <p:sp>
        <p:nvSpPr>
          <p:cNvPr id="417" name="Google Shape;417;p38"/>
          <p:cNvSpPr txBox="1"/>
          <p:nvPr/>
        </p:nvSpPr>
        <p:spPr>
          <a:xfrm>
            <a:off x="306025" y="1700700"/>
            <a:ext cx="4311900" cy="298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100">
                <a:latin typeface="Trebuchet MS"/>
                <a:ea typeface="Trebuchet MS"/>
                <a:cs typeface="Trebuchet MS"/>
                <a:sym typeface="Trebuchet MS"/>
              </a:rPr>
              <a:t>Key Findings (MovieLens Latest, 80/20 split)</a:t>
            </a:r>
            <a:endParaRPr sz="1100">
              <a:latin typeface="Trebuchet MS"/>
              <a:ea typeface="Trebuchet MS"/>
              <a:cs typeface="Trebuchet MS"/>
              <a:sym typeface="Trebuchet MS"/>
            </a:endParaRPr>
          </a:p>
          <a:p>
            <a:pPr indent="-298450" lvl="0" marL="457200" rtl="0" algn="l">
              <a:spcBef>
                <a:spcPts val="1000"/>
              </a:spcBef>
              <a:spcAft>
                <a:spcPts val="0"/>
              </a:spcAft>
              <a:buSzPts val="1100"/>
              <a:buChar char="●"/>
            </a:pPr>
            <a:r>
              <a:rPr lang="zh-CN" sz="1100"/>
              <a:t>Deep Hybrid achieves most stable average prediction accuracy</a:t>
            </a:r>
            <a:endParaRPr sz="1100"/>
          </a:p>
          <a:p>
            <a:pPr indent="-298450" lvl="0" marL="457200" rtl="0" algn="l">
              <a:spcBef>
                <a:spcPts val="0"/>
              </a:spcBef>
              <a:spcAft>
                <a:spcPts val="0"/>
              </a:spcAft>
              <a:buSzPts val="1100"/>
              <a:buChar char="●"/>
            </a:pPr>
            <a:r>
              <a:rPr lang="zh-CN" sz="1100"/>
              <a:t>MF-SGD obtains the best RMSE, better control on large errors</a:t>
            </a:r>
            <a:endParaRPr sz="1100"/>
          </a:p>
          <a:p>
            <a:pPr indent="-298450" lvl="0" marL="457200" rtl="0" algn="l">
              <a:spcBef>
                <a:spcPts val="0"/>
              </a:spcBef>
              <a:spcAft>
                <a:spcPts val="0"/>
              </a:spcAft>
              <a:buSzPts val="1100"/>
              <a:buChar char="●"/>
            </a:pPr>
            <a:r>
              <a:rPr lang="zh-CN" sz="1100"/>
              <a:t>SVD-based methods show consistent performance gap → limited expressiveness</a:t>
            </a:r>
            <a:endParaRPr sz="1100"/>
          </a:p>
          <a:p>
            <a:pPr indent="-298450" lvl="0" marL="457200" rtl="0" algn="l">
              <a:spcBef>
                <a:spcPts val="0"/>
              </a:spcBef>
              <a:spcAft>
                <a:spcPts val="0"/>
              </a:spcAft>
              <a:buSzPts val="1100"/>
              <a:buChar char="●"/>
            </a:pPr>
            <a:r>
              <a:rPr lang="zh-CN" sz="1100"/>
              <a:t>MF-ALS performs worst → potential optimization or scalability issues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zh-CN" sz="1100">
                <a:latin typeface="Trebuchet MS"/>
                <a:ea typeface="Trebuchet MS"/>
                <a:cs typeface="Trebuchet MS"/>
                <a:sym typeface="Trebuchet MS"/>
              </a:rPr>
              <a:t>Takeaway</a:t>
            </a:r>
            <a:endParaRPr b="1" sz="1100">
              <a:latin typeface="Trebuchet MS"/>
              <a:ea typeface="Trebuchet MS"/>
              <a:cs typeface="Trebuchet MS"/>
              <a:sym typeface="Trebuchet MS"/>
            </a:endParaRPr>
          </a:p>
          <a:p>
            <a:pPr indent="-298450" lvl="0" marL="457200" rtl="0" algn="l">
              <a:spcBef>
                <a:spcPts val="1000"/>
              </a:spcBef>
              <a:spcAft>
                <a:spcPts val="0"/>
              </a:spcAft>
              <a:buSzPts val="1100"/>
              <a:buChar char="➔"/>
            </a:pPr>
            <a:r>
              <a:rPr lang="zh-CN" sz="1100"/>
              <a:t>Nonlinear modeling (Deep Hybrid) and well-optimized MF (SGD) significantly outperform classical CF variants.</a:t>
            </a:r>
            <a:endParaRPr sz="1100"/>
          </a:p>
          <a:p>
            <a:pPr indent="-298450" lvl="0" marL="457200" rtl="0" algn="l">
              <a:spcBef>
                <a:spcPts val="0"/>
              </a:spcBef>
              <a:spcAft>
                <a:spcPts val="0"/>
              </a:spcAft>
              <a:buSzPts val="1100"/>
              <a:buChar char="➔"/>
            </a:pPr>
            <a:r>
              <a:rPr lang="zh-CN" sz="1100"/>
              <a:t>Traditional SVD-style extensions struggle at large scale and high sparsity.</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grpSp>
        <p:nvGrpSpPr>
          <p:cNvPr id="422" name="Google Shape;422;p39"/>
          <p:cNvGrpSpPr/>
          <p:nvPr/>
        </p:nvGrpSpPr>
        <p:grpSpPr>
          <a:xfrm>
            <a:off x="0" y="0"/>
            <a:ext cx="9144150" cy="617100"/>
            <a:chOff x="0" y="0"/>
            <a:chExt cx="9144150" cy="617100"/>
          </a:xfrm>
        </p:grpSpPr>
        <p:sp>
          <p:nvSpPr>
            <p:cNvPr id="423" name="Google Shape;423;p39"/>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4" name="Google Shape;424;p39"/>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25" name="Google Shape;425;p39"/>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Results: Top-10 Recommendation</a:t>
            </a:r>
            <a:endParaRPr sz="2500">
              <a:solidFill>
                <a:schemeClr val="lt1"/>
              </a:solidFill>
              <a:latin typeface="Trebuchet MS"/>
              <a:ea typeface="Trebuchet MS"/>
              <a:cs typeface="Trebuchet MS"/>
              <a:sym typeface="Trebuchet MS"/>
            </a:endParaRPr>
          </a:p>
        </p:txBody>
      </p:sp>
      <p:sp>
        <p:nvSpPr>
          <p:cNvPr id="426" name="Google Shape;426;p39"/>
          <p:cNvSpPr txBox="1"/>
          <p:nvPr/>
        </p:nvSpPr>
        <p:spPr>
          <a:xfrm>
            <a:off x="306025" y="812875"/>
            <a:ext cx="4356600" cy="89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t>Top-10 Ranking Metrics (Higher is Better)</a:t>
            </a:r>
            <a:endParaRPr/>
          </a:p>
          <a:p>
            <a:pPr indent="0" lvl="0" marL="0" rtl="0" algn="l">
              <a:spcBef>
                <a:spcPts val="1000"/>
              </a:spcBef>
              <a:spcAft>
                <a:spcPts val="0"/>
              </a:spcAft>
              <a:buNone/>
            </a:pPr>
            <a:r>
              <a:rPr lang="zh-CN" sz="1200">
                <a:solidFill>
                  <a:srgbClr val="666666"/>
                </a:solidFill>
              </a:rPr>
              <a:t>Holdout-style evaluation: all held-out test items per user treated as relevant.</a:t>
            </a:r>
            <a:endParaRPr sz="1200">
              <a:solidFill>
                <a:srgbClr val="666666"/>
              </a:solidFill>
            </a:endParaRPr>
          </a:p>
        </p:txBody>
      </p:sp>
      <p:pic>
        <p:nvPicPr>
          <p:cNvPr id="427" name="Google Shape;427;p39"/>
          <p:cNvPicPr preferRelativeResize="0"/>
          <p:nvPr/>
        </p:nvPicPr>
        <p:blipFill>
          <a:blip r:embed="rId3">
            <a:alphaModFix/>
          </a:blip>
          <a:stretch>
            <a:fillRect/>
          </a:stretch>
        </p:blipFill>
        <p:spPr>
          <a:xfrm>
            <a:off x="306025" y="1745675"/>
            <a:ext cx="3878456" cy="1547925"/>
          </a:xfrm>
          <a:prstGeom prst="rect">
            <a:avLst/>
          </a:prstGeom>
          <a:noFill/>
          <a:ln>
            <a:noFill/>
          </a:ln>
        </p:spPr>
      </p:pic>
      <p:sp>
        <p:nvSpPr>
          <p:cNvPr id="428" name="Google Shape;428;p39"/>
          <p:cNvSpPr txBox="1"/>
          <p:nvPr/>
        </p:nvSpPr>
        <p:spPr>
          <a:xfrm>
            <a:off x="4428375" y="812875"/>
            <a:ext cx="4293600" cy="330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latin typeface="Trebuchet MS"/>
                <a:ea typeface="Trebuchet MS"/>
                <a:cs typeface="Trebuchet MS"/>
                <a:sym typeface="Trebuchet MS"/>
              </a:rPr>
              <a:t>Interpretation</a:t>
            </a:r>
            <a:endParaRPr>
              <a:latin typeface="Trebuchet MS"/>
              <a:ea typeface="Trebuchet MS"/>
              <a:cs typeface="Trebuchet MS"/>
              <a:sym typeface="Trebuchet MS"/>
            </a:endParaRPr>
          </a:p>
          <a:p>
            <a:pPr indent="-292100" lvl="0" marL="457200" rtl="0" algn="l">
              <a:lnSpc>
                <a:spcPct val="150000"/>
              </a:lnSpc>
              <a:spcBef>
                <a:spcPts val="1000"/>
              </a:spcBef>
              <a:spcAft>
                <a:spcPts val="0"/>
              </a:spcAft>
              <a:buSzPts val="1000"/>
              <a:buChar char="●"/>
            </a:pPr>
            <a:r>
              <a:rPr lang="zh-CN" sz="1000"/>
              <a:t>Model ranking ability ≠ rating accuracy: MF-SGD is strong in RMSE but weaker in top-K ranking</a:t>
            </a:r>
            <a:endParaRPr sz="1000"/>
          </a:p>
          <a:p>
            <a:pPr indent="-292100" lvl="0" marL="457200" rtl="0" algn="l">
              <a:lnSpc>
                <a:spcPct val="150000"/>
              </a:lnSpc>
              <a:spcBef>
                <a:spcPts val="0"/>
              </a:spcBef>
              <a:spcAft>
                <a:spcPts val="0"/>
              </a:spcAft>
              <a:buSzPts val="1000"/>
              <a:buChar char="●"/>
            </a:pPr>
            <a:r>
              <a:rPr lang="zh-CN" sz="1000"/>
              <a:t>Nonlinear hybrid modeling (Deep Hybrid) better captures relative preference signals</a:t>
            </a:r>
            <a:endParaRPr sz="1000"/>
          </a:p>
          <a:p>
            <a:pPr indent="-292100" lvl="0" marL="457200" rtl="0" algn="l">
              <a:lnSpc>
                <a:spcPct val="150000"/>
              </a:lnSpc>
              <a:spcBef>
                <a:spcPts val="0"/>
              </a:spcBef>
              <a:spcAft>
                <a:spcPts val="0"/>
              </a:spcAft>
              <a:buSzPts val="1000"/>
              <a:buChar char="●"/>
            </a:pPr>
            <a:r>
              <a:rPr lang="zh-CN" sz="1000"/>
              <a:t>Absolute metric values are low due to all test items treated as relevant, so relative ordering is the key signal</a:t>
            </a:r>
            <a:endParaRPr sz="1000"/>
          </a:p>
          <a:p>
            <a:pPr indent="0" lvl="0" marL="0" rtl="0" algn="l">
              <a:spcBef>
                <a:spcPts val="0"/>
              </a:spcBef>
              <a:spcAft>
                <a:spcPts val="0"/>
              </a:spcAft>
              <a:buNone/>
            </a:pPr>
            <a:r>
              <a:t/>
            </a:r>
            <a:endParaRPr sz="1300"/>
          </a:p>
          <a:p>
            <a:pPr indent="0" lvl="0" marL="0" rtl="0" algn="l">
              <a:spcBef>
                <a:spcPts val="0"/>
              </a:spcBef>
              <a:spcAft>
                <a:spcPts val="0"/>
              </a:spcAft>
              <a:buNone/>
            </a:pPr>
            <a:r>
              <a:rPr lang="zh-CN">
                <a:latin typeface="Trebuchet MS"/>
                <a:ea typeface="Trebuchet MS"/>
                <a:cs typeface="Trebuchet MS"/>
                <a:sym typeface="Trebuchet MS"/>
              </a:rPr>
              <a:t>Takeaway</a:t>
            </a:r>
            <a:endParaRPr>
              <a:latin typeface="Trebuchet MS"/>
              <a:ea typeface="Trebuchet MS"/>
              <a:cs typeface="Trebuchet MS"/>
              <a:sym typeface="Trebuchet MS"/>
            </a:endParaRPr>
          </a:p>
          <a:p>
            <a:pPr indent="-292100" lvl="0" marL="457200" rtl="0" algn="l">
              <a:lnSpc>
                <a:spcPct val="150000"/>
              </a:lnSpc>
              <a:spcBef>
                <a:spcPts val="1000"/>
              </a:spcBef>
              <a:spcAft>
                <a:spcPts val="0"/>
              </a:spcAft>
              <a:buSzPts val="1000"/>
              <a:buChar char="→"/>
            </a:pPr>
            <a:r>
              <a:rPr lang="zh-CN" sz="1000"/>
              <a:t>For recommendation tasks, optimizing ranking objectives is more aligned with </a:t>
            </a:r>
            <a:r>
              <a:rPr lang="zh-CN" sz="1000"/>
              <a:t>UX</a:t>
            </a:r>
            <a:r>
              <a:rPr lang="zh-CN" sz="1000"/>
              <a:t> than pure rating prediction</a:t>
            </a:r>
            <a:endParaRPr sz="1000"/>
          </a:p>
          <a:p>
            <a:pPr indent="-292100" lvl="0" marL="457200" rtl="0" algn="l">
              <a:lnSpc>
                <a:spcPct val="150000"/>
              </a:lnSpc>
              <a:spcBef>
                <a:spcPts val="0"/>
              </a:spcBef>
              <a:spcAft>
                <a:spcPts val="0"/>
              </a:spcAft>
              <a:buSzPts val="1000"/>
              <a:buChar char="→"/>
            </a:pPr>
            <a:r>
              <a:rPr lang="zh-CN" sz="1000"/>
              <a:t>Deep Hybrid provides the best balance between representation power and ranking effectiveness</a:t>
            </a:r>
            <a:endParaRPr sz="1000"/>
          </a:p>
        </p:txBody>
      </p:sp>
      <p:sp>
        <p:nvSpPr>
          <p:cNvPr id="429" name="Google Shape;429;p39"/>
          <p:cNvSpPr/>
          <p:nvPr/>
        </p:nvSpPr>
        <p:spPr>
          <a:xfrm>
            <a:off x="403926" y="3494099"/>
            <a:ext cx="3847200" cy="1068900"/>
          </a:xfrm>
          <a:prstGeom prst="roundRect">
            <a:avLst>
              <a:gd fmla="val 1757" name="adj"/>
            </a:avLst>
          </a:prstGeom>
          <a:solidFill>
            <a:srgbClr val="FCF2B5"/>
          </a:solidFill>
          <a:ln>
            <a:noFill/>
          </a:ln>
        </p:spPr>
        <p:txBody>
          <a:bodyPr anchorCtr="0" anchor="ctr" bIns="56050" lIns="56050" spcFirstLastPara="1" rIns="56050" wrap="square" tIns="56050">
            <a:noAutofit/>
          </a:bodyPr>
          <a:lstStyle/>
          <a:p>
            <a:pPr indent="0" lvl="0" marL="0" rtl="0" algn="l">
              <a:spcBef>
                <a:spcPts val="0"/>
              </a:spcBef>
              <a:spcAft>
                <a:spcPts val="0"/>
              </a:spcAft>
              <a:buNone/>
            </a:pPr>
            <a:r>
              <a:t/>
            </a:r>
            <a:endParaRPr/>
          </a:p>
        </p:txBody>
      </p:sp>
      <p:pic>
        <p:nvPicPr>
          <p:cNvPr descr="preencoded.png" id="430" name="Google Shape;430;p39"/>
          <p:cNvPicPr preferRelativeResize="0"/>
          <p:nvPr/>
        </p:nvPicPr>
        <p:blipFill rotWithShape="1">
          <a:blip r:embed="rId4">
            <a:alphaModFix/>
          </a:blip>
          <a:srcRect b="0" l="0" r="0" t="0"/>
          <a:stretch/>
        </p:blipFill>
        <p:spPr>
          <a:xfrm>
            <a:off x="529087" y="3681180"/>
            <a:ext cx="156487" cy="125159"/>
          </a:xfrm>
          <a:prstGeom prst="rect">
            <a:avLst/>
          </a:prstGeom>
          <a:noFill/>
          <a:ln>
            <a:noFill/>
          </a:ln>
        </p:spPr>
      </p:pic>
      <p:sp>
        <p:nvSpPr>
          <p:cNvPr id="431" name="Google Shape;431;p39"/>
          <p:cNvSpPr/>
          <p:nvPr/>
        </p:nvSpPr>
        <p:spPr>
          <a:xfrm>
            <a:off x="810734" y="3638025"/>
            <a:ext cx="3315000" cy="761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981"/>
              <a:buFont typeface="Inter"/>
              <a:buNone/>
            </a:pPr>
            <a:r>
              <a:rPr lang="zh-CN" sz="981">
                <a:latin typeface="Inter"/>
                <a:ea typeface="Inter"/>
                <a:cs typeface="Inter"/>
                <a:sym typeface="Inter"/>
              </a:rPr>
              <a:t>Absolute values are small because each user has many held-out test items (all_test relevance definition). Relative ordering across models is the meaningful signal.</a:t>
            </a:r>
            <a:endParaRPr b="0" i="0" sz="981"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grpSp>
        <p:nvGrpSpPr>
          <p:cNvPr id="436" name="Google Shape;436;p40"/>
          <p:cNvGrpSpPr/>
          <p:nvPr/>
        </p:nvGrpSpPr>
        <p:grpSpPr>
          <a:xfrm>
            <a:off x="0" y="0"/>
            <a:ext cx="9144150" cy="617100"/>
            <a:chOff x="0" y="0"/>
            <a:chExt cx="9144150" cy="617100"/>
          </a:xfrm>
        </p:grpSpPr>
        <p:sp>
          <p:nvSpPr>
            <p:cNvPr id="437" name="Google Shape;437;p40"/>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8" name="Google Shape;438;p40"/>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39" name="Google Shape;439;p40"/>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Multi-Metric Diagnosis</a:t>
            </a:r>
            <a:endParaRPr sz="2500">
              <a:solidFill>
                <a:schemeClr val="lt1"/>
              </a:solidFill>
              <a:latin typeface="Trebuchet MS"/>
              <a:ea typeface="Trebuchet MS"/>
              <a:cs typeface="Trebuchet MS"/>
              <a:sym typeface="Trebuchet MS"/>
            </a:endParaRPr>
          </a:p>
        </p:txBody>
      </p:sp>
      <p:pic>
        <p:nvPicPr>
          <p:cNvPr id="440" name="Google Shape;440;p40" title="metrics_scatter_mae_ndcg.png"/>
          <p:cNvPicPr preferRelativeResize="0"/>
          <p:nvPr/>
        </p:nvPicPr>
        <p:blipFill>
          <a:blip r:embed="rId3">
            <a:alphaModFix/>
          </a:blip>
          <a:stretch>
            <a:fillRect/>
          </a:stretch>
        </p:blipFill>
        <p:spPr>
          <a:xfrm>
            <a:off x="538725" y="824326"/>
            <a:ext cx="3999234" cy="3025989"/>
          </a:xfrm>
          <a:prstGeom prst="rect">
            <a:avLst/>
          </a:prstGeom>
          <a:noFill/>
          <a:ln>
            <a:noFill/>
          </a:ln>
        </p:spPr>
      </p:pic>
      <p:pic>
        <p:nvPicPr>
          <p:cNvPr id="441" name="Google Shape;441;p40" title="metrics_radar.png"/>
          <p:cNvPicPr preferRelativeResize="0"/>
          <p:nvPr/>
        </p:nvPicPr>
        <p:blipFill>
          <a:blip r:embed="rId4">
            <a:alphaModFix/>
          </a:blip>
          <a:stretch>
            <a:fillRect/>
          </a:stretch>
        </p:blipFill>
        <p:spPr>
          <a:xfrm>
            <a:off x="4896550" y="824324"/>
            <a:ext cx="3192443" cy="2942577"/>
          </a:xfrm>
          <a:prstGeom prst="rect">
            <a:avLst/>
          </a:prstGeom>
          <a:noFill/>
          <a:ln>
            <a:noFill/>
          </a:ln>
        </p:spPr>
      </p:pic>
      <p:sp>
        <p:nvSpPr>
          <p:cNvPr id="442" name="Google Shape;442;p40"/>
          <p:cNvSpPr/>
          <p:nvPr/>
        </p:nvSpPr>
        <p:spPr>
          <a:xfrm>
            <a:off x="6027777" y="3994167"/>
            <a:ext cx="19404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Needs Improvement</a:t>
            </a:r>
            <a:endParaRPr sz="1116">
              <a:solidFill>
                <a:srgbClr val="030303"/>
              </a:solidFill>
              <a:latin typeface="Trebuchet MS"/>
              <a:ea typeface="Trebuchet MS"/>
              <a:cs typeface="Trebuchet MS"/>
              <a:sym typeface="Trebuchet MS"/>
            </a:endParaRPr>
          </a:p>
        </p:txBody>
      </p:sp>
      <p:sp>
        <p:nvSpPr>
          <p:cNvPr id="443" name="Google Shape;443;p40"/>
          <p:cNvSpPr/>
          <p:nvPr/>
        </p:nvSpPr>
        <p:spPr>
          <a:xfrm>
            <a:off x="6027775" y="4267193"/>
            <a:ext cx="2659500" cy="33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ALS, Lasso, and KNN share common limitations in score calibration and ranking separation.</a:t>
            </a:r>
            <a:endParaRPr i="0" sz="913" u="none" cap="none" strike="noStrike"/>
          </a:p>
        </p:txBody>
      </p:sp>
      <p:sp>
        <p:nvSpPr>
          <p:cNvPr id="444" name="Google Shape;444;p40"/>
          <p:cNvSpPr/>
          <p:nvPr/>
        </p:nvSpPr>
        <p:spPr>
          <a:xfrm>
            <a:off x="3463519" y="3994167"/>
            <a:ext cx="21729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Lightweight Baseline</a:t>
            </a:r>
            <a:endParaRPr sz="1116">
              <a:solidFill>
                <a:srgbClr val="030303"/>
              </a:solidFill>
              <a:latin typeface="Trebuchet MS"/>
              <a:ea typeface="Trebuchet MS"/>
              <a:cs typeface="Trebuchet MS"/>
              <a:sym typeface="Trebuchet MS"/>
            </a:endParaRPr>
          </a:p>
          <a:p>
            <a:pPr indent="0" lvl="0" marL="0" marR="0" rtl="0" algn="l">
              <a:lnSpc>
                <a:spcPct val="125714"/>
              </a:lnSpc>
              <a:spcBef>
                <a:spcPts val="0"/>
              </a:spcBef>
              <a:spcAft>
                <a:spcPts val="0"/>
              </a:spcAft>
              <a:buClr>
                <a:srgbClr val="030303"/>
              </a:buClr>
              <a:buSzPts val="1115"/>
              <a:buFont typeface="DM Sans"/>
              <a:buNone/>
            </a:pPr>
            <a:r>
              <a:t/>
            </a:r>
            <a:endParaRPr sz="1116">
              <a:solidFill>
                <a:srgbClr val="030303"/>
              </a:solidFill>
              <a:latin typeface="Trebuchet MS"/>
              <a:ea typeface="Trebuchet MS"/>
              <a:cs typeface="Trebuchet MS"/>
              <a:sym typeface="Trebuchet MS"/>
            </a:endParaRPr>
          </a:p>
        </p:txBody>
      </p:sp>
      <p:sp>
        <p:nvSpPr>
          <p:cNvPr id="445" name="Google Shape;445;p40"/>
          <p:cNvSpPr/>
          <p:nvPr/>
        </p:nvSpPr>
        <p:spPr>
          <a:xfrm>
            <a:off x="3463550" y="4267193"/>
            <a:ext cx="2276400" cy="45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SVD-Ridge delivers ranking performance close to Deep Hybrid, with significantly lower training and interpretation cost.</a:t>
            </a:r>
            <a:endParaRPr i="0" sz="913" u="none" cap="none" strike="noStrike"/>
          </a:p>
        </p:txBody>
      </p:sp>
      <p:sp>
        <p:nvSpPr>
          <p:cNvPr id="446" name="Google Shape;446;p40"/>
          <p:cNvSpPr/>
          <p:nvPr/>
        </p:nvSpPr>
        <p:spPr>
          <a:xfrm>
            <a:off x="583575" y="3994167"/>
            <a:ext cx="17178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lang="zh-CN" sz="1116">
                <a:solidFill>
                  <a:srgbClr val="030303"/>
                </a:solidFill>
                <a:latin typeface="Trebuchet MS"/>
                <a:ea typeface="Trebuchet MS"/>
                <a:cs typeface="Trebuchet MS"/>
                <a:sym typeface="Trebuchet MS"/>
              </a:rPr>
              <a:t>Primary Model</a:t>
            </a:r>
            <a:endParaRPr sz="1116">
              <a:solidFill>
                <a:srgbClr val="030303"/>
              </a:solidFill>
              <a:latin typeface="Trebuchet MS"/>
              <a:ea typeface="Trebuchet MS"/>
              <a:cs typeface="Trebuchet MS"/>
              <a:sym typeface="Trebuchet MS"/>
            </a:endParaRPr>
          </a:p>
        </p:txBody>
      </p:sp>
      <p:sp>
        <p:nvSpPr>
          <p:cNvPr id="447" name="Google Shape;447;p40"/>
          <p:cNvSpPr/>
          <p:nvPr/>
        </p:nvSpPr>
        <p:spPr>
          <a:xfrm>
            <a:off x="583575" y="4267217"/>
            <a:ext cx="2498400" cy="51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Deep Hybrid achieves the best overall performance, making it suitable for scenarios that demand high recommendation quality.</a:t>
            </a:r>
            <a:endParaRPr i="0" sz="913" u="none" cap="none" strike="noStrike"/>
          </a:p>
        </p:txBody>
      </p:sp>
      <p:sp>
        <p:nvSpPr>
          <p:cNvPr id="448" name="Google Shape;448;p40"/>
          <p:cNvSpPr txBox="1"/>
          <p:nvPr/>
        </p:nvSpPr>
        <p:spPr>
          <a:xfrm>
            <a:off x="5527200" y="227750"/>
            <a:ext cx="3616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CN" sz="1200">
                <a:solidFill>
                  <a:schemeClr val="lt1"/>
                </a:solidFill>
                <a:latin typeface="Trebuchet MS"/>
                <a:ea typeface="Trebuchet MS"/>
                <a:cs typeface="Trebuchet MS"/>
                <a:sym typeface="Trebuchet MS"/>
              </a:rPr>
              <a:t>Model Roles Matter More Than a Single Ranking.</a:t>
            </a:r>
            <a:endParaRPr sz="1200">
              <a:solidFill>
                <a:schemeClr val="lt1"/>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pSp>
        <p:nvGrpSpPr>
          <p:cNvPr id="453" name="Google Shape;453;p41"/>
          <p:cNvGrpSpPr/>
          <p:nvPr/>
        </p:nvGrpSpPr>
        <p:grpSpPr>
          <a:xfrm>
            <a:off x="0" y="0"/>
            <a:ext cx="9144150" cy="617100"/>
            <a:chOff x="0" y="0"/>
            <a:chExt cx="9144150" cy="617100"/>
          </a:xfrm>
        </p:grpSpPr>
        <p:sp>
          <p:nvSpPr>
            <p:cNvPr id="454" name="Google Shape;454;p41"/>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5" name="Google Shape;455;p41"/>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56" name="Google Shape;456;p41"/>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Training Dynamics</a:t>
            </a:r>
            <a:endParaRPr sz="2500">
              <a:solidFill>
                <a:schemeClr val="lt1"/>
              </a:solidFill>
              <a:latin typeface="Trebuchet MS"/>
              <a:ea typeface="Trebuchet MS"/>
              <a:cs typeface="Trebuchet MS"/>
              <a:sym typeface="Trebuchet MS"/>
            </a:endParaRPr>
          </a:p>
        </p:txBody>
      </p:sp>
      <p:sp>
        <p:nvSpPr>
          <p:cNvPr id="457" name="Google Shape;457;p41"/>
          <p:cNvSpPr/>
          <p:nvPr/>
        </p:nvSpPr>
        <p:spPr>
          <a:xfrm>
            <a:off x="401275" y="936550"/>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29"/>
              <a:buFont typeface="DM Sans"/>
              <a:buNone/>
            </a:pPr>
            <a:r>
              <a:rPr i="0" lang="zh-CN" sz="1228" u="none" cap="none" strike="noStrike">
                <a:solidFill>
                  <a:srgbClr val="030303"/>
                </a:solidFill>
                <a:latin typeface="Trebuchet MS"/>
                <a:ea typeface="Trebuchet MS"/>
                <a:cs typeface="Trebuchet MS"/>
                <a:sym typeface="Trebuchet MS"/>
              </a:rPr>
              <a:t>MF-SGD</a:t>
            </a:r>
            <a:endParaRPr i="0" sz="1228" u="none" cap="none" strike="noStrike">
              <a:latin typeface="Trebuchet MS"/>
              <a:ea typeface="Trebuchet MS"/>
              <a:cs typeface="Trebuchet MS"/>
              <a:sym typeface="Trebuchet MS"/>
            </a:endParaRPr>
          </a:p>
        </p:txBody>
      </p:sp>
      <p:sp>
        <p:nvSpPr>
          <p:cNvPr id="458" name="Google Shape;458;p41"/>
          <p:cNvSpPr/>
          <p:nvPr/>
        </p:nvSpPr>
        <p:spPr>
          <a:xfrm>
            <a:off x="401275" y="1224864"/>
            <a:ext cx="2586300" cy="1046400"/>
          </a:xfrm>
          <a:prstGeom prst="roundRect">
            <a:avLst>
              <a:gd fmla="val 1679" name="adj"/>
            </a:avLst>
          </a:prstGeom>
          <a:solidFill>
            <a:srgbClr val="FFFFFF"/>
          </a:solidFill>
          <a:ln cap="flat" cmpd="sng" w="14725">
            <a:solidFill>
              <a:srgbClr val="D8D4D4"/>
            </a:solidFill>
            <a:prstDash val="solid"/>
            <a:round/>
            <a:headEnd len="sm" w="sm" type="none"/>
            <a:tailEnd len="sm" w="sm" type="none"/>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sp>
        <p:nvSpPr>
          <p:cNvPr id="459" name="Google Shape;459;p41"/>
          <p:cNvSpPr/>
          <p:nvPr/>
        </p:nvSpPr>
        <p:spPr>
          <a:xfrm>
            <a:off x="533136" y="1356725"/>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29"/>
              <a:buFont typeface="DM Sans"/>
              <a:buNone/>
            </a:pPr>
            <a:r>
              <a:rPr b="0" i="0" lang="zh-CN" sz="1129" u="none" cap="none" strike="noStrike">
                <a:solidFill>
                  <a:srgbClr val="464646"/>
                </a:solidFill>
                <a:latin typeface="DM Sans"/>
                <a:ea typeface="DM Sans"/>
                <a:cs typeface="DM Sans"/>
                <a:sym typeface="DM Sans"/>
              </a:rPr>
              <a:t>Behavior</a:t>
            </a:r>
            <a:endParaRPr b="0" i="0" sz="1129" u="none" cap="none" strike="noStrike"/>
          </a:p>
        </p:txBody>
      </p:sp>
      <p:sp>
        <p:nvSpPr>
          <p:cNvPr id="460" name="Google Shape;460;p41"/>
          <p:cNvSpPr/>
          <p:nvPr/>
        </p:nvSpPr>
        <p:spPr>
          <a:xfrm>
            <a:off x="533136" y="1633359"/>
            <a:ext cx="2322600" cy="505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904"/>
              <a:buFont typeface="Inter"/>
              <a:buNone/>
            </a:pPr>
            <a:r>
              <a:rPr b="0" i="0" lang="zh-CN" sz="904" u="none" cap="none" strike="noStrike">
                <a:solidFill>
                  <a:srgbClr val="464646"/>
                </a:solidFill>
                <a:latin typeface="Inter"/>
                <a:ea typeface="Inter"/>
                <a:cs typeface="Inter"/>
                <a:sym typeface="Inter"/>
              </a:rPr>
              <a:t>Rapid initial progress on training objective. Validation MAE/RMSE reverse direction within first few epochs.</a:t>
            </a:r>
            <a:endParaRPr b="0" i="0" sz="904" u="none" cap="none" strike="noStrike"/>
          </a:p>
        </p:txBody>
      </p:sp>
      <p:sp>
        <p:nvSpPr>
          <p:cNvPr id="461" name="Google Shape;461;p41"/>
          <p:cNvSpPr/>
          <p:nvPr/>
        </p:nvSpPr>
        <p:spPr>
          <a:xfrm>
            <a:off x="401275" y="2364670"/>
            <a:ext cx="2586300" cy="1046400"/>
          </a:xfrm>
          <a:prstGeom prst="roundRect">
            <a:avLst>
              <a:gd fmla="val 1679" name="adj"/>
            </a:avLst>
          </a:prstGeom>
          <a:solidFill>
            <a:srgbClr val="FFFFFF"/>
          </a:solidFill>
          <a:ln cap="flat" cmpd="sng" w="14725">
            <a:solidFill>
              <a:srgbClr val="D8D4D4"/>
            </a:solidFill>
            <a:prstDash val="solid"/>
            <a:round/>
            <a:headEnd len="sm" w="sm" type="none"/>
            <a:tailEnd len="sm" w="sm" type="none"/>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sp>
        <p:nvSpPr>
          <p:cNvPr id="462" name="Google Shape;462;p41"/>
          <p:cNvSpPr/>
          <p:nvPr/>
        </p:nvSpPr>
        <p:spPr>
          <a:xfrm>
            <a:off x="533136" y="2496532"/>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29"/>
              <a:buFont typeface="DM Sans"/>
              <a:buNone/>
            </a:pPr>
            <a:r>
              <a:rPr b="0" i="0" lang="zh-CN" sz="1129" u="none" cap="none" strike="noStrike">
                <a:solidFill>
                  <a:srgbClr val="464646"/>
                </a:solidFill>
                <a:latin typeface="DM Sans"/>
                <a:ea typeface="DM Sans"/>
                <a:cs typeface="DM Sans"/>
                <a:sym typeface="DM Sans"/>
              </a:rPr>
              <a:t>Best Checkpoint</a:t>
            </a:r>
            <a:endParaRPr b="0" i="0" sz="1129" u="none" cap="none" strike="noStrike"/>
          </a:p>
        </p:txBody>
      </p:sp>
      <p:sp>
        <p:nvSpPr>
          <p:cNvPr id="463" name="Google Shape;463;p41"/>
          <p:cNvSpPr/>
          <p:nvPr/>
        </p:nvSpPr>
        <p:spPr>
          <a:xfrm>
            <a:off x="533136" y="2773165"/>
            <a:ext cx="2322600" cy="505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904"/>
              <a:buFont typeface="Inter"/>
              <a:buNone/>
            </a:pPr>
            <a:r>
              <a:rPr b="0" i="0" lang="zh-CN" sz="904" u="none" cap="none" strike="noStrike">
                <a:solidFill>
                  <a:srgbClr val="464646"/>
                </a:solidFill>
                <a:latin typeface="Inter"/>
                <a:ea typeface="Inter"/>
                <a:cs typeface="Inter"/>
                <a:sym typeface="Inter"/>
              </a:rPr>
              <a:t>Typically epoch 2–4 despite training up to 150 epochs. Early stopping (patience 6) is essential.</a:t>
            </a:r>
            <a:endParaRPr b="0" i="0" sz="904" u="none" cap="none" strike="noStrike"/>
          </a:p>
        </p:txBody>
      </p:sp>
      <p:sp>
        <p:nvSpPr>
          <p:cNvPr id="464" name="Google Shape;464;p41"/>
          <p:cNvSpPr/>
          <p:nvPr/>
        </p:nvSpPr>
        <p:spPr>
          <a:xfrm>
            <a:off x="401275" y="3516156"/>
            <a:ext cx="2586300" cy="771600"/>
          </a:xfrm>
          <a:prstGeom prst="roundRect">
            <a:avLst>
              <a:gd fmla="val 2277" name="adj"/>
            </a:avLst>
          </a:prstGeom>
          <a:solidFill>
            <a:srgbClr val="B6D6FC"/>
          </a:solidFill>
          <a:ln>
            <a:noFill/>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pic>
        <p:nvPicPr>
          <p:cNvPr descr="preencoded.png" id="465" name="Google Shape;465;p41"/>
          <p:cNvPicPr preferRelativeResize="0"/>
          <p:nvPr/>
        </p:nvPicPr>
        <p:blipFill rotWithShape="1">
          <a:blip r:embed="rId3">
            <a:alphaModFix/>
          </a:blip>
          <a:srcRect b="0" l="0" r="0" t="0"/>
          <a:stretch/>
        </p:blipFill>
        <p:spPr>
          <a:xfrm>
            <a:off x="518382" y="3682981"/>
            <a:ext cx="146384" cy="117107"/>
          </a:xfrm>
          <a:prstGeom prst="rect">
            <a:avLst/>
          </a:prstGeom>
          <a:noFill/>
          <a:ln>
            <a:noFill/>
          </a:ln>
        </p:spPr>
      </p:pic>
      <p:sp>
        <p:nvSpPr>
          <p:cNvPr id="466" name="Google Shape;466;p41"/>
          <p:cNvSpPr/>
          <p:nvPr/>
        </p:nvSpPr>
        <p:spPr>
          <a:xfrm>
            <a:off x="781876" y="3639105"/>
            <a:ext cx="2088600" cy="5703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904"/>
              <a:buFont typeface="Inter"/>
              <a:buNone/>
            </a:pPr>
            <a:r>
              <a:rPr b="0" i="0" lang="zh-CN" sz="904" u="none" cap="none" strike="noStrike">
                <a:solidFill>
                  <a:srgbClr val="000000"/>
                </a:solidFill>
                <a:latin typeface="Inter"/>
                <a:ea typeface="Inter"/>
                <a:cs typeface="Inter"/>
                <a:sym typeface="Inter"/>
              </a:rPr>
              <a:t>Train error ↓ continuously; val error ↑ after epoch 4 → checkpoint restoration critical.</a:t>
            </a:r>
            <a:endParaRPr b="0" i="0" sz="904" u="none" cap="none" strike="noStrike"/>
          </a:p>
        </p:txBody>
      </p:sp>
      <p:sp>
        <p:nvSpPr>
          <p:cNvPr id="467" name="Google Shape;467;p41"/>
          <p:cNvSpPr/>
          <p:nvPr/>
        </p:nvSpPr>
        <p:spPr>
          <a:xfrm>
            <a:off x="3278317" y="936550"/>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29"/>
              <a:buFont typeface="DM Sans"/>
              <a:buNone/>
            </a:pPr>
            <a:r>
              <a:rPr i="0" lang="zh-CN" sz="1228" u="none" cap="none" strike="noStrike">
                <a:solidFill>
                  <a:srgbClr val="030303"/>
                </a:solidFill>
                <a:latin typeface="Trebuchet MS"/>
                <a:ea typeface="Trebuchet MS"/>
                <a:cs typeface="Trebuchet MS"/>
                <a:sym typeface="Trebuchet MS"/>
              </a:rPr>
              <a:t>Deep Hybrid</a:t>
            </a:r>
            <a:endParaRPr i="0" sz="1228" u="none" cap="none" strike="noStrike">
              <a:latin typeface="Trebuchet MS"/>
              <a:ea typeface="Trebuchet MS"/>
              <a:cs typeface="Trebuchet MS"/>
              <a:sym typeface="Trebuchet MS"/>
            </a:endParaRPr>
          </a:p>
        </p:txBody>
      </p:sp>
      <p:sp>
        <p:nvSpPr>
          <p:cNvPr id="468" name="Google Shape;468;p41"/>
          <p:cNvSpPr/>
          <p:nvPr/>
        </p:nvSpPr>
        <p:spPr>
          <a:xfrm>
            <a:off x="3278317" y="1224864"/>
            <a:ext cx="2673900" cy="1046400"/>
          </a:xfrm>
          <a:prstGeom prst="roundRect">
            <a:avLst>
              <a:gd fmla="val 1679" name="adj"/>
            </a:avLst>
          </a:prstGeom>
          <a:solidFill>
            <a:srgbClr val="FFFFFF"/>
          </a:solidFill>
          <a:ln cap="flat" cmpd="sng" w="14725">
            <a:solidFill>
              <a:srgbClr val="D8D4D4"/>
            </a:solidFill>
            <a:prstDash val="solid"/>
            <a:round/>
            <a:headEnd len="sm" w="sm" type="none"/>
            <a:tailEnd len="sm" w="sm" type="none"/>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sp>
        <p:nvSpPr>
          <p:cNvPr id="469" name="Google Shape;469;p41"/>
          <p:cNvSpPr/>
          <p:nvPr/>
        </p:nvSpPr>
        <p:spPr>
          <a:xfrm>
            <a:off x="3410178" y="1356725"/>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29"/>
              <a:buFont typeface="DM Sans"/>
              <a:buNone/>
            </a:pPr>
            <a:r>
              <a:rPr b="0" i="0" lang="zh-CN" sz="1129" u="none" cap="none" strike="noStrike">
                <a:solidFill>
                  <a:srgbClr val="464646"/>
                </a:solidFill>
                <a:latin typeface="DM Sans"/>
                <a:ea typeface="DM Sans"/>
                <a:cs typeface="DM Sans"/>
                <a:sym typeface="DM Sans"/>
              </a:rPr>
              <a:t>Behavior</a:t>
            </a:r>
            <a:endParaRPr b="0" i="0" sz="1129" u="none" cap="none" strike="noStrike"/>
          </a:p>
        </p:txBody>
      </p:sp>
      <p:sp>
        <p:nvSpPr>
          <p:cNvPr id="470" name="Google Shape;470;p41"/>
          <p:cNvSpPr/>
          <p:nvPr/>
        </p:nvSpPr>
        <p:spPr>
          <a:xfrm>
            <a:off x="3410178" y="1633359"/>
            <a:ext cx="2409600" cy="505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904"/>
              <a:buFont typeface="Inter"/>
              <a:buNone/>
            </a:pPr>
            <a:r>
              <a:rPr b="0" i="0" lang="zh-CN" sz="904" u="none" cap="none" strike="noStrike">
                <a:solidFill>
                  <a:srgbClr val="464646"/>
                </a:solidFill>
                <a:latin typeface="Inter"/>
                <a:ea typeface="Inter"/>
                <a:cs typeface="Inter"/>
                <a:sym typeface="Inter"/>
              </a:rPr>
              <a:t>Smooth convergence under Huber loss with GPU minibatches (batch=65,536). Validation metrics improve steadily.</a:t>
            </a:r>
            <a:endParaRPr b="0" i="0" sz="904" u="none" cap="none" strike="noStrike"/>
          </a:p>
        </p:txBody>
      </p:sp>
      <p:sp>
        <p:nvSpPr>
          <p:cNvPr id="471" name="Google Shape;471;p41"/>
          <p:cNvSpPr/>
          <p:nvPr/>
        </p:nvSpPr>
        <p:spPr>
          <a:xfrm>
            <a:off x="3278317" y="2364670"/>
            <a:ext cx="2673900" cy="1046400"/>
          </a:xfrm>
          <a:prstGeom prst="roundRect">
            <a:avLst>
              <a:gd fmla="val 1679" name="adj"/>
            </a:avLst>
          </a:prstGeom>
          <a:solidFill>
            <a:srgbClr val="FFFFFF"/>
          </a:solidFill>
          <a:ln cap="flat" cmpd="sng" w="14725">
            <a:solidFill>
              <a:srgbClr val="D8D4D4"/>
            </a:solidFill>
            <a:prstDash val="solid"/>
            <a:round/>
            <a:headEnd len="sm" w="sm" type="none"/>
            <a:tailEnd len="sm" w="sm" type="none"/>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sp>
        <p:nvSpPr>
          <p:cNvPr id="472" name="Google Shape;472;p41"/>
          <p:cNvSpPr/>
          <p:nvPr/>
        </p:nvSpPr>
        <p:spPr>
          <a:xfrm>
            <a:off x="3410178" y="2496532"/>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29"/>
              <a:buFont typeface="DM Sans"/>
              <a:buNone/>
            </a:pPr>
            <a:r>
              <a:rPr b="0" i="0" lang="zh-CN" sz="1129" u="none" cap="none" strike="noStrike">
                <a:solidFill>
                  <a:srgbClr val="464646"/>
                </a:solidFill>
                <a:latin typeface="DM Sans"/>
                <a:ea typeface="DM Sans"/>
                <a:cs typeface="DM Sans"/>
                <a:sym typeface="DM Sans"/>
              </a:rPr>
              <a:t>Best Checkpoint</a:t>
            </a:r>
            <a:endParaRPr b="0" i="0" sz="1129" u="none" cap="none" strike="noStrike"/>
          </a:p>
        </p:txBody>
      </p:sp>
      <p:sp>
        <p:nvSpPr>
          <p:cNvPr id="473" name="Google Shape;473;p41"/>
          <p:cNvSpPr/>
          <p:nvPr/>
        </p:nvSpPr>
        <p:spPr>
          <a:xfrm>
            <a:off x="3410178" y="2773165"/>
            <a:ext cx="2409600" cy="505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904"/>
              <a:buFont typeface="Inter"/>
              <a:buNone/>
            </a:pPr>
            <a:r>
              <a:rPr b="0" i="0" lang="zh-CN" sz="904" u="none" cap="none" strike="noStrike">
                <a:solidFill>
                  <a:srgbClr val="464646"/>
                </a:solidFill>
                <a:latin typeface="Inter"/>
                <a:ea typeface="Inter"/>
                <a:cs typeface="Inter"/>
                <a:sym typeface="Inter"/>
              </a:rPr>
              <a:t>Epoch 48 of 50-epoch run. ReduceLROnPlateau triggers LR reductions, stabilizing training.</a:t>
            </a:r>
            <a:endParaRPr b="0" i="0" sz="904" u="none" cap="none" strike="noStrike"/>
          </a:p>
        </p:txBody>
      </p:sp>
      <p:sp>
        <p:nvSpPr>
          <p:cNvPr id="474" name="Google Shape;474;p41"/>
          <p:cNvSpPr/>
          <p:nvPr/>
        </p:nvSpPr>
        <p:spPr>
          <a:xfrm>
            <a:off x="3278317" y="3516156"/>
            <a:ext cx="2673900" cy="771600"/>
          </a:xfrm>
          <a:prstGeom prst="roundRect">
            <a:avLst>
              <a:gd fmla="val 2277" name="adj"/>
            </a:avLst>
          </a:prstGeom>
          <a:solidFill>
            <a:srgbClr val="B6D6FC"/>
          </a:solidFill>
          <a:ln>
            <a:noFill/>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pic>
        <p:nvPicPr>
          <p:cNvPr descr="preencoded.png" id="475" name="Google Shape;475;p41"/>
          <p:cNvPicPr preferRelativeResize="0"/>
          <p:nvPr/>
        </p:nvPicPr>
        <p:blipFill rotWithShape="1">
          <a:blip r:embed="rId3">
            <a:alphaModFix/>
          </a:blip>
          <a:srcRect b="0" l="0" r="0" t="0"/>
          <a:stretch/>
        </p:blipFill>
        <p:spPr>
          <a:xfrm>
            <a:off x="3395424" y="3682981"/>
            <a:ext cx="146384" cy="117107"/>
          </a:xfrm>
          <a:prstGeom prst="rect">
            <a:avLst/>
          </a:prstGeom>
          <a:noFill/>
          <a:ln>
            <a:noFill/>
          </a:ln>
        </p:spPr>
      </p:pic>
      <p:sp>
        <p:nvSpPr>
          <p:cNvPr id="476" name="Google Shape;476;p41"/>
          <p:cNvSpPr/>
          <p:nvPr/>
        </p:nvSpPr>
        <p:spPr>
          <a:xfrm>
            <a:off x="3658908" y="3639105"/>
            <a:ext cx="2175300" cy="5703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904"/>
              <a:buFont typeface="Inter"/>
              <a:buNone/>
            </a:pPr>
            <a:r>
              <a:rPr b="0" i="0" lang="zh-CN" sz="904" u="none" cap="none" strike="noStrike">
                <a:solidFill>
                  <a:srgbClr val="000000"/>
                </a:solidFill>
                <a:latin typeface="Inter"/>
                <a:ea typeface="Inter"/>
                <a:cs typeface="Inter"/>
                <a:sym typeface="Inter"/>
              </a:rPr>
              <a:t>Content features (title CNN + genre) help denoise tail items, improving both RMSE and NDCG.</a:t>
            </a:r>
            <a:endParaRPr b="0" i="0" sz="904" u="none" cap="none" strike="noStrike"/>
          </a:p>
        </p:txBody>
      </p:sp>
      <p:sp>
        <p:nvSpPr>
          <p:cNvPr id="477" name="Google Shape;477;p41"/>
          <p:cNvSpPr/>
          <p:nvPr/>
        </p:nvSpPr>
        <p:spPr>
          <a:xfrm>
            <a:off x="6242344" y="936550"/>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29"/>
              <a:buFont typeface="DM Sans"/>
              <a:buNone/>
            </a:pPr>
            <a:r>
              <a:rPr i="0" lang="zh-CN" sz="1228" u="none" cap="none" strike="noStrike">
                <a:solidFill>
                  <a:srgbClr val="030303"/>
                </a:solidFill>
                <a:latin typeface="Trebuchet MS"/>
                <a:ea typeface="Trebuchet MS"/>
                <a:cs typeface="Trebuchet MS"/>
                <a:sym typeface="Trebuchet MS"/>
              </a:rPr>
              <a:t>MF-ALS</a:t>
            </a:r>
            <a:endParaRPr i="0" sz="1228" u="none" cap="none" strike="noStrike">
              <a:latin typeface="Trebuchet MS"/>
              <a:ea typeface="Trebuchet MS"/>
              <a:cs typeface="Trebuchet MS"/>
              <a:sym typeface="Trebuchet MS"/>
            </a:endParaRPr>
          </a:p>
        </p:txBody>
      </p:sp>
      <p:sp>
        <p:nvSpPr>
          <p:cNvPr id="478" name="Google Shape;478;p41"/>
          <p:cNvSpPr/>
          <p:nvPr/>
        </p:nvSpPr>
        <p:spPr>
          <a:xfrm>
            <a:off x="6242344" y="1224864"/>
            <a:ext cx="2586300" cy="1046400"/>
          </a:xfrm>
          <a:prstGeom prst="roundRect">
            <a:avLst>
              <a:gd fmla="val 1679" name="adj"/>
            </a:avLst>
          </a:prstGeom>
          <a:solidFill>
            <a:srgbClr val="FFFFFF"/>
          </a:solidFill>
          <a:ln cap="flat" cmpd="sng" w="14725">
            <a:solidFill>
              <a:srgbClr val="D8D4D4"/>
            </a:solidFill>
            <a:prstDash val="solid"/>
            <a:round/>
            <a:headEnd len="sm" w="sm" type="none"/>
            <a:tailEnd len="sm" w="sm" type="none"/>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sp>
        <p:nvSpPr>
          <p:cNvPr id="479" name="Google Shape;479;p41"/>
          <p:cNvSpPr/>
          <p:nvPr/>
        </p:nvSpPr>
        <p:spPr>
          <a:xfrm>
            <a:off x="6374205" y="1356725"/>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29"/>
              <a:buFont typeface="DM Sans"/>
              <a:buNone/>
            </a:pPr>
            <a:r>
              <a:rPr b="0" i="0" lang="zh-CN" sz="1129" u="none" cap="none" strike="noStrike">
                <a:solidFill>
                  <a:srgbClr val="464646"/>
                </a:solidFill>
                <a:latin typeface="DM Sans"/>
                <a:ea typeface="DM Sans"/>
                <a:cs typeface="DM Sans"/>
                <a:sym typeface="DM Sans"/>
              </a:rPr>
              <a:t>Behavior</a:t>
            </a:r>
            <a:endParaRPr b="0" i="0" sz="1129" u="none" cap="none" strike="noStrike"/>
          </a:p>
        </p:txBody>
      </p:sp>
      <p:sp>
        <p:nvSpPr>
          <p:cNvPr id="480" name="Google Shape;480;p41"/>
          <p:cNvSpPr/>
          <p:nvPr/>
        </p:nvSpPr>
        <p:spPr>
          <a:xfrm>
            <a:off x="6374205" y="1633359"/>
            <a:ext cx="2322600" cy="505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904"/>
              <a:buFont typeface="Inter"/>
              <a:buNone/>
            </a:pPr>
            <a:r>
              <a:rPr b="0" i="0" lang="zh-CN" sz="904" u="none" cap="none" strike="noStrike">
                <a:solidFill>
                  <a:srgbClr val="464646"/>
                </a:solidFill>
                <a:latin typeface="Inter"/>
                <a:ea typeface="Inter"/>
                <a:cs typeface="Inter"/>
                <a:sym typeface="Inter"/>
              </a:rPr>
              <a:t>Training error decreases monotonically. Validation error plateaus then drifts — train/val divergence.</a:t>
            </a:r>
            <a:endParaRPr b="0" i="0" sz="904" u="none" cap="none" strike="noStrike"/>
          </a:p>
        </p:txBody>
      </p:sp>
      <p:sp>
        <p:nvSpPr>
          <p:cNvPr id="481" name="Google Shape;481;p41"/>
          <p:cNvSpPr/>
          <p:nvPr/>
        </p:nvSpPr>
        <p:spPr>
          <a:xfrm>
            <a:off x="6242344" y="2364670"/>
            <a:ext cx="2586300" cy="1046400"/>
          </a:xfrm>
          <a:prstGeom prst="roundRect">
            <a:avLst>
              <a:gd fmla="val 1679" name="adj"/>
            </a:avLst>
          </a:prstGeom>
          <a:solidFill>
            <a:srgbClr val="FFFFFF"/>
          </a:solidFill>
          <a:ln cap="flat" cmpd="sng" w="14725">
            <a:solidFill>
              <a:srgbClr val="D8D4D4"/>
            </a:solidFill>
            <a:prstDash val="solid"/>
            <a:round/>
            <a:headEnd len="sm" w="sm" type="none"/>
            <a:tailEnd len="sm" w="sm" type="none"/>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sp>
        <p:nvSpPr>
          <p:cNvPr id="482" name="Google Shape;482;p41"/>
          <p:cNvSpPr/>
          <p:nvPr/>
        </p:nvSpPr>
        <p:spPr>
          <a:xfrm>
            <a:off x="6374205" y="2496532"/>
            <a:ext cx="1463700" cy="183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29"/>
              <a:buFont typeface="DM Sans"/>
              <a:buNone/>
            </a:pPr>
            <a:r>
              <a:rPr b="0" i="0" lang="zh-CN" sz="1129" u="none" cap="none" strike="noStrike">
                <a:solidFill>
                  <a:srgbClr val="464646"/>
                </a:solidFill>
                <a:latin typeface="DM Sans"/>
                <a:ea typeface="DM Sans"/>
                <a:cs typeface="DM Sans"/>
                <a:sym typeface="DM Sans"/>
              </a:rPr>
              <a:t>Best Checkpoint</a:t>
            </a:r>
            <a:endParaRPr b="0" i="0" sz="1129" u="none" cap="none" strike="noStrike"/>
          </a:p>
        </p:txBody>
      </p:sp>
      <p:sp>
        <p:nvSpPr>
          <p:cNvPr id="483" name="Google Shape;483;p41"/>
          <p:cNvSpPr/>
          <p:nvPr/>
        </p:nvSpPr>
        <p:spPr>
          <a:xfrm>
            <a:off x="6374205" y="2773165"/>
            <a:ext cx="2322600" cy="5058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904"/>
              <a:buFont typeface="Inter"/>
              <a:buNone/>
            </a:pPr>
            <a:r>
              <a:rPr b="0" i="0" lang="zh-CN" sz="904" u="none" cap="none" strike="noStrike">
                <a:solidFill>
                  <a:srgbClr val="464646"/>
                </a:solidFill>
                <a:latin typeface="Inter"/>
                <a:ea typeface="Inter"/>
                <a:cs typeface="Inter"/>
                <a:sym typeface="Inter"/>
              </a:rPr>
              <a:t>Early stopping triggers at epoch 12; restores epoch-6 checkpoint (k=96, λ=0.16).</a:t>
            </a:r>
            <a:endParaRPr b="0" i="0" sz="904" u="none" cap="none" strike="noStrike"/>
          </a:p>
        </p:txBody>
      </p:sp>
      <p:sp>
        <p:nvSpPr>
          <p:cNvPr id="484" name="Google Shape;484;p41"/>
          <p:cNvSpPr/>
          <p:nvPr/>
        </p:nvSpPr>
        <p:spPr>
          <a:xfrm>
            <a:off x="6242344" y="3516154"/>
            <a:ext cx="2586300" cy="1206300"/>
          </a:xfrm>
          <a:prstGeom prst="roundRect">
            <a:avLst>
              <a:gd fmla="val 1584" name="adj"/>
            </a:avLst>
          </a:prstGeom>
          <a:solidFill>
            <a:srgbClr val="FCF2B5"/>
          </a:solidFill>
          <a:ln>
            <a:noFill/>
          </a:ln>
        </p:spPr>
        <p:txBody>
          <a:bodyPr anchorCtr="0" anchor="ctr" bIns="59000" lIns="59000" spcFirstLastPara="1" rIns="59000" wrap="square" tIns="59000">
            <a:noAutofit/>
          </a:bodyPr>
          <a:lstStyle/>
          <a:p>
            <a:pPr indent="0" lvl="0" marL="0" rtl="0" algn="l">
              <a:spcBef>
                <a:spcPts val="0"/>
              </a:spcBef>
              <a:spcAft>
                <a:spcPts val="0"/>
              </a:spcAft>
              <a:buNone/>
            </a:pPr>
            <a:r>
              <a:t/>
            </a:r>
            <a:endParaRPr/>
          </a:p>
        </p:txBody>
      </p:sp>
      <p:pic>
        <p:nvPicPr>
          <p:cNvPr descr="preencoded.png" id="485" name="Google Shape;485;p41"/>
          <p:cNvPicPr preferRelativeResize="0"/>
          <p:nvPr/>
        </p:nvPicPr>
        <p:blipFill rotWithShape="1">
          <a:blip r:embed="rId4">
            <a:alphaModFix/>
          </a:blip>
          <a:srcRect b="0" l="0" r="0" t="0"/>
          <a:stretch/>
        </p:blipFill>
        <p:spPr>
          <a:xfrm>
            <a:off x="6359451" y="3682981"/>
            <a:ext cx="146384" cy="117107"/>
          </a:xfrm>
          <a:prstGeom prst="rect">
            <a:avLst/>
          </a:prstGeom>
          <a:noFill/>
          <a:ln>
            <a:noFill/>
          </a:ln>
        </p:spPr>
      </p:pic>
      <p:sp>
        <p:nvSpPr>
          <p:cNvPr id="486" name="Google Shape;486;p41"/>
          <p:cNvSpPr/>
          <p:nvPr/>
        </p:nvSpPr>
        <p:spPr>
          <a:xfrm>
            <a:off x="6622945" y="3639105"/>
            <a:ext cx="2088600" cy="9897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904"/>
              <a:buFont typeface="Inter"/>
              <a:buNone/>
            </a:pPr>
            <a:r>
              <a:rPr b="0" i="0" lang="zh-CN" sz="904" u="none" cap="none" strike="noStrike">
                <a:solidFill>
                  <a:srgbClr val="000000"/>
                </a:solidFill>
                <a:latin typeface="Inter"/>
                <a:ea typeface="Inter"/>
                <a:cs typeface="Inter"/>
                <a:sym typeface="Inter"/>
              </a:rPr>
              <a:t>Current preset is a baseline, not a fundamental limit. Large-scale MF-ALS requires rank/reg sweep, preconditioning, and possibly implicit-feedback formulation.</a:t>
            </a:r>
            <a:endParaRPr b="0" i="0" sz="904"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grpSp>
        <p:nvGrpSpPr>
          <p:cNvPr id="491" name="Google Shape;491;p42"/>
          <p:cNvGrpSpPr/>
          <p:nvPr/>
        </p:nvGrpSpPr>
        <p:grpSpPr>
          <a:xfrm>
            <a:off x="0" y="0"/>
            <a:ext cx="9144150" cy="617100"/>
            <a:chOff x="0" y="0"/>
            <a:chExt cx="9144150" cy="617100"/>
          </a:xfrm>
        </p:grpSpPr>
        <p:sp>
          <p:nvSpPr>
            <p:cNvPr id="492" name="Google Shape;492;p42"/>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3" name="Google Shape;493;p42"/>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94" name="Google Shape;494;p42"/>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Feature-Block Ablation </a:t>
            </a:r>
            <a:r>
              <a:rPr lang="zh-CN" sz="2500">
                <a:solidFill>
                  <a:schemeClr val="lt1"/>
                </a:solidFill>
                <a:latin typeface="Arial"/>
                <a:ea typeface="Arial"/>
                <a:cs typeface="Arial"/>
                <a:sym typeface="Arial"/>
              </a:rPr>
              <a:t>&amp;</a:t>
            </a:r>
            <a:r>
              <a:rPr lang="zh-CN" sz="2500">
                <a:solidFill>
                  <a:schemeClr val="lt1"/>
                </a:solidFill>
                <a:latin typeface="Trebuchet MS"/>
                <a:ea typeface="Trebuchet MS"/>
                <a:cs typeface="Trebuchet MS"/>
                <a:sym typeface="Trebuchet MS"/>
              </a:rPr>
              <a:t> Latent Factor Analysis</a:t>
            </a:r>
            <a:endParaRPr sz="2500">
              <a:solidFill>
                <a:schemeClr val="lt1"/>
              </a:solidFill>
              <a:latin typeface="Trebuchet MS"/>
              <a:ea typeface="Trebuchet MS"/>
              <a:cs typeface="Trebuchet MS"/>
              <a:sym typeface="Trebuchet MS"/>
            </a:endParaRPr>
          </a:p>
        </p:txBody>
      </p:sp>
      <p:sp>
        <p:nvSpPr>
          <p:cNvPr id="495" name="Google Shape;495;p42"/>
          <p:cNvSpPr/>
          <p:nvPr/>
        </p:nvSpPr>
        <p:spPr>
          <a:xfrm>
            <a:off x="400038" y="907825"/>
            <a:ext cx="39180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9"/>
              <a:buFont typeface="DM Sans"/>
              <a:buNone/>
            </a:pPr>
            <a:r>
              <a:rPr i="0" lang="zh-CN" sz="1119" u="none" cap="none" strike="noStrike">
                <a:solidFill>
                  <a:srgbClr val="030303"/>
                </a:solidFill>
                <a:latin typeface="Trebuchet MS"/>
                <a:ea typeface="Trebuchet MS"/>
                <a:cs typeface="Trebuchet MS"/>
                <a:sym typeface="Trebuchet MS"/>
              </a:rPr>
              <a:t>Feature-Block Ablation (MovieLens-Small-</a:t>
            </a:r>
            <a:r>
              <a:rPr lang="zh-CN" sz="1119">
                <a:solidFill>
                  <a:srgbClr val="030303"/>
                </a:solidFill>
                <a:latin typeface="Trebuchet MS"/>
                <a:ea typeface="Trebuchet MS"/>
                <a:cs typeface="Trebuchet MS"/>
                <a:sym typeface="Trebuchet MS"/>
              </a:rPr>
              <a:t>1M</a:t>
            </a:r>
            <a:r>
              <a:rPr i="0" lang="zh-CN" sz="1119" u="none" cap="none" strike="noStrike">
                <a:solidFill>
                  <a:srgbClr val="030303"/>
                </a:solidFill>
                <a:latin typeface="Trebuchet MS"/>
                <a:ea typeface="Trebuchet MS"/>
                <a:cs typeface="Trebuchet MS"/>
                <a:sym typeface="Trebuchet MS"/>
              </a:rPr>
              <a:t>, Linear Probe)</a:t>
            </a:r>
            <a:endParaRPr i="0" sz="1119" u="none" cap="none" strike="noStrike">
              <a:latin typeface="Trebuchet MS"/>
              <a:ea typeface="Trebuchet MS"/>
              <a:cs typeface="Trebuchet MS"/>
              <a:sym typeface="Trebuchet MS"/>
            </a:endParaRPr>
          </a:p>
        </p:txBody>
      </p:sp>
      <p:sp>
        <p:nvSpPr>
          <p:cNvPr id="496" name="Google Shape;496;p42"/>
          <p:cNvSpPr/>
          <p:nvPr/>
        </p:nvSpPr>
        <p:spPr>
          <a:xfrm>
            <a:off x="400038" y="1181863"/>
            <a:ext cx="4027800" cy="3339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b="0" i="0" lang="zh-CN" sz="895" u="none" cap="none" strike="noStrike">
                <a:solidFill>
                  <a:srgbClr val="464646"/>
                </a:solidFill>
                <a:latin typeface="Inter"/>
                <a:ea typeface="Inter"/>
                <a:cs typeface="Inter"/>
                <a:sym typeface="Inter"/>
              </a:rPr>
              <a:t>Auxiliary study to understand which feature blocks contribute most to rating prediction beyond collaborative filtering.</a:t>
            </a:r>
            <a:endParaRPr b="0" i="0" sz="895" u="none" cap="none" strike="noStrike"/>
          </a:p>
        </p:txBody>
      </p:sp>
      <p:sp>
        <p:nvSpPr>
          <p:cNvPr id="497" name="Google Shape;497;p42"/>
          <p:cNvSpPr/>
          <p:nvPr/>
        </p:nvSpPr>
        <p:spPr>
          <a:xfrm>
            <a:off x="400050" y="3379025"/>
            <a:ext cx="3882900" cy="5916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b="0" i="0" lang="zh-CN" sz="895" u="none" cap="none" strike="noStrike">
                <a:solidFill>
                  <a:srgbClr val="464646"/>
                </a:solidFill>
                <a:latin typeface="Inter"/>
                <a:ea typeface="Inter"/>
                <a:cs typeface="Inter"/>
                <a:sym typeface="Inter"/>
              </a:rPr>
              <a:t>Feature blocks: (1) Content: genre indicators, genre count, release year, interaction year. (2) Engagement: log user activity, log item popularity, log tag count. (3) Noise: two random Gaussian features (control).</a:t>
            </a:r>
            <a:endParaRPr b="0" i="0" sz="895" u="none" cap="none" strike="noStrike"/>
          </a:p>
        </p:txBody>
      </p:sp>
      <p:sp>
        <p:nvSpPr>
          <p:cNvPr id="498" name="Google Shape;498;p42"/>
          <p:cNvSpPr/>
          <p:nvPr/>
        </p:nvSpPr>
        <p:spPr>
          <a:xfrm>
            <a:off x="400050" y="4044275"/>
            <a:ext cx="3918000" cy="764400"/>
          </a:xfrm>
          <a:prstGeom prst="roundRect">
            <a:avLst>
              <a:gd fmla="val 2277" name="adj"/>
            </a:avLst>
          </a:prstGeom>
          <a:solidFill>
            <a:srgbClr val="B6D6FC"/>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pic>
        <p:nvPicPr>
          <p:cNvPr descr="preencoded.png" id="499" name="Google Shape;499;p42"/>
          <p:cNvPicPr preferRelativeResize="0"/>
          <p:nvPr/>
        </p:nvPicPr>
        <p:blipFill rotWithShape="1">
          <a:blip r:embed="rId3">
            <a:alphaModFix/>
          </a:blip>
          <a:srcRect b="0" l="0" r="0" t="0"/>
          <a:stretch/>
        </p:blipFill>
        <p:spPr>
          <a:xfrm>
            <a:off x="540971" y="4166043"/>
            <a:ext cx="145011" cy="116009"/>
          </a:xfrm>
          <a:prstGeom prst="rect">
            <a:avLst/>
          </a:prstGeom>
          <a:noFill/>
          <a:ln>
            <a:noFill/>
          </a:ln>
        </p:spPr>
      </p:pic>
      <p:sp>
        <p:nvSpPr>
          <p:cNvPr id="500" name="Google Shape;500;p42"/>
          <p:cNvSpPr/>
          <p:nvPr/>
        </p:nvSpPr>
        <p:spPr>
          <a:xfrm>
            <a:off x="777075" y="4166049"/>
            <a:ext cx="3534900" cy="5916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895"/>
              <a:buFont typeface="Inter"/>
              <a:buNone/>
            </a:pPr>
            <a:r>
              <a:rPr b="0" i="0" lang="zh-CN" sz="895" u="none" cap="none" strike="noStrike">
                <a:solidFill>
                  <a:srgbClr val="000000"/>
                </a:solidFill>
                <a:latin typeface="Inter"/>
                <a:ea typeface="Inter"/>
                <a:cs typeface="Inter"/>
                <a:sym typeface="Inter"/>
              </a:rPr>
              <a:t>Content features account for the largest marginal contribution (ΔR²=0.053), motivating the Deep Hybrid's title CNN and genre encoder. Most variance remains latent-ID-driven.</a:t>
            </a:r>
            <a:endParaRPr b="0" i="0" sz="895" u="none" cap="none" strike="noStrike"/>
          </a:p>
        </p:txBody>
      </p:sp>
      <p:sp>
        <p:nvSpPr>
          <p:cNvPr id="501" name="Google Shape;501;p42"/>
          <p:cNvSpPr/>
          <p:nvPr/>
        </p:nvSpPr>
        <p:spPr>
          <a:xfrm>
            <a:off x="4715814" y="907825"/>
            <a:ext cx="26811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9"/>
              <a:buFont typeface="DM Sans"/>
              <a:buNone/>
            </a:pPr>
            <a:r>
              <a:rPr i="0" lang="zh-CN" sz="1119" u="none" cap="none" strike="noStrike">
                <a:solidFill>
                  <a:srgbClr val="030303"/>
                </a:solidFill>
                <a:latin typeface="Trebuchet MS"/>
                <a:ea typeface="Trebuchet MS"/>
                <a:cs typeface="Trebuchet MS"/>
                <a:sym typeface="Trebuchet MS"/>
              </a:rPr>
              <a:t>Latent Factor Interpretation (MF-SGD)</a:t>
            </a:r>
            <a:endParaRPr i="0" sz="1119" u="none" cap="none" strike="noStrike">
              <a:latin typeface="Trebuchet MS"/>
              <a:ea typeface="Trebuchet MS"/>
              <a:cs typeface="Trebuchet MS"/>
              <a:sym typeface="Trebuchet MS"/>
            </a:endParaRPr>
          </a:p>
        </p:txBody>
      </p:sp>
      <p:sp>
        <p:nvSpPr>
          <p:cNvPr id="502" name="Google Shape;502;p42"/>
          <p:cNvSpPr/>
          <p:nvPr/>
        </p:nvSpPr>
        <p:spPr>
          <a:xfrm>
            <a:off x="4701199" y="1178818"/>
            <a:ext cx="29400" cy="804300"/>
          </a:xfrm>
          <a:prstGeom prst="rect">
            <a:avLst/>
          </a:prstGeom>
          <a:solidFill>
            <a:srgbClr val="1C9770"/>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503" name="Google Shape;503;p42"/>
          <p:cNvSpPr/>
          <p:nvPr/>
        </p:nvSpPr>
        <p:spPr>
          <a:xfrm>
            <a:off x="4861054" y="1193433"/>
            <a:ext cx="14502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i="0" lang="zh-CN" sz="1119" u="none" cap="none" strike="noStrike">
                <a:solidFill>
                  <a:srgbClr val="464646"/>
                </a:solidFill>
                <a:latin typeface="Trebuchet MS"/>
                <a:ea typeface="Trebuchet MS"/>
                <a:cs typeface="Trebuchet MS"/>
                <a:sym typeface="Trebuchet MS"/>
              </a:rPr>
              <a:t>PCA on Item Factors</a:t>
            </a:r>
            <a:endParaRPr i="0" sz="1119" u="none" cap="none" strike="noStrike">
              <a:latin typeface="Trebuchet MS"/>
              <a:ea typeface="Trebuchet MS"/>
              <a:cs typeface="Trebuchet MS"/>
              <a:sym typeface="Trebuchet MS"/>
            </a:endParaRPr>
          </a:p>
        </p:txBody>
      </p:sp>
      <p:sp>
        <p:nvSpPr>
          <p:cNvPr id="504" name="Google Shape;504;p42"/>
          <p:cNvSpPr/>
          <p:nvPr/>
        </p:nvSpPr>
        <p:spPr>
          <a:xfrm>
            <a:off x="4861054" y="1467470"/>
            <a:ext cx="38829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i="0" lang="zh-CN" sz="895" u="none" cap="none" strike="noStrike">
                <a:solidFill>
                  <a:srgbClr val="464646"/>
                </a:solidFill>
              </a:rPr>
              <a:t>PCA applied to item factor matrix Q (k=64, |I|≈83K rated items). Principal components correlate with genre indicators and release year.</a:t>
            </a:r>
            <a:endParaRPr i="0" sz="895" u="none" cap="none" strike="noStrike"/>
          </a:p>
        </p:txBody>
      </p:sp>
      <p:sp>
        <p:nvSpPr>
          <p:cNvPr id="505" name="Google Shape;505;p42"/>
          <p:cNvSpPr/>
          <p:nvPr/>
        </p:nvSpPr>
        <p:spPr>
          <a:xfrm>
            <a:off x="4701199" y="2139470"/>
            <a:ext cx="29400" cy="804300"/>
          </a:xfrm>
          <a:prstGeom prst="rect">
            <a:avLst/>
          </a:prstGeom>
          <a:solidFill>
            <a:srgbClr val="1C9770"/>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506" name="Google Shape;506;p42"/>
          <p:cNvSpPr/>
          <p:nvPr/>
        </p:nvSpPr>
        <p:spPr>
          <a:xfrm>
            <a:off x="4861054" y="2154086"/>
            <a:ext cx="14502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i="0" lang="zh-CN" sz="1119" u="none" cap="none" strike="noStrike">
                <a:solidFill>
                  <a:srgbClr val="464646"/>
                </a:solidFill>
                <a:latin typeface="Trebuchet MS"/>
                <a:ea typeface="Trebuchet MS"/>
                <a:cs typeface="Trebuchet MS"/>
                <a:sym typeface="Trebuchet MS"/>
              </a:rPr>
              <a:t>Semantic Axes</a:t>
            </a:r>
            <a:endParaRPr i="0" sz="1119" u="none" cap="none" strike="noStrike">
              <a:latin typeface="Trebuchet MS"/>
              <a:ea typeface="Trebuchet MS"/>
              <a:cs typeface="Trebuchet MS"/>
              <a:sym typeface="Trebuchet MS"/>
            </a:endParaRPr>
          </a:p>
        </p:txBody>
      </p:sp>
      <p:sp>
        <p:nvSpPr>
          <p:cNvPr id="507" name="Google Shape;507;p42"/>
          <p:cNvSpPr/>
          <p:nvPr/>
        </p:nvSpPr>
        <p:spPr>
          <a:xfrm>
            <a:off x="4861054" y="2428123"/>
            <a:ext cx="38829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i="0" lang="zh-CN" sz="895" u="none" cap="none" strike="noStrike">
                <a:solidFill>
                  <a:srgbClr val="464646"/>
                </a:solidFill>
              </a:rPr>
              <a:t>On smaller MovieLens slices, PCA yields coherent axes: e.g., mainstream blockbusters vs. critically acclaimed dramas from collaborative signal alone.</a:t>
            </a:r>
            <a:endParaRPr i="0" sz="895" u="none" cap="none" strike="noStrike"/>
          </a:p>
        </p:txBody>
      </p:sp>
      <p:sp>
        <p:nvSpPr>
          <p:cNvPr id="508" name="Google Shape;508;p42"/>
          <p:cNvSpPr/>
          <p:nvPr/>
        </p:nvSpPr>
        <p:spPr>
          <a:xfrm>
            <a:off x="4701199" y="3100122"/>
            <a:ext cx="29400" cy="804300"/>
          </a:xfrm>
          <a:prstGeom prst="rect">
            <a:avLst/>
          </a:prstGeom>
          <a:solidFill>
            <a:srgbClr val="1C9770"/>
          </a:solidFill>
          <a:ln>
            <a:noFill/>
          </a:ln>
        </p:spPr>
        <p:txBody>
          <a:bodyPr anchorCtr="0" anchor="ctr" bIns="58450" lIns="58450" spcFirstLastPara="1" rIns="58450" wrap="square" tIns="58450">
            <a:noAutofit/>
          </a:bodyPr>
          <a:lstStyle/>
          <a:p>
            <a:pPr indent="0" lvl="0" marL="0" rtl="0" algn="l">
              <a:spcBef>
                <a:spcPts val="0"/>
              </a:spcBef>
              <a:spcAft>
                <a:spcPts val="0"/>
              </a:spcAft>
              <a:buNone/>
            </a:pPr>
            <a:r>
              <a:t/>
            </a:r>
            <a:endParaRPr/>
          </a:p>
        </p:txBody>
      </p:sp>
      <p:sp>
        <p:nvSpPr>
          <p:cNvPr id="509" name="Google Shape;509;p42"/>
          <p:cNvSpPr/>
          <p:nvPr/>
        </p:nvSpPr>
        <p:spPr>
          <a:xfrm>
            <a:off x="4861054" y="3114737"/>
            <a:ext cx="1450200" cy="181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64646"/>
              </a:buClr>
              <a:buSzPts val="1119"/>
              <a:buFont typeface="DM Sans"/>
              <a:buNone/>
            </a:pPr>
            <a:r>
              <a:rPr i="0" lang="zh-CN" sz="1119" u="none" cap="none" strike="noStrike">
                <a:solidFill>
                  <a:srgbClr val="464646"/>
                </a:solidFill>
                <a:latin typeface="Trebuchet MS"/>
                <a:ea typeface="Trebuchet MS"/>
                <a:cs typeface="Trebuchet MS"/>
                <a:sym typeface="Trebuchet MS"/>
              </a:rPr>
              <a:t>Full-Scale Caveats</a:t>
            </a:r>
            <a:endParaRPr i="0" sz="1119" u="none" cap="none" strike="noStrike">
              <a:latin typeface="Trebuchet MS"/>
              <a:ea typeface="Trebuchet MS"/>
              <a:cs typeface="Trebuchet MS"/>
              <a:sym typeface="Trebuchet MS"/>
            </a:endParaRPr>
          </a:p>
        </p:txBody>
      </p:sp>
      <p:sp>
        <p:nvSpPr>
          <p:cNvPr id="510" name="Google Shape;510;p42"/>
          <p:cNvSpPr/>
          <p:nvPr/>
        </p:nvSpPr>
        <p:spPr>
          <a:xfrm>
            <a:off x="4861050" y="3388775"/>
            <a:ext cx="4027800" cy="5010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464646"/>
              </a:buClr>
              <a:buSzPts val="895"/>
              <a:buFont typeface="Inter"/>
              <a:buNone/>
            </a:pPr>
            <a:r>
              <a:rPr i="0" lang="zh-CN" sz="895" u="none" cap="none" strike="noStrike">
                <a:solidFill>
                  <a:srgbClr val="464646"/>
                </a:solidFill>
              </a:rPr>
              <a:t>At full scale, individual movie exemplars become noisier across training seeds. Interpretable directions are emphasized over selectively chosen examples.</a:t>
            </a:r>
            <a:endParaRPr i="0" sz="895" u="none" cap="none" strike="noStrike"/>
          </a:p>
        </p:txBody>
      </p:sp>
      <p:graphicFrame>
        <p:nvGraphicFramePr>
          <p:cNvPr id="511" name="Google Shape;511;p42"/>
          <p:cNvGraphicFramePr/>
          <p:nvPr/>
        </p:nvGraphicFramePr>
        <p:xfrm>
          <a:off x="400050" y="1622850"/>
          <a:ext cx="3000000" cy="3000000"/>
        </p:xfrm>
        <a:graphic>
          <a:graphicData uri="http://schemas.openxmlformats.org/drawingml/2006/table">
            <a:tbl>
              <a:tblPr>
                <a:noFill/>
                <a:tableStyleId>{04352D28-8A1F-403E-BDEB-144B55623AA5}</a:tableStyleId>
              </a:tblPr>
              <a:tblGrid>
                <a:gridCol w="1750675"/>
                <a:gridCol w="630250"/>
                <a:gridCol w="688600"/>
                <a:gridCol w="700275"/>
              </a:tblGrid>
              <a:tr h="328825">
                <a:tc>
                  <a:txBody>
                    <a:bodyPr/>
                    <a:lstStyle/>
                    <a:p>
                      <a:pPr indent="0" lvl="0" marL="0" rtl="0" algn="ctr">
                        <a:lnSpc>
                          <a:spcPct val="115000"/>
                        </a:lnSpc>
                        <a:spcBef>
                          <a:spcPts val="0"/>
                        </a:spcBef>
                        <a:spcAft>
                          <a:spcPts val="0"/>
                        </a:spcAft>
                        <a:buNone/>
                      </a:pPr>
                      <a:r>
                        <a:rPr b="1" lang="zh-CN" sz="900">
                          <a:latin typeface="Trebuchet MS"/>
                          <a:ea typeface="Trebuchet MS"/>
                          <a:cs typeface="Trebuchet MS"/>
                          <a:sym typeface="Trebuchet MS"/>
                        </a:rPr>
                        <a:t>Feature Block</a:t>
                      </a:r>
                      <a:endParaRPr b="1" sz="9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900">
                          <a:latin typeface="Trebuchet MS"/>
                          <a:ea typeface="Trebuchet MS"/>
                          <a:cs typeface="Trebuchet MS"/>
                          <a:sym typeface="Trebuchet MS"/>
                        </a:rPr>
                        <a:t>R²_full</a:t>
                      </a:r>
                      <a:endParaRPr b="1" sz="9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900">
                          <a:latin typeface="Trebuchet MS"/>
                          <a:ea typeface="Trebuchet MS"/>
                          <a:cs typeface="Trebuchet MS"/>
                          <a:sym typeface="Trebuchet MS"/>
                        </a:rPr>
                        <a:t>R²_w/o</a:t>
                      </a:r>
                      <a:endParaRPr b="1" sz="9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900">
                          <a:latin typeface="Trebuchet MS"/>
                          <a:ea typeface="Trebuchet MS"/>
                          <a:cs typeface="Trebuchet MS"/>
                          <a:sym typeface="Trebuchet MS"/>
                        </a:rPr>
                        <a:t>ΔR²</a:t>
                      </a:r>
                      <a:endParaRPr b="1" sz="9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301550">
                <a:tc>
                  <a:txBody>
                    <a:bodyPr/>
                    <a:lstStyle/>
                    <a:p>
                      <a:pPr indent="0" lvl="0" marL="0" rtl="0" algn="l">
                        <a:spcBef>
                          <a:spcPts val="0"/>
                        </a:spcBef>
                        <a:spcAft>
                          <a:spcPts val="0"/>
                        </a:spcAft>
                        <a:buNone/>
                      </a:pPr>
                      <a:r>
                        <a:rPr lang="zh-CN" sz="900"/>
                        <a:t>Full model</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0.1116</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550">
                <a:tc>
                  <a:txBody>
                    <a:bodyPr/>
                    <a:lstStyle/>
                    <a:p>
                      <a:pPr indent="0" lvl="0" marL="0" rtl="0" algn="l">
                        <a:spcBef>
                          <a:spcPts val="0"/>
                        </a:spcBef>
                        <a:spcAft>
                          <a:spcPts val="0"/>
                        </a:spcAft>
                        <a:buNone/>
                      </a:pPr>
                      <a:r>
                        <a:rPr lang="zh-CN" sz="900"/>
                        <a:t>w/o Content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0.0582</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0.0534</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550">
                <a:tc>
                  <a:txBody>
                    <a:bodyPr/>
                    <a:lstStyle/>
                    <a:p>
                      <a:pPr indent="0" lvl="0" marL="0" rtl="0" algn="l">
                        <a:spcBef>
                          <a:spcPts val="0"/>
                        </a:spcBef>
                        <a:spcAft>
                          <a:spcPts val="0"/>
                        </a:spcAft>
                        <a:buNone/>
                      </a:pPr>
                      <a:r>
                        <a:rPr lang="zh-CN" sz="900"/>
                        <a:t>w/o Engagement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0.0815</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0.0302</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550">
                <a:tc>
                  <a:txBody>
                    <a:bodyPr/>
                    <a:lstStyle/>
                    <a:p>
                      <a:pPr indent="0" lvl="0" marL="0" rtl="0" algn="l">
                        <a:spcBef>
                          <a:spcPts val="0"/>
                        </a:spcBef>
                        <a:spcAft>
                          <a:spcPts val="0"/>
                        </a:spcAft>
                        <a:buNone/>
                      </a:pPr>
                      <a:r>
                        <a:rPr lang="zh-CN" sz="900"/>
                        <a:t>w/o Noise (control)</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0.1117</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900"/>
                        <a:t>-0.0001</a:t>
                      </a:r>
                      <a:endParaRPr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grpSp>
        <p:nvGrpSpPr>
          <p:cNvPr id="516" name="Google Shape;516;p43"/>
          <p:cNvGrpSpPr/>
          <p:nvPr/>
        </p:nvGrpSpPr>
        <p:grpSpPr>
          <a:xfrm>
            <a:off x="0" y="0"/>
            <a:ext cx="9144150" cy="617100"/>
            <a:chOff x="0" y="0"/>
            <a:chExt cx="9144150" cy="617100"/>
          </a:xfrm>
        </p:grpSpPr>
        <p:sp>
          <p:nvSpPr>
            <p:cNvPr id="517" name="Google Shape;517;p43"/>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8" name="Google Shape;518;p43"/>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519" name="Google Shape;519;p43"/>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Deployment: Full Stack Web Demo Architecture</a:t>
            </a:r>
            <a:endParaRPr sz="2500">
              <a:solidFill>
                <a:schemeClr val="lt1"/>
              </a:solidFill>
              <a:latin typeface="Trebuchet MS"/>
              <a:ea typeface="Trebuchet MS"/>
              <a:cs typeface="Trebuchet MS"/>
              <a:sym typeface="Trebuchet MS"/>
            </a:endParaRPr>
          </a:p>
        </p:txBody>
      </p:sp>
      <p:pic>
        <p:nvPicPr>
          <p:cNvPr id="520" name="Google Shape;520;p43"/>
          <p:cNvPicPr preferRelativeResize="0"/>
          <p:nvPr/>
        </p:nvPicPr>
        <p:blipFill>
          <a:blip r:embed="rId3">
            <a:alphaModFix/>
          </a:blip>
          <a:stretch>
            <a:fillRect/>
          </a:stretch>
        </p:blipFill>
        <p:spPr>
          <a:xfrm>
            <a:off x="576400" y="813700"/>
            <a:ext cx="577500" cy="577500"/>
          </a:xfrm>
          <a:prstGeom prst="rect">
            <a:avLst/>
          </a:prstGeom>
          <a:noFill/>
          <a:ln>
            <a:noFill/>
          </a:ln>
        </p:spPr>
      </p:pic>
      <p:sp>
        <p:nvSpPr>
          <p:cNvPr id="521" name="Google Shape;521;p43"/>
          <p:cNvSpPr/>
          <p:nvPr/>
        </p:nvSpPr>
        <p:spPr>
          <a:xfrm>
            <a:off x="576400" y="1758293"/>
            <a:ext cx="1367700" cy="617100"/>
          </a:xfrm>
          <a:prstGeom prst="rect">
            <a:avLst/>
          </a:prstGeom>
          <a:solidFill>
            <a:srgbClr val="F3F3F3"/>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latin typeface="Trebuchet MS"/>
                <a:ea typeface="Trebuchet MS"/>
                <a:cs typeface="Trebuchet MS"/>
                <a:sym typeface="Trebuchet MS"/>
              </a:rPr>
              <a:t>Next.js 16</a:t>
            </a:r>
            <a:endParaRPr>
              <a:latin typeface="Trebuchet MS"/>
              <a:ea typeface="Trebuchet MS"/>
              <a:cs typeface="Trebuchet MS"/>
              <a:sym typeface="Trebuchet MS"/>
            </a:endParaRPr>
          </a:p>
          <a:p>
            <a:pPr indent="0" lvl="0" marL="0" rtl="0" algn="ctr">
              <a:spcBef>
                <a:spcPts val="0"/>
              </a:spcBef>
              <a:spcAft>
                <a:spcPts val="0"/>
              </a:spcAft>
              <a:buNone/>
            </a:pPr>
            <a:r>
              <a:rPr lang="zh-CN" sz="800">
                <a:solidFill>
                  <a:srgbClr val="464646"/>
                </a:solidFill>
              </a:rPr>
              <a:t>Browse, details, recommendation lists</a:t>
            </a:r>
            <a:endParaRPr sz="800">
              <a:solidFill>
                <a:srgbClr val="464646"/>
              </a:solidFill>
            </a:endParaRPr>
          </a:p>
        </p:txBody>
      </p:sp>
      <p:sp>
        <p:nvSpPr>
          <p:cNvPr id="522" name="Google Shape;522;p43"/>
          <p:cNvSpPr/>
          <p:nvPr/>
        </p:nvSpPr>
        <p:spPr>
          <a:xfrm>
            <a:off x="2434175" y="1758293"/>
            <a:ext cx="1683900" cy="617100"/>
          </a:xfrm>
          <a:prstGeom prst="rect">
            <a:avLst/>
          </a:prstGeom>
          <a:solidFill>
            <a:srgbClr val="CFE2F3"/>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latin typeface="Trebuchet MS"/>
                <a:ea typeface="Trebuchet MS"/>
                <a:cs typeface="Trebuchet MS"/>
                <a:sym typeface="Trebuchet MS"/>
              </a:rPr>
              <a:t>Django REST API</a:t>
            </a:r>
            <a:endParaRPr>
              <a:latin typeface="Trebuchet MS"/>
              <a:ea typeface="Trebuchet MS"/>
              <a:cs typeface="Trebuchet MS"/>
              <a:sym typeface="Trebuchet MS"/>
            </a:endParaRPr>
          </a:p>
          <a:p>
            <a:pPr indent="0" lvl="0" marL="0" rtl="0" algn="ctr">
              <a:spcBef>
                <a:spcPts val="0"/>
              </a:spcBef>
              <a:spcAft>
                <a:spcPts val="0"/>
              </a:spcAft>
              <a:buNone/>
            </a:pPr>
            <a:r>
              <a:rPr lang="zh-CN" sz="800">
                <a:solidFill>
                  <a:srgbClr val="464646"/>
                </a:solidFill>
              </a:rPr>
              <a:t>Unified service interface and model switching</a:t>
            </a:r>
            <a:endParaRPr sz="800">
              <a:solidFill>
                <a:srgbClr val="464646"/>
              </a:solidFill>
            </a:endParaRPr>
          </a:p>
        </p:txBody>
      </p:sp>
      <p:sp>
        <p:nvSpPr>
          <p:cNvPr id="523" name="Google Shape;523;p43"/>
          <p:cNvSpPr/>
          <p:nvPr/>
        </p:nvSpPr>
        <p:spPr>
          <a:xfrm>
            <a:off x="4608150" y="1758293"/>
            <a:ext cx="1461300" cy="617100"/>
          </a:xfrm>
          <a:prstGeom prst="rect">
            <a:avLst/>
          </a:prstGeom>
          <a:solidFill>
            <a:srgbClr val="F3F3F3"/>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latin typeface="Trebuchet MS"/>
                <a:ea typeface="Trebuchet MS"/>
                <a:cs typeface="Trebuchet MS"/>
                <a:sym typeface="Trebuchet MS"/>
              </a:rPr>
              <a:t>Model Artifacts</a:t>
            </a:r>
            <a:endParaRPr>
              <a:latin typeface="Trebuchet MS"/>
              <a:ea typeface="Trebuchet MS"/>
              <a:cs typeface="Trebuchet MS"/>
              <a:sym typeface="Trebuchet MS"/>
            </a:endParaRPr>
          </a:p>
          <a:p>
            <a:pPr indent="0" lvl="0" marL="0" rtl="0" algn="ctr">
              <a:spcBef>
                <a:spcPts val="0"/>
              </a:spcBef>
              <a:spcAft>
                <a:spcPts val="0"/>
              </a:spcAft>
              <a:buNone/>
            </a:pPr>
            <a:r>
              <a:rPr lang="zh-CN" sz="800">
                <a:solidFill>
                  <a:srgbClr val="464646"/>
                </a:solidFill>
              </a:rPr>
              <a:t>Deep / MF / SVD / ALS checkpoints</a:t>
            </a:r>
            <a:endParaRPr sz="800">
              <a:solidFill>
                <a:srgbClr val="464646"/>
              </a:solidFill>
            </a:endParaRPr>
          </a:p>
        </p:txBody>
      </p:sp>
      <p:sp>
        <p:nvSpPr>
          <p:cNvPr id="524" name="Google Shape;524;p43"/>
          <p:cNvSpPr/>
          <p:nvPr/>
        </p:nvSpPr>
        <p:spPr>
          <a:xfrm>
            <a:off x="6646950" y="1758293"/>
            <a:ext cx="1754400" cy="617100"/>
          </a:xfrm>
          <a:prstGeom prst="rect">
            <a:avLst/>
          </a:prstGeom>
          <a:solidFill>
            <a:srgbClr val="F3F3F3"/>
          </a:solidFill>
          <a:ln cap="flat" cmpd="sng" w="952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a:latin typeface="Trebuchet MS"/>
                <a:ea typeface="Trebuchet MS"/>
                <a:cs typeface="Trebuchet MS"/>
                <a:sym typeface="Trebuchet MS"/>
              </a:rPr>
              <a:t>TMDB Enrichment</a:t>
            </a:r>
            <a:endParaRPr>
              <a:latin typeface="Trebuchet MS"/>
              <a:ea typeface="Trebuchet MS"/>
              <a:cs typeface="Trebuchet MS"/>
              <a:sym typeface="Trebuchet MS"/>
            </a:endParaRPr>
          </a:p>
          <a:p>
            <a:pPr indent="0" lvl="0" marL="0" rtl="0" algn="ctr">
              <a:spcBef>
                <a:spcPts val="0"/>
              </a:spcBef>
              <a:spcAft>
                <a:spcPts val="0"/>
              </a:spcAft>
              <a:buNone/>
            </a:pPr>
            <a:r>
              <a:rPr lang="zh-CN" sz="800">
                <a:solidFill>
                  <a:srgbClr val="464646"/>
                </a:solidFill>
              </a:rPr>
              <a:t>Posters, metadata, similar movies</a:t>
            </a:r>
            <a:endParaRPr sz="800">
              <a:solidFill>
                <a:srgbClr val="464646"/>
              </a:solidFill>
            </a:endParaRPr>
          </a:p>
        </p:txBody>
      </p:sp>
      <p:graphicFrame>
        <p:nvGraphicFramePr>
          <p:cNvPr id="525" name="Google Shape;525;p43"/>
          <p:cNvGraphicFramePr/>
          <p:nvPr/>
        </p:nvGraphicFramePr>
        <p:xfrm>
          <a:off x="576388" y="2783393"/>
          <a:ext cx="3000000" cy="3000000"/>
        </p:xfrm>
        <a:graphic>
          <a:graphicData uri="http://schemas.openxmlformats.org/drawingml/2006/table">
            <a:tbl>
              <a:tblPr>
                <a:noFill/>
                <a:tableStyleId>{04352D28-8A1F-403E-BDEB-144B55623AA5}</a:tableStyleId>
              </a:tblPr>
              <a:tblGrid>
                <a:gridCol w="536725"/>
                <a:gridCol w="1271200"/>
                <a:gridCol w="1991550"/>
                <a:gridCol w="1977425"/>
                <a:gridCol w="2048050"/>
              </a:tblGrid>
              <a:tr h="209550">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Step</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Input</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API Action</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Model Output</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zh-CN" sz="1000">
                          <a:latin typeface="Trebuchet MS"/>
                          <a:ea typeface="Trebuchet MS"/>
                          <a:cs typeface="Trebuchet MS"/>
                          <a:sym typeface="Trebuchet MS"/>
                        </a:rPr>
                        <a:t>UI Result</a:t>
                      </a:r>
                      <a:endParaRPr b="1" sz="1000">
                        <a:latin typeface="Trebuchet MS"/>
                        <a:ea typeface="Trebuchet MS"/>
                        <a:cs typeface="Trebuchet MS"/>
                        <a:sym typeface="Trebuchet M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209550">
                <a:tc>
                  <a:txBody>
                    <a:bodyPr/>
                    <a:lstStyle/>
                    <a:p>
                      <a:pPr indent="0" lvl="0" marL="0" rtl="0" algn="l">
                        <a:spcBef>
                          <a:spcPts val="0"/>
                        </a:spcBef>
                        <a:spcAft>
                          <a:spcPts val="0"/>
                        </a:spcAft>
                        <a:buNone/>
                      </a:pPr>
                      <a:r>
                        <a:rPr lang="zh-CN" sz="1000"/>
                        <a:t>1</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User profile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Candidate scoring</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Ranked movie IDs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Recommendations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lang="zh-CN" sz="1000"/>
                        <a:t>2</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Movie ID</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Similarity lookup</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Neighbor titles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Similar movies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lang="zh-CN" sz="1000"/>
                        <a:t>3</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Metadata</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TMDB join</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Poster + details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CN" sz="1000"/>
                        <a:t>Detail page</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pSp>
        <p:nvGrpSpPr>
          <p:cNvPr id="526" name="Google Shape;526;p43"/>
          <p:cNvGrpSpPr/>
          <p:nvPr/>
        </p:nvGrpSpPr>
        <p:grpSpPr>
          <a:xfrm>
            <a:off x="1260698" y="813700"/>
            <a:ext cx="5929419" cy="688525"/>
            <a:chOff x="1235725" y="813700"/>
            <a:chExt cx="7097700" cy="688525"/>
          </a:xfrm>
        </p:grpSpPr>
        <p:sp>
          <p:nvSpPr>
            <p:cNvPr id="527" name="Google Shape;527;p43"/>
            <p:cNvSpPr/>
            <p:nvPr/>
          </p:nvSpPr>
          <p:spPr>
            <a:xfrm>
              <a:off x="1235729" y="813700"/>
              <a:ext cx="4600500" cy="1806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30303"/>
                </a:buClr>
                <a:buSzPts val="1115"/>
                <a:buFont typeface="DM Sans"/>
                <a:buNone/>
              </a:pPr>
              <a:r>
                <a:rPr b="1" i="1" lang="zh-CN" sz="1316">
                  <a:solidFill>
                    <a:srgbClr val="030303"/>
                  </a:solidFill>
                  <a:latin typeface="Trebuchet MS"/>
                  <a:ea typeface="Trebuchet MS"/>
                  <a:cs typeface="Trebuchet MS"/>
                  <a:sym typeface="Trebuchet MS"/>
                </a:rPr>
                <a:t>StreamX</a:t>
              </a:r>
              <a:endParaRPr b="1" i="1" sz="1316">
                <a:solidFill>
                  <a:srgbClr val="030303"/>
                </a:solidFill>
                <a:latin typeface="Trebuchet MS"/>
                <a:ea typeface="Trebuchet MS"/>
                <a:cs typeface="Trebuchet MS"/>
                <a:sym typeface="Trebuchet MS"/>
              </a:endParaRPr>
            </a:p>
          </p:txBody>
        </p:sp>
        <p:sp>
          <p:nvSpPr>
            <p:cNvPr id="528" name="Google Shape;528;p43"/>
            <p:cNvSpPr/>
            <p:nvPr/>
          </p:nvSpPr>
          <p:spPr>
            <a:xfrm>
              <a:off x="1235725" y="1086725"/>
              <a:ext cx="7097700" cy="41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This demo translates offline experimental metrics into observable product behavior: </a:t>
              </a:r>
              <a:endParaRPr sz="913">
                <a:solidFill>
                  <a:srgbClr val="464646"/>
                </a:solidFill>
              </a:endParaRPr>
            </a:p>
            <a:p>
              <a:pPr indent="0" lvl="0" marL="0" marR="0" rtl="0" algn="l">
                <a:lnSpc>
                  <a:spcPct val="100000"/>
                </a:lnSpc>
                <a:spcBef>
                  <a:spcPts val="0"/>
                </a:spcBef>
                <a:spcAft>
                  <a:spcPts val="0"/>
                </a:spcAft>
                <a:buClr>
                  <a:srgbClr val="464646"/>
                </a:buClr>
                <a:buSzPts val="892"/>
                <a:buFont typeface="Inter"/>
                <a:buNone/>
              </a:pPr>
              <a:r>
                <a:rPr lang="zh-CN" sz="913">
                  <a:solidFill>
                    <a:srgbClr val="464646"/>
                  </a:solidFill>
                </a:rPr>
                <a:t>users can switch models and directly compare recommendation lists and similar-movie results.</a:t>
              </a:r>
              <a:endParaRPr i="0" sz="913" u="none" cap="none" strike="noStrike"/>
            </a:p>
          </p:txBody>
        </p:sp>
      </p:grpSp>
      <p:cxnSp>
        <p:nvCxnSpPr>
          <p:cNvPr id="529" name="Google Shape;529;p43"/>
          <p:cNvCxnSpPr>
            <a:stCxn id="521" idx="3"/>
            <a:endCxn id="522" idx="1"/>
          </p:cNvCxnSpPr>
          <p:nvPr/>
        </p:nvCxnSpPr>
        <p:spPr>
          <a:xfrm>
            <a:off x="1944100" y="2066843"/>
            <a:ext cx="490200" cy="0"/>
          </a:xfrm>
          <a:prstGeom prst="straightConnector1">
            <a:avLst/>
          </a:prstGeom>
          <a:noFill/>
          <a:ln cap="flat" cmpd="sng" w="9525">
            <a:solidFill>
              <a:schemeClr val="dk2"/>
            </a:solidFill>
            <a:prstDash val="solid"/>
            <a:round/>
            <a:headEnd len="med" w="med" type="none"/>
            <a:tailEnd len="med" w="med" type="stealth"/>
          </a:ln>
        </p:spPr>
      </p:cxnSp>
      <p:cxnSp>
        <p:nvCxnSpPr>
          <p:cNvPr id="530" name="Google Shape;530;p43"/>
          <p:cNvCxnSpPr>
            <a:stCxn id="522" idx="3"/>
            <a:endCxn id="523" idx="1"/>
          </p:cNvCxnSpPr>
          <p:nvPr/>
        </p:nvCxnSpPr>
        <p:spPr>
          <a:xfrm>
            <a:off x="4118075" y="2066843"/>
            <a:ext cx="490200" cy="0"/>
          </a:xfrm>
          <a:prstGeom prst="straightConnector1">
            <a:avLst/>
          </a:prstGeom>
          <a:noFill/>
          <a:ln cap="flat" cmpd="sng" w="9525">
            <a:solidFill>
              <a:schemeClr val="dk2"/>
            </a:solidFill>
            <a:prstDash val="solid"/>
            <a:round/>
            <a:headEnd len="med" w="med" type="none"/>
            <a:tailEnd len="med" w="med" type="triangle"/>
          </a:ln>
        </p:spPr>
      </p:cxnSp>
      <p:cxnSp>
        <p:nvCxnSpPr>
          <p:cNvPr id="531" name="Google Shape;531;p43"/>
          <p:cNvCxnSpPr>
            <a:stCxn id="523" idx="3"/>
            <a:endCxn id="524" idx="1"/>
          </p:cNvCxnSpPr>
          <p:nvPr/>
        </p:nvCxnSpPr>
        <p:spPr>
          <a:xfrm>
            <a:off x="6069450" y="2066843"/>
            <a:ext cx="577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44"/>
          <p:cNvGrpSpPr/>
          <p:nvPr/>
        </p:nvGrpSpPr>
        <p:grpSpPr>
          <a:xfrm>
            <a:off x="0" y="0"/>
            <a:ext cx="9144150" cy="617100"/>
            <a:chOff x="0" y="0"/>
            <a:chExt cx="9144150" cy="617100"/>
          </a:xfrm>
        </p:grpSpPr>
        <p:sp>
          <p:nvSpPr>
            <p:cNvPr id="537" name="Google Shape;537;p44"/>
            <p:cNvSpPr/>
            <p:nvPr/>
          </p:nvSpPr>
          <p:spPr>
            <a:xfrm>
              <a:off x="0" y="0"/>
              <a:ext cx="9144000" cy="617100"/>
            </a:xfrm>
            <a:prstGeom prst="rect">
              <a:avLst/>
            </a:prstGeom>
            <a:solidFill>
              <a:srgbClr val="10A37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8" name="Google Shape;538;p44"/>
            <p:cNvSpPr/>
            <p:nvPr/>
          </p:nvSpPr>
          <p:spPr>
            <a:xfrm>
              <a:off x="117750" y="0"/>
              <a:ext cx="9026400" cy="617100"/>
            </a:xfrm>
            <a:prstGeom prst="rect">
              <a:avLst/>
            </a:prstGeom>
            <a:solidFill>
              <a:srgbClr val="1E293B"/>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539" name="Google Shape;539;p44"/>
          <p:cNvSpPr txBox="1"/>
          <p:nvPr>
            <p:ph type="title"/>
          </p:nvPr>
        </p:nvSpPr>
        <p:spPr>
          <a:xfrm>
            <a:off x="306027" y="100825"/>
            <a:ext cx="7990500" cy="4155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1"/>
              </a:buClr>
              <a:buSzPts val="3300"/>
              <a:buFont typeface="Play"/>
              <a:buNone/>
            </a:pPr>
            <a:r>
              <a:rPr lang="zh-CN" sz="2500">
                <a:solidFill>
                  <a:schemeClr val="lt1"/>
                </a:solidFill>
                <a:latin typeface="Trebuchet MS"/>
                <a:ea typeface="Trebuchet MS"/>
                <a:cs typeface="Trebuchet MS"/>
                <a:sym typeface="Trebuchet MS"/>
              </a:rPr>
              <a:t>Discussion &amp; Conclusion</a:t>
            </a:r>
            <a:endParaRPr sz="2500">
              <a:solidFill>
                <a:schemeClr val="lt1"/>
              </a:solidFill>
              <a:latin typeface="Trebuchet MS"/>
              <a:ea typeface="Trebuchet MS"/>
              <a:cs typeface="Trebuchet MS"/>
              <a:sym typeface="Trebuchet MS"/>
            </a:endParaRPr>
          </a:p>
        </p:txBody>
      </p:sp>
      <p:sp>
        <p:nvSpPr>
          <p:cNvPr id="540" name="Google Shape;540;p44"/>
          <p:cNvSpPr txBox="1"/>
          <p:nvPr/>
        </p:nvSpPr>
        <p:spPr>
          <a:xfrm>
            <a:off x="359075" y="812875"/>
            <a:ext cx="5899500" cy="397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300">
                <a:latin typeface="Trebuchet MS"/>
                <a:ea typeface="Trebuchet MS"/>
                <a:cs typeface="Trebuchet MS"/>
                <a:sym typeface="Trebuchet MS"/>
              </a:rPr>
              <a:t>Limitations</a:t>
            </a:r>
            <a:endParaRPr sz="1300">
              <a:latin typeface="Trebuchet MS"/>
              <a:ea typeface="Trebuchet MS"/>
              <a:cs typeface="Trebuchet MS"/>
              <a:sym typeface="Trebuchet MS"/>
            </a:endParaRPr>
          </a:p>
          <a:p>
            <a:pPr indent="-311150" lvl="0" marL="457200" rtl="0" algn="l">
              <a:spcBef>
                <a:spcPts val="1000"/>
              </a:spcBef>
              <a:spcAft>
                <a:spcPts val="0"/>
              </a:spcAft>
              <a:buClr>
                <a:srgbClr val="464646"/>
              </a:buClr>
              <a:buSzPts val="1300"/>
              <a:buChar char="●"/>
            </a:pPr>
            <a:r>
              <a:rPr lang="zh-CN" sz="1300">
                <a:solidFill>
                  <a:srgbClr val="464646"/>
                </a:solidFill>
              </a:rPr>
              <a:t>Uses a development dataset; metrics tied to July 2023 snapshot</a:t>
            </a:r>
            <a:endParaRPr sz="1300">
              <a:solidFill>
                <a:srgbClr val="464646"/>
              </a:solidFill>
            </a:endParaRPr>
          </a:p>
          <a:p>
            <a:pPr indent="-311150" lvl="0" marL="457200" rtl="0" algn="l">
              <a:spcBef>
                <a:spcPts val="0"/>
              </a:spcBef>
              <a:spcAft>
                <a:spcPts val="0"/>
              </a:spcAft>
              <a:buClr>
                <a:srgbClr val="464646"/>
              </a:buClr>
              <a:buSzPts val="1300"/>
              <a:buChar char="●"/>
            </a:pPr>
            <a:r>
              <a:rPr lang="zh-CN" sz="1300">
                <a:solidFill>
                  <a:srgbClr val="464646"/>
                </a:solidFill>
              </a:rPr>
              <a:t>No automated hyperparameter search for MF-ALS and SVD-KNN</a:t>
            </a:r>
            <a:endParaRPr sz="1300">
              <a:solidFill>
                <a:srgbClr val="464646"/>
              </a:solidFill>
            </a:endParaRPr>
          </a:p>
          <a:p>
            <a:pPr indent="-311150" lvl="0" marL="457200" rtl="0" algn="l">
              <a:spcBef>
                <a:spcPts val="0"/>
              </a:spcBef>
              <a:spcAft>
                <a:spcPts val="0"/>
              </a:spcAft>
              <a:buClr>
                <a:srgbClr val="464646"/>
              </a:buClr>
              <a:buSzPts val="1300"/>
              <a:buChar char="●"/>
            </a:pPr>
            <a:r>
              <a:rPr lang="zh-CN" sz="1300">
                <a:solidFill>
                  <a:srgbClr val="464646"/>
                </a:solidFill>
              </a:rPr>
              <a:t>Top-N evaluation on all_test leads to low absolute Precision/NDCG</a:t>
            </a:r>
            <a:endParaRPr sz="1300">
              <a:solidFill>
                <a:srgbClr val="464646"/>
              </a:solidFill>
            </a:endParaRPr>
          </a:p>
          <a:p>
            <a:pPr indent="-311150" lvl="0" marL="457200" rtl="0" algn="l">
              <a:spcBef>
                <a:spcPts val="0"/>
              </a:spcBef>
              <a:spcAft>
                <a:spcPts val="0"/>
              </a:spcAft>
              <a:buClr>
                <a:srgbClr val="464646"/>
              </a:buClr>
              <a:buSzPts val="1300"/>
              <a:buChar char="●"/>
            </a:pPr>
            <a:r>
              <a:rPr lang="zh-CN" sz="1300">
                <a:solidFill>
                  <a:srgbClr val="464646"/>
                </a:solidFill>
              </a:rPr>
              <a:t>No modeling of temporal dynamics or implicit feedback</a:t>
            </a:r>
            <a:endParaRPr sz="1300">
              <a:solidFill>
                <a:srgbClr val="464646"/>
              </a:solidFill>
            </a:endParaRPr>
          </a:p>
          <a:p>
            <a:pPr indent="0" lvl="0" marL="0" rtl="0" algn="l">
              <a:spcBef>
                <a:spcPts val="0"/>
              </a:spcBef>
              <a:spcAft>
                <a:spcPts val="0"/>
              </a:spcAft>
              <a:buNone/>
            </a:pPr>
            <a:r>
              <a:t/>
            </a:r>
            <a:endParaRPr sz="1300"/>
          </a:p>
          <a:p>
            <a:pPr indent="0" lvl="0" marL="0" rtl="0" algn="l">
              <a:spcBef>
                <a:spcPts val="0"/>
              </a:spcBef>
              <a:spcAft>
                <a:spcPts val="0"/>
              </a:spcAft>
              <a:buNone/>
            </a:pPr>
            <a:r>
              <a:rPr lang="zh-CN" sz="1300">
                <a:latin typeface="Trebuchet MS"/>
                <a:ea typeface="Trebuchet MS"/>
                <a:cs typeface="Trebuchet MS"/>
                <a:sym typeface="Trebuchet MS"/>
              </a:rPr>
              <a:t>Future Work</a:t>
            </a:r>
            <a:endParaRPr sz="1300">
              <a:latin typeface="Trebuchet MS"/>
              <a:ea typeface="Trebuchet MS"/>
              <a:cs typeface="Trebuchet MS"/>
              <a:sym typeface="Trebuchet MS"/>
            </a:endParaRPr>
          </a:p>
          <a:p>
            <a:pPr indent="-311150" lvl="0" marL="457200" rtl="0" algn="l">
              <a:spcBef>
                <a:spcPts val="1000"/>
              </a:spcBef>
              <a:spcAft>
                <a:spcPts val="0"/>
              </a:spcAft>
              <a:buClr>
                <a:srgbClr val="434343"/>
              </a:buClr>
              <a:buSzPts val="1300"/>
              <a:buChar char="→"/>
            </a:pPr>
            <a:r>
              <a:rPr lang="zh-CN" sz="1300">
                <a:solidFill>
                  <a:srgbClr val="434343"/>
                </a:solidFill>
              </a:rPr>
              <a:t>Learning-to-rank optimization (e.g., BPR, NDCG-aligned objectives)</a:t>
            </a:r>
            <a:endParaRPr sz="1300">
              <a:solidFill>
                <a:srgbClr val="434343"/>
              </a:solidFill>
            </a:endParaRPr>
          </a:p>
          <a:p>
            <a:pPr indent="-311150" lvl="0" marL="457200" rtl="0" algn="l">
              <a:spcBef>
                <a:spcPts val="0"/>
              </a:spcBef>
              <a:spcAft>
                <a:spcPts val="0"/>
              </a:spcAft>
              <a:buClr>
                <a:srgbClr val="434343"/>
              </a:buClr>
              <a:buSzPts val="1300"/>
              <a:buChar char="→"/>
            </a:pPr>
            <a:r>
              <a:rPr lang="zh-CN" sz="1300">
                <a:solidFill>
                  <a:srgbClr val="434343"/>
                </a:solidFill>
              </a:rPr>
              <a:t>Large-scale rank and regularization sweep for MF-ALS</a:t>
            </a:r>
            <a:endParaRPr sz="1300">
              <a:solidFill>
                <a:srgbClr val="434343"/>
              </a:solidFill>
            </a:endParaRPr>
          </a:p>
          <a:p>
            <a:pPr indent="-311150" lvl="0" marL="457200" rtl="0" algn="l">
              <a:spcBef>
                <a:spcPts val="0"/>
              </a:spcBef>
              <a:spcAft>
                <a:spcPts val="0"/>
              </a:spcAft>
              <a:buClr>
                <a:srgbClr val="434343"/>
              </a:buClr>
              <a:buSzPts val="1300"/>
              <a:buChar char="→"/>
            </a:pPr>
            <a:r>
              <a:rPr lang="zh-CN" sz="1300">
                <a:solidFill>
                  <a:srgbClr val="434343"/>
                </a:solidFill>
              </a:rPr>
              <a:t>Rating-weighted KNN profile enhancement</a:t>
            </a:r>
            <a:endParaRPr sz="1300">
              <a:solidFill>
                <a:srgbClr val="434343"/>
              </a:solidFill>
            </a:endParaRPr>
          </a:p>
          <a:p>
            <a:pPr indent="0" lvl="0" marL="0" rtl="0" algn="l">
              <a:spcBef>
                <a:spcPts val="0"/>
              </a:spcBef>
              <a:spcAft>
                <a:spcPts val="0"/>
              </a:spcAft>
              <a:buNone/>
            </a:pPr>
            <a:r>
              <a:t/>
            </a:r>
            <a:endParaRPr sz="1300"/>
          </a:p>
          <a:p>
            <a:pPr indent="0" lvl="0" marL="0" rtl="0" algn="l">
              <a:spcBef>
                <a:spcPts val="0"/>
              </a:spcBef>
              <a:spcAft>
                <a:spcPts val="0"/>
              </a:spcAft>
              <a:buNone/>
            </a:pPr>
            <a:r>
              <a:rPr b="1" i="1" lang="zh-CN" sz="1300">
                <a:latin typeface="Trebuchet MS"/>
                <a:ea typeface="Trebuchet MS"/>
                <a:cs typeface="Trebuchet MS"/>
                <a:sym typeface="Trebuchet MS"/>
              </a:rPr>
              <a:t>StreamX</a:t>
            </a:r>
            <a:r>
              <a:rPr lang="zh-CN" sz="1300">
                <a:latin typeface="Trebuchet MS"/>
                <a:ea typeface="Trebuchet MS"/>
                <a:cs typeface="Trebuchet MS"/>
                <a:sym typeface="Trebuchet MS"/>
              </a:rPr>
              <a:t> Web Demo</a:t>
            </a:r>
            <a:endParaRPr sz="1300">
              <a:latin typeface="Trebuchet MS"/>
              <a:ea typeface="Trebuchet MS"/>
              <a:cs typeface="Trebuchet MS"/>
              <a:sym typeface="Trebuchet MS"/>
            </a:endParaRPr>
          </a:p>
          <a:p>
            <a:pPr indent="-311150" lvl="0" marL="457200" rtl="0" algn="l">
              <a:spcBef>
                <a:spcPts val="1000"/>
              </a:spcBef>
              <a:spcAft>
                <a:spcPts val="0"/>
              </a:spcAft>
              <a:buSzPts val="1300"/>
              <a:buChar char="●"/>
            </a:pPr>
            <a:r>
              <a:rPr lang="zh-CN" sz="1300"/>
              <a:t>Built with Django + Next.js</a:t>
            </a:r>
            <a:endParaRPr sz="1300"/>
          </a:p>
          <a:p>
            <a:pPr indent="-311150" lvl="0" marL="457200" rtl="0" algn="l">
              <a:spcBef>
                <a:spcPts val="0"/>
              </a:spcBef>
              <a:spcAft>
                <a:spcPts val="0"/>
              </a:spcAft>
              <a:buSzPts val="1300"/>
              <a:buChar char="●"/>
            </a:pPr>
            <a:r>
              <a:rPr lang="zh-CN" sz="1300"/>
              <a:t>Supports real-time recommendations</a:t>
            </a:r>
            <a:endParaRPr sz="1300"/>
          </a:p>
          <a:p>
            <a:pPr indent="-311150" lvl="0" marL="457200" rtl="0" algn="l">
              <a:spcBef>
                <a:spcPts val="0"/>
              </a:spcBef>
              <a:spcAft>
                <a:spcPts val="0"/>
              </a:spcAft>
              <a:buSzPts val="1300"/>
              <a:buChar char="●"/>
            </a:pPr>
            <a:r>
              <a:rPr lang="zh-CN" sz="1300"/>
              <a:t>Integrated with TMDB metadata</a:t>
            </a:r>
            <a:endParaRPr sz="1300"/>
          </a:p>
          <a:p>
            <a:pPr indent="-311150" lvl="0" marL="457200" rtl="0" algn="l">
              <a:spcBef>
                <a:spcPts val="0"/>
              </a:spcBef>
              <a:spcAft>
                <a:spcPts val="0"/>
              </a:spcAft>
              <a:buSzPts val="1300"/>
              <a:buChar char="●"/>
            </a:pPr>
            <a:r>
              <a:rPr lang="zh-CN" sz="1300"/>
              <a:t>Enables runtime model switching</a:t>
            </a:r>
            <a:endParaRPr sz="1300"/>
          </a:p>
          <a:p>
            <a:pPr indent="-311150" lvl="0" marL="457200" rtl="0" algn="l">
              <a:spcBef>
                <a:spcPts val="0"/>
              </a:spcBef>
              <a:spcAft>
                <a:spcPts val="0"/>
              </a:spcAft>
              <a:buSzPts val="1300"/>
              <a:buChar char="●"/>
            </a:pPr>
            <a:r>
              <a:rPr lang="zh-CN" sz="1300"/>
              <a:t>Link: </a:t>
            </a:r>
            <a:r>
              <a:rPr b="1" lang="zh-CN" sz="1300" u="sng">
                <a:solidFill>
                  <a:schemeClr val="hlink"/>
                </a:solidFill>
                <a:latin typeface="Trebuchet MS"/>
                <a:ea typeface="Trebuchet MS"/>
                <a:cs typeface="Trebuchet MS"/>
                <a:sym typeface="Trebuchet MS"/>
                <a:hlinkClick r:id="rId3"/>
              </a:rPr>
              <a:t>StreamX: Movies Recommender</a:t>
            </a:r>
            <a:endParaRPr b="1" sz="1300">
              <a:latin typeface="Trebuchet MS"/>
              <a:ea typeface="Trebuchet MS"/>
              <a:cs typeface="Trebuchet MS"/>
              <a:sym typeface="Trebuchet MS"/>
            </a:endParaRPr>
          </a:p>
        </p:txBody>
      </p:sp>
      <p:pic>
        <p:nvPicPr>
          <p:cNvPr id="541" name="Google Shape;541;p44"/>
          <p:cNvPicPr preferRelativeResize="0"/>
          <p:nvPr/>
        </p:nvPicPr>
        <p:blipFill>
          <a:blip r:embed="rId4">
            <a:alphaModFix/>
          </a:blip>
          <a:stretch>
            <a:fillRect/>
          </a:stretch>
        </p:blipFill>
        <p:spPr>
          <a:xfrm>
            <a:off x="7727475" y="3716900"/>
            <a:ext cx="1214049" cy="12140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A37F"/>
        </a:solidFill>
      </p:bgPr>
    </p:bg>
    <p:spTree>
      <p:nvGrpSpPr>
        <p:cNvPr id="545" name="Shape 545"/>
        <p:cNvGrpSpPr/>
        <p:nvPr/>
      </p:nvGrpSpPr>
      <p:grpSpPr>
        <a:xfrm>
          <a:off x="0" y="0"/>
          <a:ext cx="0" cy="0"/>
          <a:chOff x="0" y="0"/>
          <a:chExt cx="0" cy="0"/>
        </a:xfrm>
      </p:grpSpPr>
      <p:sp>
        <p:nvSpPr>
          <p:cNvPr id="546" name="Google Shape;546;p45"/>
          <p:cNvSpPr/>
          <p:nvPr/>
        </p:nvSpPr>
        <p:spPr>
          <a:xfrm>
            <a:off x="117900" y="0"/>
            <a:ext cx="8908200" cy="5143500"/>
          </a:xfrm>
          <a:prstGeom prst="rect">
            <a:avLst/>
          </a:prstGeom>
          <a:solidFill>
            <a:srgbClr val="1E293B"/>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7" name="Google Shape;547;p45"/>
          <p:cNvSpPr txBox="1"/>
          <p:nvPr>
            <p:ph type="ctrTitle"/>
          </p:nvPr>
        </p:nvSpPr>
        <p:spPr>
          <a:xfrm>
            <a:off x="2136750" y="1738681"/>
            <a:ext cx="4870500" cy="1038900"/>
          </a:xfrm>
          <a:prstGeom prst="rect">
            <a:avLst/>
          </a:prstGeom>
          <a:noFill/>
          <a:ln>
            <a:noFill/>
          </a:ln>
        </p:spPr>
        <p:txBody>
          <a:bodyPr anchorCtr="0" anchor="ctr" bIns="34275" lIns="68575" spcFirstLastPara="1" rIns="68575" wrap="square" tIns="34275">
            <a:spAutoFit/>
          </a:bodyPr>
          <a:lstStyle/>
          <a:p>
            <a:pPr indent="0" lvl="0" marL="0" rtl="0" algn="ctr">
              <a:lnSpc>
                <a:spcPct val="90000"/>
              </a:lnSpc>
              <a:spcBef>
                <a:spcPts val="0"/>
              </a:spcBef>
              <a:spcAft>
                <a:spcPts val="0"/>
              </a:spcAft>
              <a:buClr>
                <a:schemeClr val="dk1"/>
              </a:buClr>
              <a:buSzPts val="4500"/>
              <a:buFont typeface="Play"/>
              <a:buNone/>
            </a:pPr>
            <a:r>
              <a:rPr lang="zh-CN" sz="7000">
                <a:solidFill>
                  <a:schemeClr val="lt1"/>
                </a:solidFill>
                <a:latin typeface="Trebuchet MS"/>
                <a:ea typeface="Trebuchet MS"/>
                <a:cs typeface="Trebuchet MS"/>
                <a:sym typeface="Trebuchet MS"/>
              </a:rPr>
              <a:t>Thank </a:t>
            </a:r>
            <a:r>
              <a:rPr lang="zh-CN" sz="7000">
                <a:solidFill>
                  <a:schemeClr val="lt1"/>
                </a:solidFill>
                <a:latin typeface="Trebuchet MS"/>
                <a:ea typeface="Trebuchet MS"/>
                <a:cs typeface="Trebuchet MS"/>
                <a:sym typeface="Trebuchet MS"/>
              </a:rPr>
              <a:t>y</a:t>
            </a:r>
            <a:r>
              <a:rPr lang="zh-CN" sz="7000">
                <a:solidFill>
                  <a:schemeClr val="lt1"/>
                </a:solidFill>
                <a:latin typeface="Trebuchet MS"/>
                <a:ea typeface="Trebuchet MS"/>
                <a:cs typeface="Trebuchet MS"/>
                <a:sym typeface="Trebuchet MS"/>
              </a:rPr>
              <a:t>ou</a:t>
            </a:r>
            <a:endParaRPr sz="7000">
              <a:solidFill>
                <a:schemeClr val="lt1"/>
              </a:solidFill>
              <a:latin typeface="Trebuchet MS"/>
              <a:ea typeface="Trebuchet MS"/>
              <a:cs typeface="Trebuchet MS"/>
              <a:sym typeface="Trebuchet MS"/>
            </a:endParaRPr>
          </a:p>
        </p:txBody>
      </p:sp>
      <p:sp>
        <p:nvSpPr>
          <p:cNvPr id="548" name="Google Shape;548;p45"/>
          <p:cNvSpPr txBox="1"/>
          <p:nvPr>
            <p:ph idx="1" type="subTitle"/>
          </p:nvPr>
        </p:nvSpPr>
        <p:spPr>
          <a:xfrm>
            <a:off x="2136738" y="3607750"/>
            <a:ext cx="4870500" cy="346200"/>
          </a:xfrm>
          <a:prstGeom prst="rect">
            <a:avLst/>
          </a:prstGeom>
          <a:noFill/>
          <a:ln>
            <a:noFill/>
          </a:ln>
        </p:spPr>
        <p:txBody>
          <a:bodyPr anchorCtr="0" anchor="t" bIns="34275" lIns="68575" spcFirstLastPara="1" rIns="68575" wrap="square" tIns="34275">
            <a:spAutoFit/>
          </a:bodyPr>
          <a:lstStyle/>
          <a:p>
            <a:pPr indent="0" lvl="0" marL="0" rtl="0" algn="ctr">
              <a:lnSpc>
                <a:spcPct val="100000"/>
              </a:lnSpc>
              <a:spcBef>
                <a:spcPts val="0"/>
              </a:spcBef>
              <a:spcAft>
                <a:spcPts val="0"/>
              </a:spcAft>
              <a:buSzPts val="1800"/>
              <a:buNone/>
            </a:pPr>
            <a:r>
              <a:rPr lang="zh-CN">
                <a:solidFill>
                  <a:schemeClr val="lt2"/>
                </a:solidFill>
                <a:latin typeface="Trebuchet MS"/>
                <a:ea typeface="Trebuchet MS"/>
                <a:cs typeface="Trebuchet MS"/>
                <a:sym typeface="Trebuchet MS"/>
              </a:rPr>
              <a:t>Yuting Zhou · Yiwei Li</a:t>
            </a:r>
            <a:endParaRPr>
              <a:solidFill>
                <a:schemeClr val="lt2"/>
              </a:solidFill>
              <a:latin typeface="Trebuchet MS"/>
              <a:ea typeface="Trebuchet MS"/>
              <a:cs typeface="Trebuchet MS"/>
              <a:sym typeface="Trebuchet MS"/>
            </a:endParaRPr>
          </a:p>
        </p:txBody>
      </p:sp>
      <p:pic>
        <p:nvPicPr>
          <p:cNvPr id="549" name="Google Shape;549;p45"/>
          <p:cNvPicPr preferRelativeResize="0"/>
          <p:nvPr/>
        </p:nvPicPr>
        <p:blipFill rotWithShape="1">
          <a:blip r:embed="rId3">
            <a:alphaModFix/>
          </a:blip>
          <a:srcRect b="0" l="0" r="0" t="0"/>
          <a:stretch/>
        </p:blipFill>
        <p:spPr>
          <a:xfrm>
            <a:off x="369450" y="250050"/>
            <a:ext cx="1267538" cy="355894"/>
          </a:xfrm>
          <a:prstGeom prst="rect">
            <a:avLst/>
          </a:prstGeom>
          <a:noFill/>
          <a:ln>
            <a:noFill/>
          </a:ln>
        </p:spPr>
      </p:pic>
      <p:sp>
        <p:nvSpPr>
          <p:cNvPr id="550" name="Google Shape;550;p45"/>
          <p:cNvSpPr txBox="1"/>
          <p:nvPr/>
        </p:nvSpPr>
        <p:spPr>
          <a:xfrm>
            <a:off x="1237950" y="2721988"/>
            <a:ext cx="6668100" cy="6003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500"/>
              <a:buFont typeface="Arial"/>
              <a:buNone/>
            </a:pPr>
            <a:r>
              <a:rPr lang="zh-CN" sz="1500">
                <a:solidFill>
                  <a:srgbClr val="0AD8B8"/>
                </a:solidFill>
                <a:latin typeface="Trebuchet MS"/>
                <a:ea typeface="Trebuchet MS"/>
                <a:cs typeface="Trebuchet MS"/>
                <a:sym typeface="Trebuchet MS"/>
              </a:rPr>
              <a:t>Comparative Study of Collaborative Filtering Methods </a:t>
            </a:r>
            <a:endParaRPr sz="1500">
              <a:solidFill>
                <a:srgbClr val="0AD8B8"/>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500"/>
              <a:buFont typeface="Arial"/>
              <a:buNone/>
            </a:pPr>
            <a:r>
              <a:rPr lang="zh-CN" sz="1500">
                <a:solidFill>
                  <a:srgbClr val="0AD8B8"/>
                </a:solidFill>
                <a:latin typeface="Trebuchet MS"/>
                <a:ea typeface="Trebuchet MS"/>
                <a:cs typeface="Trebuchet MS"/>
                <a:sym typeface="Trebuchet MS"/>
              </a:rPr>
              <a:t>for Movie Recommendation</a:t>
            </a:r>
            <a:endParaRPr sz="1500">
              <a:solidFill>
                <a:srgbClr val="0AD8B8"/>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