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9" d="100"/>
          <a:sy n="159" d="100"/>
        </p:scale>
        <p:origin x="336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42034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3749040" cy="68580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566160" y="0"/>
            <a:ext cx="182880" cy="6858000"/>
          </a:xfrm>
          <a:prstGeom prst="rect">
            <a:avLst/>
          </a:prstGeom>
          <a:solidFill>
            <a:srgbClr val="10A37F"/>
          </a:solidFill>
          <a:ln w="12700">
            <a:solidFill>
              <a:srgbClr val="10A37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56692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A7F3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Movie Recommendation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1170432"/>
            <a:ext cx="2743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Comparative Study of Collaborative Filtering Methods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30352" y="278892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MovieLens Latest | 34M ratings | explicit-feedback recommendation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30352" y="619963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Technical presentation deck generated from report.pdf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4343400" y="749808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0A3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Executive result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343400" y="1042416"/>
            <a:ext cx="6309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Deep Hybrid is the best overall model.</a:t>
            </a:r>
          </a:p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SVD-Ridge is the strongest lightweight baseline.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4343400" y="2212848"/>
            <a:ext cx="16002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489704" y="2322576"/>
            <a:ext cx="1307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0A37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0.6005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471416" y="2651760"/>
            <a:ext cx="1344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6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MAE: Deep Hybrid</a:t>
            </a:r>
            <a:endParaRPr lang="en-US" sz="760" dirty="0"/>
          </a:p>
        </p:txBody>
      </p:sp>
      <p:sp>
        <p:nvSpPr>
          <p:cNvPr id="14" name="Shape 12"/>
          <p:cNvSpPr/>
          <p:nvPr/>
        </p:nvSpPr>
        <p:spPr>
          <a:xfrm>
            <a:off x="6126480" y="2212848"/>
            <a:ext cx="16002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272784" y="2322576"/>
            <a:ext cx="1307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563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0.8061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254496" y="2651760"/>
            <a:ext cx="1344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6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RMSE: MF-SGD</a:t>
            </a:r>
            <a:endParaRPr lang="en-US" sz="760" dirty="0"/>
          </a:p>
        </p:txBody>
      </p:sp>
      <p:sp>
        <p:nvSpPr>
          <p:cNvPr id="17" name="Shape 15"/>
          <p:cNvSpPr/>
          <p:nvPr/>
        </p:nvSpPr>
        <p:spPr>
          <a:xfrm>
            <a:off x="7909560" y="2212848"/>
            <a:ext cx="16002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055864" y="2322576"/>
            <a:ext cx="1307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0A37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0.0722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037576" y="2651760"/>
            <a:ext cx="1344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6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NDCG@10</a:t>
            </a:r>
            <a:endParaRPr lang="en-US" sz="760" dirty="0"/>
          </a:p>
        </p:txBody>
      </p:sp>
      <p:sp>
        <p:nvSpPr>
          <p:cNvPr id="20" name="Shape 18"/>
          <p:cNvSpPr/>
          <p:nvPr/>
        </p:nvSpPr>
        <p:spPr>
          <a:xfrm>
            <a:off x="9692640" y="2212848"/>
            <a:ext cx="17830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838944" y="2322576"/>
            <a:ext cx="1490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9E0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27.1M / 6.77M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820656" y="2651760"/>
            <a:ext cx="1527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6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 / test ratings</a:t>
            </a:r>
            <a:endParaRPr lang="en-US" sz="760" dirty="0"/>
          </a:p>
        </p:txBody>
      </p:sp>
      <p:sp>
        <p:nvSpPr>
          <p:cNvPr id="23" name="Shape 21"/>
          <p:cNvSpPr/>
          <p:nvPr/>
        </p:nvSpPr>
        <p:spPr>
          <a:xfrm>
            <a:off x="4343400" y="3401568"/>
            <a:ext cx="338328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4" name="Image 0" descr="D:\Projects\School\Movies-Recommendation\FinalReport\_slide_work\assets\metrics_scatter_mae_ndc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8331" y="3474720"/>
            <a:ext cx="2333419" cy="1764792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4453128" y="5294376"/>
            <a:ext cx="3163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MAE vs. NDCG@10 frontier</a:t>
            </a:r>
            <a:endParaRPr lang="en-US" sz="720" dirty="0"/>
          </a:p>
        </p:txBody>
      </p:sp>
      <p:sp>
        <p:nvSpPr>
          <p:cNvPr id="26" name="Shape 23"/>
          <p:cNvSpPr/>
          <p:nvPr/>
        </p:nvSpPr>
        <p:spPr>
          <a:xfrm>
            <a:off x="7973568" y="3401568"/>
            <a:ext cx="338328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7" name="Image 1" descr="D:\Projects\School\Movies-Recommendation\FinalReport\_slide_work\assets\metrics_rad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06362" y="3474720"/>
            <a:ext cx="1917692" cy="1764792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8083296" y="5294376"/>
            <a:ext cx="3163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Normalized multi-metric profile</a:t>
            </a:r>
            <a:endParaRPr lang="en-US" sz="7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A37F"/>
          </a:solidFill>
          <a:ln w="12700">
            <a:solidFill>
              <a:srgbClr val="10A37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329184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0A3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FRAMING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566928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E29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 Definition and Evaluation Lens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02920" y="1078992"/>
            <a:ext cx="1118585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647395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MovieLens Latest recommendation study</a:t>
            </a:r>
            <a:endParaRPr lang="en-US" sz="680" dirty="0"/>
          </a:p>
        </p:txBody>
      </p:sp>
      <p:sp>
        <p:nvSpPr>
          <p:cNvPr id="8" name="Text 6"/>
          <p:cNvSpPr/>
          <p:nvPr/>
        </p:nvSpPr>
        <p:spPr>
          <a:xfrm>
            <a:off x="11109960" y="64465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720" dirty="0"/>
          </a:p>
        </p:txBody>
      </p:sp>
      <p:sp>
        <p:nvSpPr>
          <p:cNvPr id="9" name="Shape 7"/>
          <p:cNvSpPr/>
          <p:nvPr/>
        </p:nvSpPr>
        <p:spPr>
          <a:xfrm>
            <a:off x="594360" y="1417320"/>
            <a:ext cx="38404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94360" y="1417320"/>
            <a:ext cx="73152" cy="1005840"/>
          </a:xfrm>
          <a:prstGeom prst="rect">
            <a:avLst/>
          </a:prstGeom>
          <a:solidFill>
            <a:srgbClr val="10A37F"/>
          </a:solidFill>
          <a:ln w="12700">
            <a:solidFill>
              <a:srgbClr val="10A37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95528" y="1545336"/>
            <a:ext cx="3511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Goal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95528" y="1856232"/>
            <a:ext cx="34930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 a scoring function that predicts user-item ratings and ranks candidate movies for each user under a shared, reproducible split.</a:t>
            </a:r>
            <a:endParaRPr lang="en-US" sz="960" dirty="0"/>
          </a:p>
        </p:txBody>
      </p:sp>
      <p:sp>
        <p:nvSpPr>
          <p:cNvPr id="13" name="Shape 11"/>
          <p:cNvSpPr/>
          <p:nvPr/>
        </p:nvSpPr>
        <p:spPr>
          <a:xfrm>
            <a:off x="594360" y="2606040"/>
            <a:ext cx="38404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94360" y="2606040"/>
            <a:ext cx="73152" cy="10058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95528" y="2734056"/>
            <a:ext cx="3511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this is hard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95528" y="3044952"/>
            <a:ext cx="34930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matrix is sparse, user activity is heavy-tailed, item popularity is heavy-tailed, and rating error does not always translate into ranking quality.</a:t>
            </a:r>
            <a:endParaRPr lang="en-US" sz="960" dirty="0"/>
          </a:p>
        </p:txBody>
      </p:sp>
      <p:sp>
        <p:nvSpPr>
          <p:cNvPr id="17" name="Shape 15"/>
          <p:cNvSpPr/>
          <p:nvPr/>
        </p:nvSpPr>
        <p:spPr>
          <a:xfrm>
            <a:off x="594360" y="3794760"/>
            <a:ext cx="38404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94360" y="3794760"/>
            <a:ext cx="73152" cy="10058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95528" y="3922776"/>
            <a:ext cx="3511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Evaluation split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95528" y="4233672"/>
            <a:ext cx="34930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Per-user 80/20 random holdout with a fixed seed: 27,065,494 training ratings and 6,766,668 held-out test ratings.</a:t>
            </a:r>
            <a:endParaRPr lang="en-US" sz="960" dirty="0"/>
          </a:p>
        </p:txBody>
      </p:sp>
      <p:sp>
        <p:nvSpPr>
          <p:cNvPr id="21" name="Text 19"/>
          <p:cNvSpPr/>
          <p:nvPr/>
        </p:nvSpPr>
        <p:spPr>
          <a:xfrm>
            <a:off x="4892040" y="14173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10A3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TWO COMPLEMENTARY OBJECTIVES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4892040" y="1783080"/>
            <a:ext cx="283464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138928" y="20299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9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Rating Prediction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230368" y="2487168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Point-wise error over all held-out ratings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257800" y="3154680"/>
            <a:ext cx="9144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404104" y="3264408"/>
            <a:ext cx="621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0A37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MAE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385816" y="3593592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6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Mean absolute error</a:t>
            </a:r>
            <a:endParaRPr lang="en-US" sz="760" dirty="0"/>
          </a:p>
        </p:txBody>
      </p:sp>
      <p:sp>
        <p:nvSpPr>
          <p:cNvPr id="28" name="Shape 26"/>
          <p:cNvSpPr/>
          <p:nvPr/>
        </p:nvSpPr>
        <p:spPr>
          <a:xfrm>
            <a:off x="6400800" y="3154680"/>
            <a:ext cx="9144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547104" y="3264408"/>
            <a:ext cx="621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563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RMSE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6528816" y="3593592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6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Root mean squared error</a:t>
            </a:r>
            <a:endParaRPr lang="en-US" sz="760" dirty="0"/>
          </a:p>
        </p:txBody>
      </p:sp>
      <p:sp>
        <p:nvSpPr>
          <p:cNvPr id="31" name="Text 29"/>
          <p:cNvSpPr/>
          <p:nvPr/>
        </p:nvSpPr>
        <p:spPr>
          <a:xfrm>
            <a:off x="5513832" y="4224528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Lower is better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8046720" y="1783080"/>
            <a:ext cx="324612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8302752" y="20299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9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Top-10 Recommendation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458200" y="2487168"/>
            <a:ext cx="24505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Rank candidate items and score the top-10 list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8366760" y="3154680"/>
            <a:ext cx="7772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8513064" y="3264408"/>
            <a:ext cx="484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0A37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P@10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8494776" y="3593592"/>
            <a:ext cx="5212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6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Precision@10</a:t>
            </a:r>
            <a:endParaRPr lang="en-US" sz="760" dirty="0"/>
          </a:p>
        </p:txBody>
      </p:sp>
      <p:sp>
        <p:nvSpPr>
          <p:cNvPr id="38" name="Shape 36"/>
          <p:cNvSpPr/>
          <p:nvPr/>
        </p:nvSpPr>
        <p:spPr>
          <a:xfrm>
            <a:off x="9262872" y="3154680"/>
            <a:ext cx="7772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9409176" y="3264408"/>
            <a:ext cx="484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563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R@10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9390888" y="3593592"/>
            <a:ext cx="5212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6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Recall@10</a:t>
            </a:r>
            <a:endParaRPr lang="en-US" sz="760" dirty="0"/>
          </a:p>
        </p:txBody>
      </p:sp>
      <p:sp>
        <p:nvSpPr>
          <p:cNvPr id="41" name="Shape 39"/>
          <p:cNvSpPr/>
          <p:nvPr/>
        </p:nvSpPr>
        <p:spPr>
          <a:xfrm>
            <a:off x="10149840" y="3154680"/>
            <a:ext cx="7772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10296144" y="3264408"/>
            <a:ext cx="484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9E0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F1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10277856" y="3593592"/>
            <a:ext cx="5212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6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F1@10</a:t>
            </a:r>
            <a:endParaRPr lang="en-US" sz="760" dirty="0"/>
          </a:p>
        </p:txBody>
      </p:sp>
      <p:sp>
        <p:nvSpPr>
          <p:cNvPr id="44" name="Text 42"/>
          <p:cNvSpPr/>
          <p:nvPr/>
        </p:nvSpPr>
        <p:spPr>
          <a:xfrm>
            <a:off x="8458200" y="4251960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A37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NDCG@10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8915400" y="4553712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Higher is better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4956048" y="5440680"/>
            <a:ext cx="6080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9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protocol treats every held-out test item as relevant for top-10 metrics.</a:t>
            </a:r>
            <a:endParaRPr lang="en-US" sz="920" dirty="0"/>
          </a:p>
          <a:p>
            <a:pPr marL="127000" indent="-127000">
              <a:buSzPct val="100000"/>
              <a:buChar char="•"/>
            </a:pPr>
            <a:r>
              <a:rPr lang="en-US" sz="9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Absolute top-N scores are small because each user can have many held-out items.</a:t>
            </a:r>
            <a:endParaRPr lang="en-US" sz="9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A37F"/>
          </a:solidFill>
          <a:ln w="12700">
            <a:solidFill>
              <a:srgbClr val="10A37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329184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0A3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MOVIELENS LATEST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566928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E29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Dataset Scale and Distribution Shape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02920" y="1078992"/>
            <a:ext cx="1118585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647395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MovieLens Latest recommendation study</a:t>
            </a:r>
            <a:endParaRPr lang="en-US" sz="680" dirty="0"/>
          </a:p>
        </p:txBody>
      </p:sp>
      <p:sp>
        <p:nvSpPr>
          <p:cNvPr id="8" name="Text 6"/>
          <p:cNvSpPr/>
          <p:nvPr/>
        </p:nvSpPr>
        <p:spPr>
          <a:xfrm>
            <a:off x="11109960" y="64465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720" dirty="0"/>
          </a:p>
        </p:txBody>
      </p:sp>
      <p:sp>
        <p:nvSpPr>
          <p:cNvPr id="9" name="Shape 7"/>
          <p:cNvSpPr/>
          <p:nvPr/>
        </p:nvSpPr>
        <p:spPr>
          <a:xfrm>
            <a:off x="594360" y="1353312"/>
            <a:ext cx="3291840" cy="329184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9224" y="1426464"/>
            <a:ext cx="1856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Statistic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615184" y="1426464"/>
            <a:ext cx="1216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Value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594360" y="1682496"/>
            <a:ext cx="32918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9224" y="1751076"/>
            <a:ext cx="1856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Users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2615184" y="1751076"/>
            <a:ext cx="1216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330,975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94360" y="2011680"/>
            <a:ext cx="3291840" cy="32918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49224" y="2080260"/>
            <a:ext cx="1856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Rated movies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615184" y="2080260"/>
            <a:ext cx="1216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83,239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340864"/>
            <a:ext cx="32918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49224" y="2409444"/>
            <a:ext cx="1856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Ratings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2615184" y="2409444"/>
            <a:ext cx="1216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33,832,162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" y="2670048"/>
            <a:ext cx="3291840" cy="32918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49224" y="2738628"/>
            <a:ext cx="1856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Density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2615184" y="2738628"/>
            <a:ext cx="1216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0.12%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94360" y="2999232"/>
            <a:ext cx="32918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49224" y="3067812"/>
            <a:ext cx="1856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Sparsity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2615184" y="3067812"/>
            <a:ext cx="1216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99.88%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594360" y="3328416"/>
            <a:ext cx="3291840" cy="32918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49224" y="3396996"/>
            <a:ext cx="1856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Mean rating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2615184" y="3396996"/>
            <a:ext cx="1216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3.54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594360" y="3657600"/>
            <a:ext cx="32918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49224" y="3726180"/>
            <a:ext cx="1856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Median ratings/user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2615184" y="3726180"/>
            <a:ext cx="1216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31.0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594360" y="3986784"/>
            <a:ext cx="3291840" cy="32918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49224" y="4055364"/>
            <a:ext cx="1856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Median ratings/item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2615184" y="4055364"/>
            <a:ext cx="1216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5.0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594360" y="4645152"/>
            <a:ext cx="329184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594360" y="4645152"/>
            <a:ext cx="73152" cy="896112"/>
          </a:xfrm>
          <a:prstGeom prst="rect">
            <a:avLst/>
          </a:prstGeom>
          <a:solidFill>
            <a:srgbClr val="10A37F"/>
          </a:solidFill>
          <a:ln w="12700">
            <a:solidFill>
              <a:srgbClr val="10A37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795528" y="4773168"/>
            <a:ext cx="2962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 behavior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795528" y="5084064"/>
            <a:ext cx="2944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Ratings are left-skewed and both user activity and item popularity follow heavy-tailed distributions. This makes tail-item generalization and ranking calibration central to the comparison.</a:t>
            </a:r>
            <a:endParaRPr lang="en-US" sz="960" dirty="0"/>
          </a:p>
        </p:txBody>
      </p:sp>
      <p:sp>
        <p:nvSpPr>
          <p:cNvPr id="40" name="Shape 38"/>
          <p:cNvSpPr/>
          <p:nvPr/>
        </p:nvSpPr>
        <p:spPr>
          <a:xfrm>
            <a:off x="4224528" y="1353312"/>
            <a:ext cx="34290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1" name="Image 0" descr="D:\Projects\School\Movies-Recommendation\FinalReport\_slide_work\assets\rating_di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2945" y="1426464"/>
            <a:ext cx="2312166" cy="1444752"/>
          </a:xfrm>
          <a:prstGeom prst="rect">
            <a:avLst/>
          </a:prstGeom>
        </p:spPr>
      </p:pic>
      <p:sp>
        <p:nvSpPr>
          <p:cNvPr id="42" name="Text 39"/>
          <p:cNvSpPr/>
          <p:nvPr/>
        </p:nvSpPr>
        <p:spPr>
          <a:xfrm>
            <a:off x="4334256" y="2926080"/>
            <a:ext cx="32095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Rating values are concentrated around 3.0 and 4.0</a:t>
            </a:r>
            <a:endParaRPr lang="en-US" sz="720" dirty="0"/>
          </a:p>
        </p:txBody>
      </p:sp>
      <p:sp>
        <p:nvSpPr>
          <p:cNvPr id="43" name="Shape 40"/>
          <p:cNvSpPr/>
          <p:nvPr/>
        </p:nvSpPr>
        <p:spPr>
          <a:xfrm>
            <a:off x="7891272" y="1353312"/>
            <a:ext cx="35204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4" name="Image 1" descr="D:\Projects\School\Movies-Recommendation\FinalReport\_slide_work\assets\user_item_dis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64424" y="1499091"/>
            <a:ext cx="3374136" cy="1299498"/>
          </a:xfrm>
          <a:prstGeom prst="rect">
            <a:avLst/>
          </a:prstGeom>
        </p:spPr>
      </p:pic>
      <p:sp>
        <p:nvSpPr>
          <p:cNvPr id="45" name="Text 41"/>
          <p:cNvSpPr/>
          <p:nvPr/>
        </p:nvSpPr>
        <p:spPr>
          <a:xfrm>
            <a:off x="8001000" y="2926080"/>
            <a:ext cx="33009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Log-scaled activity and popularity tails</a:t>
            </a:r>
            <a:endParaRPr lang="en-US" sz="720" dirty="0"/>
          </a:p>
        </p:txBody>
      </p:sp>
      <p:sp>
        <p:nvSpPr>
          <p:cNvPr id="46" name="Shape 42"/>
          <p:cNvSpPr/>
          <p:nvPr/>
        </p:nvSpPr>
        <p:spPr>
          <a:xfrm>
            <a:off x="4224528" y="3675888"/>
            <a:ext cx="3429000" cy="1901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7" name="Image 2" descr="D:\Projects\School\Movies-Recommendation\FinalReport\_slide_work\assets\genre_dis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09159" y="3749040"/>
            <a:ext cx="2659738" cy="1517904"/>
          </a:xfrm>
          <a:prstGeom prst="rect">
            <a:avLst/>
          </a:prstGeom>
        </p:spPr>
      </p:pic>
      <p:sp>
        <p:nvSpPr>
          <p:cNvPr id="48" name="Text 43"/>
          <p:cNvSpPr/>
          <p:nvPr/>
        </p:nvSpPr>
        <p:spPr>
          <a:xfrm>
            <a:off x="4334256" y="5321808"/>
            <a:ext cx="32095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catalog genres</a:t>
            </a:r>
            <a:endParaRPr lang="en-US" sz="720" dirty="0"/>
          </a:p>
        </p:txBody>
      </p:sp>
      <p:sp>
        <p:nvSpPr>
          <p:cNvPr id="49" name="Text 44"/>
          <p:cNvSpPr/>
          <p:nvPr/>
        </p:nvSpPr>
        <p:spPr>
          <a:xfrm>
            <a:off x="7973568" y="388620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Catalog imbalance matters: frequent genres dominate metadata, while long-tail movies carry sparse collaborative signal.</a:t>
            </a:r>
            <a:endParaRPr lang="en-US" sz="1500" dirty="0"/>
          </a:p>
        </p:txBody>
      </p:sp>
      <p:sp>
        <p:nvSpPr>
          <p:cNvPr id="50" name="Text 45"/>
          <p:cNvSpPr/>
          <p:nvPr/>
        </p:nvSpPr>
        <p:spPr>
          <a:xfrm>
            <a:off x="8046720" y="4800600"/>
            <a:ext cx="2971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9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genres: Drama, Comedy, Thriller.</a:t>
            </a:r>
            <a:endParaRPr lang="en-US" sz="920" dirty="0"/>
          </a:p>
          <a:p>
            <a:pPr marL="127000" indent="-127000">
              <a:buSzPct val="100000"/>
              <a:buChar char="•"/>
            </a:pPr>
            <a:r>
              <a:rPr lang="en-US" sz="9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 Gini approx. 0.70; item Gini approx. 0.95.</a:t>
            </a:r>
            <a:endParaRPr lang="en-US" sz="920" dirty="0"/>
          </a:p>
          <a:p>
            <a:pPr marL="127000" indent="-127000">
              <a:buSzPct val="100000"/>
              <a:buChar char="•"/>
            </a:pPr>
            <a:r>
              <a:rPr lang="en-US" sz="9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capacity should help where explicit ratings are sparse.</a:t>
            </a:r>
            <a:endParaRPr lang="en-US" sz="9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A37F"/>
          </a:solidFill>
          <a:ln w="12700">
            <a:solidFill>
              <a:srgbClr val="10A37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329184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0A3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METHODOLOGY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566928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E29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 Families Compared Under One Pipeline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02920" y="1078992"/>
            <a:ext cx="1118585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647395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MovieLens Latest recommendation study</a:t>
            </a:r>
            <a:endParaRPr lang="en-US" sz="680" dirty="0"/>
          </a:p>
        </p:txBody>
      </p:sp>
      <p:sp>
        <p:nvSpPr>
          <p:cNvPr id="8" name="Text 6"/>
          <p:cNvSpPr/>
          <p:nvPr/>
        </p:nvSpPr>
        <p:spPr>
          <a:xfrm>
            <a:off x="11109960" y="64465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720" dirty="0"/>
          </a:p>
        </p:txBody>
      </p:sp>
      <p:sp>
        <p:nvSpPr>
          <p:cNvPr id="9" name="Shape 7"/>
          <p:cNvSpPr/>
          <p:nvPr/>
        </p:nvSpPr>
        <p:spPr>
          <a:xfrm>
            <a:off x="594360" y="1444752"/>
            <a:ext cx="2450592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94360" y="1444752"/>
            <a:ext cx="2450592" cy="109728"/>
          </a:xfrm>
          <a:prstGeom prst="rect">
            <a:avLst/>
          </a:prstGeom>
          <a:solidFill>
            <a:srgbClr val="10A37F"/>
          </a:solidFill>
          <a:ln w="12700">
            <a:solidFill>
              <a:srgbClr val="10A37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58952" y="175564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9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MF-SGD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77240" y="2267712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7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Matrix factorization trained by SGD with user/item biases.</a:t>
            </a:r>
            <a:endParaRPr lang="en-US" sz="970" dirty="0"/>
          </a:p>
        </p:txBody>
      </p:sp>
      <p:sp>
        <p:nvSpPr>
          <p:cNvPr id="13" name="Shape 11"/>
          <p:cNvSpPr/>
          <p:nvPr/>
        </p:nvSpPr>
        <p:spPr>
          <a:xfrm>
            <a:off x="905256" y="3401568"/>
            <a:ext cx="1828800" cy="402336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78408" y="3520440"/>
            <a:ext cx="16824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latent IDs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3383280" y="1444752"/>
            <a:ext cx="2450592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383280" y="1444752"/>
            <a:ext cx="2450592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547872" y="175564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9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Deep Hybrid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566160" y="2267712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7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PyTorch tower with IDs, genres, titles, Huber loss, and GPU minibatches.</a:t>
            </a:r>
            <a:endParaRPr lang="en-US" sz="970" dirty="0"/>
          </a:p>
        </p:txBody>
      </p:sp>
      <p:sp>
        <p:nvSpPr>
          <p:cNvPr id="19" name="Shape 17"/>
          <p:cNvSpPr/>
          <p:nvPr/>
        </p:nvSpPr>
        <p:spPr>
          <a:xfrm>
            <a:off x="3694176" y="3401568"/>
            <a:ext cx="1828800" cy="402336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767328" y="3520440"/>
            <a:ext cx="16824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IDs + content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6172200" y="1444752"/>
            <a:ext cx="2450592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172200" y="1444752"/>
            <a:ext cx="2450592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336792" y="175564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9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SVD Hybrids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355080" y="2267712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7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Sparse SVD embeddings plus Ridge/Lasso calibration or KNN latent scoring.</a:t>
            </a:r>
            <a:endParaRPr lang="en-US" sz="970" dirty="0"/>
          </a:p>
        </p:txBody>
      </p:sp>
      <p:sp>
        <p:nvSpPr>
          <p:cNvPr id="25" name="Shape 23"/>
          <p:cNvSpPr/>
          <p:nvPr/>
        </p:nvSpPr>
        <p:spPr>
          <a:xfrm>
            <a:off x="6483096" y="3401568"/>
            <a:ext cx="1828800" cy="402336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556248" y="3520440"/>
            <a:ext cx="16824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SVD factors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8961120" y="1444752"/>
            <a:ext cx="2450592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8961120" y="1444752"/>
            <a:ext cx="2450592" cy="1097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9125712" y="175564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9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MF-ALS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9144000" y="2267712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7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Alternating least squares baseline with validation early stopping.</a:t>
            </a:r>
            <a:endParaRPr lang="en-US" sz="970" dirty="0"/>
          </a:p>
        </p:txBody>
      </p:sp>
      <p:sp>
        <p:nvSpPr>
          <p:cNvPr id="31" name="Shape 29"/>
          <p:cNvSpPr/>
          <p:nvPr/>
        </p:nvSpPr>
        <p:spPr>
          <a:xfrm>
            <a:off x="9272016" y="3401568"/>
            <a:ext cx="1828800" cy="402336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9345168" y="3520440"/>
            <a:ext cx="16824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ALS factors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1810512" y="4782312"/>
            <a:ext cx="8567928" cy="0"/>
          </a:xfrm>
          <a:prstGeom prst="line">
            <a:avLst/>
          </a:prstGeom>
          <a:noFill/>
          <a:ln w="20320">
            <a:solidFill>
              <a:srgbClr val="10A37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2194560" y="504748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Shared data split, shared evaluation driver, persisted metrics and per-epoch histories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960120" y="5532120"/>
            <a:ext cx="9372600" cy="25603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1014984" y="5605272"/>
            <a:ext cx="1764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MF-SGD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2889504" y="5605272"/>
            <a:ext cx="1764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Deep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4764024" y="5605272"/>
            <a:ext cx="1764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SVD-R/L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6638544" y="5605272"/>
            <a:ext cx="1764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SVD-KNN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8513064" y="5605272"/>
            <a:ext cx="1764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MF-ALS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960120" y="5788152"/>
            <a:ext cx="93726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1014984" y="5856732"/>
            <a:ext cx="1764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k=64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2889504" y="5856732"/>
            <a:ext cx="1764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k=96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4764024" y="5856732"/>
            <a:ext cx="1764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k=48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6638544" y="5856732"/>
            <a:ext cx="1764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k=48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8513064" y="5856732"/>
            <a:ext cx="1764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k=96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A37F"/>
          </a:solidFill>
          <a:ln w="12700">
            <a:solidFill>
              <a:srgbClr val="10A37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329184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0A3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CONTROLLED COMPARISON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566928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E29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Experimental Setup and Training Presets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02920" y="1078992"/>
            <a:ext cx="1118585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647395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MovieLens Latest recommendation study</a:t>
            </a:r>
            <a:endParaRPr lang="en-US" sz="680" dirty="0"/>
          </a:p>
        </p:txBody>
      </p:sp>
      <p:sp>
        <p:nvSpPr>
          <p:cNvPr id="8" name="Text 6"/>
          <p:cNvSpPr/>
          <p:nvPr/>
        </p:nvSpPr>
        <p:spPr>
          <a:xfrm>
            <a:off x="11109960" y="64465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720" dirty="0"/>
          </a:p>
        </p:txBody>
      </p:sp>
      <p:sp>
        <p:nvSpPr>
          <p:cNvPr id="9" name="Shape 7"/>
          <p:cNvSpPr/>
          <p:nvPr/>
        </p:nvSpPr>
        <p:spPr>
          <a:xfrm>
            <a:off x="594360" y="1353312"/>
            <a:ext cx="36576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94360" y="1353312"/>
            <a:ext cx="73152" cy="1234440"/>
          </a:xfrm>
          <a:prstGeom prst="rect">
            <a:avLst/>
          </a:prstGeom>
          <a:solidFill>
            <a:srgbClr val="10A37F"/>
          </a:solidFill>
          <a:ln w="12700">
            <a:solidFill>
              <a:srgbClr val="10A37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95528" y="1481328"/>
            <a:ext cx="3328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Implementation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95528" y="1792224"/>
            <a:ext cx="3310128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 3.11 with a shared tabular pipeline. MF-SGD and Deep Hybrid were migrated to PyTorch; SVD variants use sparse linear algebra; ALS stays NumPy-based.</a:t>
            </a:r>
            <a:endParaRPr lang="en-US" sz="960" dirty="0"/>
          </a:p>
        </p:txBody>
      </p:sp>
      <p:sp>
        <p:nvSpPr>
          <p:cNvPr id="13" name="Shape 11"/>
          <p:cNvSpPr/>
          <p:nvPr/>
        </p:nvSpPr>
        <p:spPr>
          <a:xfrm>
            <a:off x="594360" y="2788920"/>
            <a:ext cx="3657600" cy="10607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94360" y="2788920"/>
            <a:ext cx="73152" cy="10607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95528" y="2916936"/>
            <a:ext cx="3328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Reliability guard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95528" y="3227832"/>
            <a:ext cx="33101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evaluator checks vectorized predict_batch results against scalar predict on sampled inputs, then falls back automatically if inconsistencies are detected.</a:t>
            </a:r>
            <a:endParaRPr lang="en-US" sz="960" dirty="0"/>
          </a:p>
        </p:txBody>
      </p:sp>
      <p:sp>
        <p:nvSpPr>
          <p:cNvPr id="17" name="Shape 15"/>
          <p:cNvSpPr/>
          <p:nvPr/>
        </p:nvSpPr>
        <p:spPr>
          <a:xfrm>
            <a:off x="594360" y="4050792"/>
            <a:ext cx="3657600" cy="10607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94360" y="4050792"/>
            <a:ext cx="73152" cy="106070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95528" y="4178808"/>
            <a:ext cx="3328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Scale target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95528" y="4489704"/>
            <a:ext cx="33101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Large minibatches and persisted histories make tens of millions of explicit ratings tractable while preserving comparable evaluation conditions.</a:t>
            </a:r>
            <a:endParaRPr lang="en-US" sz="960" dirty="0"/>
          </a:p>
        </p:txBody>
      </p:sp>
      <p:sp>
        <p:nvSpPr>
          <p:cNvPr id="21" name="Shape 19"/>
          <p:cNvSpPr/>
          <p:nvPr/>
        </p:nvSpPr>
        <p:spPr>
          <a:xfrm>
            <a:off x="4663440" y="1353312"/>
            <a:ext cx="6839712" cy="329184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718304" y="1426464"/>
            <a:ext cx="10332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Preset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5861304" y="1426464"/>
            <a:ext cx="941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MF-SGD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6912864" y="1426464"/>
            <a:ext cx="10332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Deep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8055864" y="1426464"/>
            <a:ext cx="10607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SVD-R/L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9226296" y="1426464"/>
            <a:ext cx="1124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SVD-KNN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10460736" y="1426464"/>
            <a:ext cx="987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MF-ALS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4663440" y="1682496"/>
            <a:ext cx="6839712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718304" y="1751076"/>
            <a:ext cx="10332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Factors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5861304" y="1751076"/>
            <a:ext cx="941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64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6912864" y="1751076"/>
            <a:ext cx="10332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96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8055864" y="1751076"/>
            <a:ext cx="10607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48/48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9226296" y="1751076"/>
            <a:ext cx="1124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48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10460736" y="1751076"/>
            <a:ext cx="987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96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4663440" y="1993392"/>
            <a:ext cx="6839712" cy="310896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718304" y="2061972"/>
            <a:ext cx="10332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Epochs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5861304" y="2061972"/>
            <a:ext cx="941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150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6912864" y="2061972"/>
            <a:ext cx="10332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50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8055864" y="2061972"/>
            <a:ext cx="10607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9226296" y="2061972"/>
            <a:ext cx="1124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10460736" y="2061972"/>
            <a:ext cx="987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4663440" y="2304288"/>
            <a:ext cx="6839712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4718304" y="2372868"/>
            <a:ext cx="10332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Batch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5861304" y="2372868"/>
            <a:ext cx="941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131k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6912864" y="2372868"/>
            <a:ext cx="10332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65k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8055864" y="2372868"/>
            <a:ext cx="10607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9226296" y="2372868"/>
            <a:ext cx="1124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10460736" y="2372868"/>
            <a:ext cx="987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4663440" y="2615184"/>
            <a:ext cx="6839712" cy="310896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4718304" y="2683764"/>
            <a:ext cx="10332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LR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5861304" y="2683764"/>
            <a:ext cx="941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0.0050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6912864" y="2683764"/>
            <a:ext cx="10332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0.0008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8055864" y="2683764"/>
            <a:ext cx="10607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9226296" y="2683764"/>
            <a:ext cx="1124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10460736" y="2683764"/>
            <a:ext cx="987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4663440" y="2926080"/>
            <a:ext cx="6839712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4718304" y="2994660"/>
            <a:ext cx="10332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5861304" y="2994660"/>
            <a:ext cx="941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0.05</a:t>
            </a:r>
            <a:endParaRPr lang="en-US" sz="750" dirty="0"/>
          </a:p>
        </p:txBody>
      </p:sp>
      <p:sp>
        <p:nvSpPr>
          <p:cNvPr id="59" name="Text 57"/>
          <p:cNvSpPr/>
          <p:nvPr/>
        </p:nvSpPr>
        <p:spPr>
          <a:xfrm>
            <a:off x="6912864" y="2994660"/>
            <a:ext cx="10332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1e-5</a:t>
            </a:r>
            <a:endParaRPr lang="en-US" sz="750" dirty="0"/>
          </a:p>
        </p:txBody>
      </p:sp>
      <p:sp>
        <p:nvSpPr>
          <p:cNvPr id="60" name="Text 58"/>
          <p:cNvSpPr/>
          <p:nvPr/>
        </p:nvSpPr>
        <p:spPr>
          <a:xfrm>
            <a:off x="8055864" y="2994660"/>
            <a:ext cx="10607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0.1/0.1</a:t>
            </a:r>
            <a:endParaRPr lang="en-US" sz="750" dirty="0"/>
          </a:p>
        </p:txBody>
      </p:sp>
      <p:sp>
        <p:nvSpPr>
          <p:cNvPr id="61" name="Text 59"/>
          <p:cNvSpPr/>
          <p:nvPr/>
        </p:nvSpPr>
        <p:spPr>
          <a:xfrm>
            <a:off x="9226296" y="2994660"/>
            <a:ext cx="1124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10460736" y="2994660"/>
            <a:ext cx="987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0.16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4663440" y="3236976"/>
            <a:ext cx="6839712" cy="310896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4718304" y="3305556"/>
            <a:ext cx="10332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Bias reg</a:t>
            </a:r>
            <a:endParaRPr lang="en-US" sz="750" dirty="0"/>
          </a:p>
        </p:txBody>
      </p:sp>
      <p:sp>
        <p:nvSpPr>
          <p:cNvPr id="65" name="Text 63"/>
          <p:cNvSpPr/>
          <p:nvPr/>
        </p:nvSpPr>
        <p:spPr>
          <a:xfrm>
            <a:off x="5861304" y="3305556"/>
            <a:ext cx="941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750" dirty="0"/>
          </a:p>
        </p:txBody>
      </p:sp>
      <p:sp>
        <p:nvSpPr>
          <p:cNvPr id="66" name="Text 64"/>
          <p:cNvSpPr/>
          <p:nvPr/>
        </p:nvSpPr>
        <p:spPr>
          <a:xfrm>
            <a:off x="6912864" y="3305556"/>
            <a:ext cx="10332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750" dirty="0"/>
          </a:p>
        </p:txBody>
      </p:sp>
      <p:sp>
        <p:nvSpPr>
          <p:cNvPr id="67" name="Text 65"/>
          <p:cNvSpPr/>
          <p:nvPr/>
        </p:nvSpPr>
        <p:spPr>
          <a:xfrm>
            <a:off x="8055864" y="3305556"/>
            <a:ext cx="10607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10.0</a:t>
            </a:r>
            <a:endParaRPr lang="en-US" sz="750" dirty="0"/>
          </a:p>
        </p:txBody>
      </p:sp>
      <p:sp>
        <p:nvSpPr>
          <p:cNvPr id="68" name="Text 66"/>
          <p:cNvSpPr/>
          <p:nvPr/>
        </p:nvSpPr>
        <p:spPr>
          <a:xfrm>
            <a:off x="9226296" y="3305556"/>
            <a:ext cx="1124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12.0</a:t>
            </a:r>
            <a:endParaRPr lang="en-US" sz="750" dirty="0"/>
          </a:p>
        </p:txBody>
      </p:sp>
      <p:sp>
        <p:nvSpPr>
          <p:cNvPr id="69" name="Text 67"/>
          <p:cNvSpPr/>
          <p:nvPr/>
        </p:nvSpPr>
        <p:spPr>
          <a:xfrm>
            <a:off x="10460736" y="3305556"/>
            <a:ext cx="987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6.0</a:t>
            </a:r>
            <a:endParaRPr lang="en-US" sz="750" dirty="0"/>
          </a:p>
        </p:txBody>
      </p:sp>
      <p:sp>
        <p:nvSpPr>
          <p:cNvPr id="70" name="Shape 68"/>
          <p:cNvSpPr/>
          <p:nvPr/>
        </p:nvSpPr>
        <p:spPr>
          <a:xfrm>
            <a:off x="4663440" y="3547872"/>
            <a:ext cx="6839712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/>
          <p:nvPr/>
        </p:nvSpPr>
        <p:spPr>
          <a:xfrm>
            <a:off x="4718304" y="3616452"/>
            <a:ext cx="10332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Early stop</a:t>
            </a:r>
            <a:endParaRPr lang="en-US" sz="750" dirty="0"/>
          </a:p>
        </p:txBody>
      </p:sp>
      <p:sp>
        <p:nvSpPr>
          <p:cNvPr id="72" name="Text 70"/>
          <p:cNvSpPr/>
          <p:nvPr/>
        </p:nvSpPr>
        <p:spPr>
          <a:xfrm>
            <a:off x="5861304" y="3616452"/>
            <a:ext cx="941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pat. 6</a:t>
            </a:r>
            <a:endParaRPr lang="en-US" sz="750" dirty="0"/>
          </a:p>
        </p:txBody>
      </p:sp>
      <p:sp>
        <p:nvSpPr>
          <p:cNvPr id="73" name="Text 71"/>
          <p:cNvSpPr/>
          <p:nvPr/>
        </p:nvSpPr>
        <p:spPr>
          <a:xfrm>
            <a:off x="6912864" y="3616452"/>
            <a:ext cx="10332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ckpt</a:t>
            </a:r>
            <a:endParaRPr lang="en-US" sz="750" dirty="0"/>
          </a:p>
        </p:txBody>
      </p:sp>
      <p:sp>
        <p:nvSpPr>
          <p:cNvPr id="74" name="Text 72"/>
          <p:cNvSpPr/>
          <p:nvPr/>
        </p:nvSpPr>
        <p:spPr>
          <a:xfrm>
            <a:off x="8055864" y="3616452"/>
            <a:ext cx="10607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750" dirty="0"/>
          </a:p>
        </p:txBody>
      </p:sp>
      <p:sp>
        <p:nvSpPr>
          <p:cNvPr id="75" name="Text 73"/>
          <p:cNvSpPr/>
          <p:nvPr/>
        </p:nvSpPr>
        <p:spPr>
          <a:xfrm>
            <a:off x="9226296" y="3616452"/>
            <a:ext cx="1124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750" dirty="0"/>
          </a:p>
        </p:txBody>
      </p:sp>
      <p:sp>
        <p:nvSpPr>
          <p:cNvPr id="76" name="Text 74"/>
          <p:cNvSpPr/>
          <p:nvPr/>
        </p:nvSpPr>
        <p:spPr>
          <a:xfrm>
            <a:off x="10460736" y="3616452"/>
            <a:ext cx="987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pat. 6</a:t>
            </a:r>
            <a:endParaRPr lang="en-US" sz="750" dirty="0"/>
          </a:p>
        </p:txBody>
      </p:sp>
      <p:sp>
        <p:nvSpPr>
          <p:cNvPr id="77" name="Shape 75"/>
          <p:cNvSpPr/>
          <p:nvPr/>
        </p:nvSpPr>
        <p:spPr>
          <a:xfrm>
            <a:off x="4663440" y="3858768"/>
            <a:ext cx="6839712" cy="310896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Text 76"/>
          <p:cNvSpPr/>
          <p:nvPr/>
        </p:nvSpPr>
        <p:spPr>
          <a:xfrm>
            <a:off x="4718304" y="3927348"/>
            <a:ext cx="10332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Loss</a:t>
            </a:r>
            <a:endParaRPr lang="en-US" sz="750" dirty="0"/>
          </a:p>
        </p:txBody>
      </p:sp>
      <p:sp>
        <p:nvSpPr>
          <p:cNvPr id="79" name="Text 77"/>
          <p:cNvSpPr/>
          <p:nvPr/>
        </p:nvSpPr>
        <p:spPr>
          <a:xfrm>
            <a:off x="5861304" y="3927348"/>
            <a:ext cx="941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MSE</a:t>
            </a:r>
            <a:endParaRPr lang="en-US" sz="750" dirty="0"/>
          </a:p>
        </p:txBody>
      </p:sp>
      <p:sp>
        <p:nvSpPr>
          <p:cNvPr id="80" name="Text 78"/>
          <p:cNvSpPr/>
          <p:nvPr/>
        </p:nvSpPr>
        <p:spPr>
          <a:xfrm>
            <a:off x="6912864" y="3927348"/>
            <a:ext cx="10332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Huber</a:t>
            </a:r>
            <a:endParaRPr lang="en-US" sz="750" dirty="0"/>
          </a:p>
        </p:txBody>
      </p:sp>
      <p:sp>
        <p:nvSpPr>
          <p:cNvPr id="81" name="Text 79"/>
          <p:cNvSpPr/>
          <p:nvPr/>
        </p:nvSpPr>
        <p:spPr>
          <a:xfrm>
            <a:off x="8055864" y="3927348"/>
            <a:ext cx="10607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750" dirty="0"/>
          </a:p>
        </p:txBody>
      </p:sp>
      <p:sp>
        <p:nvSpPr>
          <p:cNvPr id="82" name="Text 80"/>
          <p:cNvSpPr/>
          <p:nvPr/>
        </p:nvSpPr>
        <p:spPr>
          <a:xfrm>
            <a:off x="9226296" y="3927348"/>
            <a:ext cx="1124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750" dirty="0"/>
          </a:p>
        </p:txBody>
      </p:sp>
      <p:sp>
        <p:nvSpPr>
          <p:cNvPr id="83" name="Text 81"/>
          <p:cNvSpPr/>
          <p:nvPr/>
        </p:nvSpPr>
        <p:spPr>
          <a:xfrm>
            <a:off x="10460736" y="3927348"/>
            <a:ext cx="987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MSE</a:t>
            </a:r>
            <a:endParaRPr lang="en-US" sz="750" dirty="0"/>
          </a:p>
        </p:txBody>
      </p:sp>
      <p:sp>
        <p:nvSpPr>
          <p:cNvPr id="84" name="Text 82"/>
          <p:cNvSpPr/>
          <p:nvPr/>
        </p:nvSpPr>
        <p:spPr>
          <a:xfrm>
            <a:off x="4681728" y="5230368"/>
            <a:ext cx="612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Takeaway: the study controls the split and metrics, but lets each model use a practical tuned preset for MovieLens Latest.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A37F"/>
          </a:solidFill>
          <a:ln w="12700">
            <a:solidFill>
              <a:srgbClr val="10A37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329184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0A3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566928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E29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Rating Prediction: Deep Wins MAE, MF-SGD Wins RMSE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02920" y="1078992"/>
            <a:ext cx="1118585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647395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MovieLens Latest recommendation study</a:t>
            </a:r>
            <a:endParaRPr lang="en-US" sz="680" dirty="0"/>
          </a:p>
        </p:txBody>
      </p:sp>
      <p:sp>
        <p:nvSpPr>
          <p:cNvPr id="8" name="Text 6"/>
          <p:cNvSpPr/>
          <p:nvPr/>
        </p:nvSpPr>
        <p:spPr>
          <a:xfrm>
            <a:off x="11109960" y="64465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720" dirty="0"/>
          </a:p>
        </p:txBody>
      </p:sp>
      <p:sp>
        <p:nvSpPr>
          <p:cNvPr id="9" name="Shape 7"/>
          <p:cNvSpPr/>
          <p:nvPr/>
        </p:nvSpPr>
        <p:spPr>
          <a:xfrm>
            <a:off x="594360" y="1353312"/>
            <a:ext cx="3008376" cy="329184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9224" y="1426464"/>
            <a:ext cx="1399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157984" y="142646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MAE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2907792" y="142646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RMSE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94360" y="1682496"/>
            <a:ext cx="3008376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9224" y="1751076"/>
            <a:ext cx="1399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Deep Hybrid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2157984" y="1751076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0.6005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2907792" y="1751076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0.8148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94360" y="2011680"/>
            <a:ext cx="3008376" cy="32918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49224" y="2080260"/>
            <a:ext cx="1399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MF-SGD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157984" y="208026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0.6020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2907792" y="208026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0.8061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" y="2340864"/>
            <a:ext cx="3008376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49224" y="2409444"/>
            <a:ext cx="1399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SVD-Ridge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2157984" y="2409444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0.6286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2907792" y="2409444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0.8312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94360" y="2670048"/>
            <a:ext cx="3008376" cy="32918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49224" y="2738628"/>
            <a:ext cx="1399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SVD-KNN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2157984" y="2738628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0.6810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2907792" y="2738628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0.9058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594360" y="2999232"/>
            <a:ext cx="3008376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49224" y="3067812"/>
            <a:ext cx="1399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SVD-Lasso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2157984" y="3067812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0.6714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2907792" y="3067812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0.8747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594360" y="3328416"/>
            <a:ext cx="3008376" cy="32918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49224" y="3396996"/>
            <a:ext cx="1399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MF-ALS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2157984" y="3396996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0.7303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2907792" y="3396996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0.9786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3886200" y="1353312"/>
            <a:ext cx="5257800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4233672" y="1536192"/>
            <a:ext cx="475488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3931920" y="1463040"/>
            <a:ext cx="256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58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1.05</a:t>
            </a:r>
            <a:endParaRPr lang="en-US" sz="580" dirty="0"/>
          </a:p>
        </p:txBody>
      </p:sp>
      <p:sp>
        <p:nvSpPr>
          <p:cNvPr id="40" name="Shape 38"/>
          <p:cNvSpPr/>
          <p:nvPr/>
        </p:nvSpPr>
        <p:spPr>
          <a:xfrm>
            <a:off x="4233672" y="2123694"/>
            <a:ext cx="475488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3931920" y="2050542"/>
            <a:ext cx="256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58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0.79</a:t>
            </a:r>
            <a:endParaRPr lang="en-US" sz="580" dirty="0"/>
          </a:p>
        </p:txBody>
      </p:sp>
      <p:sp>
        <p:nvSpPr>
          <p:cNvPr id="42" name="Shape 40"/>
          <p:cNvSpPr/>
          <p:nvPr/>
        </p:nvSpPr>
        <p:spPr>
          <a:xfrm>
            <a:off x="4233672" y="2711196"/>
            <a:ext cx="475488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3931920" y="2638044"/>
            <a:ext cx="256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58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0.53</a:t>
            </a:r>
            <a:endParaRPr lang="en-US" sz="580" dirty="0"/>
          </a:p>
        </p:txBody>
      </p:sp>
      <p:sp>
        <p:nvSpPr>
          <p:cNvPr id="44" name="Shape 42"/>
          <p:cNvSpPr/>
          <p:nvPr/>
        </p:nvSpPr>
        <p:spPr>
          <a:xfrm>
            <a:off x="4233672" y="3298698"/>
            <a:ext cx="475488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3931920" y="3225546"/>
            <a:ext cx="256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58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0.26</a:t>
            </a:r>
            <a:endParaRPr lang="en-US" sz="580" dirty="0"/>
          </a:p>
        </p:txBody>
      </p:sp>
      <p:sp>
        <p:nvSpPr>
          <p:cNvPr id="46" name="Shape 44"/>
          <p:cNvSpPr/>
          <p:nvPr/>
        </p:nvSpPr>
        <p:spPr>
          <a:xfrm>
            <a:off x="4233672" y="3886200"/>
            <a:ext cx="47548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3931920" y="3813048"/>
            <a:ext cx="256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58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0.00</a:t>
            </a:r>
            <a:endParaRPr lang="en-US" sz="580" dirty="0"/>
          </a:p>
        </p:txBody>
      </p:sp>
      <p:sp>
        <p:nvSpPr>
          <p:cNvPr id="48" name="Shape 46"/>
          <p:cNvSpPr/>
          <p:nvPr/>
        </p:nvSpPr>
        <p:spPr>
          <a:xfrm>
            <a:off x="4315358" y="2542219"/>
            <a:ext cx="296266" cy="1343981"/>
          </a:xfrm>
          <a:prstGeom prst="rect">
            <a:avLst/>
          </a:prstGeom>
          <a:solidFill>
            <a:srgbClr val="10A37F"/>
          </a:solidFill>
          <a:ln w="12700">
            <a:solidFill>
              <a:srgbClr val="10A37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4648200" y="2062594"/>
            <a:ext cx="296266" cy="182360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4233672" y="4005072"/>
            <a:ext cx="79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Deep</a:t>
            </a:r>
            <a:endParaRPr lang="en-US" sz="620" dirty="0"/>
          </a:p>
        </p:txBody>
      </p:sp>
      <p:sp>
        <p:nvSpPr>
          <p:cNvPr id="51" name="Shape 49"/>
          <p:cNvSpPr/>
          <p:nvPr/>
        </p:nvSpPr>
        <p:spPr>
          <a:xfrm>
            <a:off x="5107838" y="2538862"/>
            <a:ext cx="296266" cy="1347338"/>
          </a:xfrm>
          <a:prstGeom prst="rect">
            <a:avLst/>
          </a:prstGeom>
          <a:solidFill>
            <a:srgbClr val="10A37F"/>
          </a:solidFill>
          <a:ln w="12700">
            <a:solidFill>
              <a:srgbClr val="10A37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5440680" y="2082065"/>
            <a:ext cx="296266" cy="1804135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5026152" y="4005072"/>
            <a:ext cx="79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MF-SGD</a:t>
            </a:r>
            <a:endParaRPr lang="en-US" sz="620" dirty="0"/>
          </a:p>
        </p:txBody>
      </p:sp>
      <p:sp>
        <p:nvSpPr>
          <p:cNvPr id="54" name="Shape 52"/>
          <p:cNvSpPr/>
          <p:nvPr/>
        </p:nvSpPr>
        <p:spPr>
          <a:xfrm>
            <a:off x="5900318" y="2479329"/>
            <a:ext cx="296266" cy="1406871"/>
          </a:xfrm>
          <a:prstGeom prst="rect">
            <a:avLst/>
          </a:prstGeom>
          <a:solidFill>
            <a:srgbClr val="10A37F"/>
          </a:solidFill>
          <a:ln w="12700">
            <a:solidFill>
              <a:srgbClr val="10A37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6233160" y="2025889"/>
            <a:ext cx="296266" cy="1860311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5818632" y="4005072"/>
            <a:ext cx="79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Ridge</a:t>
            </a:r>
            <a:endParaRPr lang="en-US" sz="620" dirty="0"/>
          </a:p>
        </p:txBody>
      </p:sp>
      <p:sp>
        <p:nvSpPr>
          <p:cNvPr id="57" name="Shape 55"/>
          <p:cNvSpPr/>
          <p:nvPr/>
        </p:nvSpPr>
        <p:spPr>
          <a:xfrm>
            <a:off x="6692798" y="2362052"/>
            <a:ext cx="296266" cy="1524148"/>
          </a:xfrm>
          <a:prstGeom prst="rect">
            <a:avLst/>
          </a:prstGeom>
          <a:solidFill>
            <a:srgbClr val="10A37F"/>
          </a:solidFill>
          <a:ln w="12700">
            <a:solidFill>
              <a:srgbClr val="10A37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7025640" y="1858926"/>
            <a:ext cx="296266" cy="202727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6611112" y="4005072"/>
            <a:ext cx="79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KNN</a:t>
            </a:r>
            <a:endParaRPr lang="en-US" sz="620" dirty="0"/>
          </a:p>
        </p:txBody>
      </p:sp>
      <p:sp>
        <p:nvSpPr>
          <p:cNvPr id="60" name="Shape 58"/>
          <p:cNvSpPr/>
          <p:nvPr/>
        </p:nvSpPr>
        <p:spPr>
          <a:xfrm>
            <a:off x="7485278" y="2383538"/>
            <a:ext cx="296266" cy="1502662"/>
          </a:xfrm>
          <a:prstGeom prst="rect">
            <a:avLst/>
          </a:prstGeom>
          <a:solidFill>
            <a:srgbClr val="10A37F"/>
          </a:solidFill>
          <a:ln w="12700">
            <a:solidFill>
              <a:srgbClr val="10A37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>
            <a:off x="7818120" y="1928531"/>
            <a:ext cx="296266" cy="1957669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7403592" y="4005072"/>
            <a:ext cx="79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Lasso</a:t>
            </a:r>
            <a:endParaRPr lang="en-US" sz="620" dirty="0"/>
          </a:p>
        </p:txBody>
      </p:sp>
      <p:sp>
        <p:nvSpPr>
          <p:cNvPr id="63" name="Shape 61"/>
          <p:cNvSpPr/>
          <p:nvPr/>
        </p:nvSpPr>
        <p:spPr>
          <a:xfrm>
            <a:off x="8277758" y="2251713"/>
            <a:ext cx="296266" cy="1634487"/>
          </a:xfrm>
          <a:prstGeom prst="rect">
            <a:avLst/>
          </a:prstGeom>
          <a:solidFill>
            <a:srgbClr val="10A37F"/>
          </a:solidFill>
          <a:ln w="12700">
            <a:solidFill>
              <a:srgbClr val="10A37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Shape 62"/>
          <p:cNvSpPr/>
          <p:nvPr/>
        </p:nvSpPr>
        <p:spPr>
          <a:xfrm>
            <a:off x="8610600" y="1695993"/>
            <a:ext cx="296266" cy="2190207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8196072" y="4005072"/>
            <a:ext cx="79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ALS</a:t>
            </a:r>
            <a:endParaRPr lang="en-US" sz="620" dirty="0"/>
          </a:p>
        </p:txBody>
      </p:sp>
      <p:sp>
        <p:nvSpPr>
          <p:cNvPr id="66" name="Shape 64"/>
          <p:cNvSpPr/>
          <p:nvPr/>
        </p:nvSpPr>
        <p:spPr>
          <a:xfrm>
            <a:off x="4233672" y="4251960"/>
            <a:ext cx="109728" cy="73152"/>
          </a:xfrm>
          <a:prstGeom prst="rect">
            <a:avLst/>
          </a:prstGeom>
          <a:solidFill>
            <a:srgbClr val="10A37F"/>
          </a:solidFill>
          <a:ln w="12700">
            <a:solidFill>
              <a:srgbClr val="10A37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4379976" y="4233672"/>
            <a:ext cx="71323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MAE</a:t>
            </a:r>
            <a:endParaRPr lang="en-US" sz="620" dirty="0"/>
          </a:p>
        </p:txBody>
      </p:sp>
      <p:sp>
        <p:nvSpPr>
          <p:cNvPr id="68" name="Shape 66"/>
          <p:cNvSpPr/>
          <p:nvPr/>
        </p:nvSpPr>
        <p:spPr>
          <a:xfrm>
            <a:off x="5148072" y="4251960"/>
            <a:ext cx="109728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5294376" y="4233672"/>
            <a:ext cx="71323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RMSE</a:t>
            </a:r>
            <a:endParaRPr lang="en-US" sz="620" dirty="0"/>
          </a:p>
        </p:txBody>
      </p:sp>
      <p:sp>
        <p:nvSpPr>
          <p:cNvPr id="70" name="Shape 68"/>
          <p:cNvSpPr/>
          <p:nvPr/>
        </p:nvSpPr>
        <p:spPr>
          <a:xfrm>
            <a:off x="9464040" y="1353312"/>
            <a:ext cx="19659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Shape 69"/>
          <p:cNvSpPr/>
          <p:nvPr/>
        </p:nvSpPr>
        <p:spPr>
          <a:xfrm>
            <a:off x="9464040" y="1353312"/>
            <a:ext cx="73152" cy="1554480"/>
          </a:xfrm>
          <a:prstGeom prst="rect">
            <a:avLst/>
          </a:prstGeom>
          <a:solidFill>
            <a:srgbClr val="10A37F"/>
          </a:solidFill>
          <a:ln w="12700">
            <a:solidFill>
              <a:srgbClr val="10A37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Text 70"/>
          <p:cNvSpPr/>
          <p:nvPr/>
        </p:nvSpPr>
        <p:spPr>
          <a:xfrm>
            <a:off x="9665208" y="1481328"/>
            <a:ext cx="1636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Interpretation</a:t>
            </a:r>
            <a:endParaRPr lang="en-US" sz="1300" dirty="0"/>
          </a:p>
        </p:txBody>
      </p:sp>
      <p:sp>
        <p:nvSpPr>
          <p:cNvPr id="73" name="Text 71"/>
          <p:cNvSpPr/>
          <p:nvPr/>
        </p:nvSpPr>
        <p:spPr>
          <a:xfrm>
            <a:off x="9665208" y="1792224"/>
            <a:ext cx="1618488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Deep Hybrid achieves the best absolute-error profile, but MF-SGD slightly improves RMSE. SVD-Ridge is the strongest linear model after retuning.</a:t>
            </a:r>
            <a:endParaRPr lang="en-US" sz="960" dirty="0"/>
          </a:p>
        </p:txBody>
      </p:sp>
      <p:sp>
        <p:nvSpPr>
          <p:cNvPr id="74" name="Shape 72"/>
          <p:cNvSpPr/>
          <p:nvPr/>
        </p:nvSpPr>
        <p:spPr>
          <a:xfrm>
            <a:off x="3749040" y="4681728"/>
            <a:ext cx="539496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5" name="Image 0" descr="D:\Projects\School\Movies-Recommendation\FinalReport\_slide_work\assets\model_comparison_rat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7465" y="4754880"/>
            <a:ext cx="1458110" cy="694944"/>
          </a:xfrm>
          <a:prstGeom prst="rect">
            <a:avLst/>
          </a:prstGeom>
        </p:spPr>
      </p:pic>
      <p:sp>
        <p:nvSpPr>
          <p:cNvPr id="76" name="Text 73"/>
          <p:cNvSpPr/>
          <p:nvPr/>
        </p:nvSpPr>
        <p:spPr>
          <a:xfrm>
            <a:off x="3858768" y="5504688"/>
            <a:ext cx="51755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 figure: side-by-side error comparison</a:t>
            </a:r>
            <a:endParaRPr lang="en-US" sz="720" dirty="0"/>
          </a:p>
        </p:txBody>
      </p:sp>
      <p:sp>
        <p:nvSpPr>
          <p:cNvPr id="77" name="Text 74"/>
          <p:cNvSpPr/>
          <p:nvPr/>
        </p:nvSpPr>
        <p:spPr>
          <a:xfrm>
            <a:off x="9555480" y="3273552"/>
            <a:ext cx="16916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88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Deep Hybrid: best MAE at 0.6005.</a:t>
            </a:r>
            <a:endParaRPr lang="en-US" sz="880" dirty="0"/>
          </a:p>
          <a:p>
            <a:pPr marL="127000" indent="-127000">
              <a:buSzPct val="100000"/>
              <a:buChar char="•"/>
            </a:pPr>
            <a:r>
              <a:rPr lang="en-US" sz="88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MF-SGD: best RMSE at 0.8061.</a:t>
            </a:r>
            <a:endParaRPr lang="en-US" sz="880" dirty="0"/>
          </a:p>
          <a:p>
            <a:pPr marL="127000" indent="-127000">
              <a:buSzPct val="100000"/>
              <a:buChar char="•"/>
            </a:pPr>
            <a:r>
              <a:rPr lang="en-US" sz="88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MF-ALS trails on both point-wise metrics under this preset.</a:t>
            </a:r>
            <a:endParaRPr lang="en-US" sz="8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A37F"/>
          </a:solidFill>
          <a:ln w="12700">
            <a:solidFill>
              <a:srgbClr val="10A37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329184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0A3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566928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E29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Top-10 Ranking: Deep Hybrid Leads, SVD-Ridge Is Close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02920" y="1078992"/>
            <a:ext cx="1118585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647395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MovieLens Latest recommendation study</a:t>
            </a:r>
            <a:endParaRPr lang="en-US" sz="680" dirty="0"/>
          </a:p>
        </p:txBody>
      </p:sp>
      <p:sp>
        <p:nvSpPr>
          <p:cNvPr id="8" name="Text 6"/>
          <p:cNvSpPr/>
          <p:nvPr/>
        </p:nvSpPr>
        <p:spPr>
          <a:xfrm>
            <a:off x="11109960" y="64465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720" dirty="0"/>
          </a:p>
        </p:txBody>
      </p:sp>
      <p:sp>
        <p:nvSpPr>
          <p:cNvPr id="9" name="Shape 7"/>
          <p:cNvSpPr/>
          <p:nvPr/>
        </p:nvSpPr>
        <p:spPr>
          <a:xfrm>
            <a:off x="594360" y="1298448"/>
            <a:ext cx="3785616" cy="329184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9224" y="1371600"/>
            <a:ext cx="1152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1911096" y="1371600"/>
            <a:ext cx="512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P@10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2532888" y="1371600"/>
            <a:ext cx="512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R@10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3154680" y="1371600"/>
            <a:ext cx="512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F1@10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3776472" y="137160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NDCG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594360" y="1627632"/>
            <a:ext cx="3785616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49224" y="1696212"/>
            <a:ext cx="11521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Deep Hybrid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1911096" y="1696212"/>
            <a:ext cx="5120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0.0533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2532888" y="1696212"/>
            <a:ext cx="5120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0.0480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3154680" y="1696212"/>
            <a:ext cx="5120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0.0331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3776472" y="169621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0.0722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594360" y="1947672"/>
            <a:ext cx="3785616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49224" y="2016252"/>
            <a:ext cx="11521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SVD-Ridge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1911096" y="2016252"/>
            <a:ext cx="5120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0.0520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2532888" y="2016252"/>
            <a:ext cx="5120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0.0240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3154680" y="2016252"/>
            <a:ext cx="5120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0.0212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3776472" y="20162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0.0671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594360" y="2267712"/>
            <a:ext cx="3785616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49224" y="2336292"/>
            <a:ext cx="11521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MF-SGD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1911096" y="2336292"/>
            <a:ext cx="5120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0.0367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2532888" y="2336292"/>
            <a:ext cx="5120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0.0294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3154680" y="2336292"/>
            <a:ext cx="5120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0.0218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3776472" y="233629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0.0509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594360" y="2587752"/>
            <a:ext cx="3785616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49224" y="2656332"/>
            <a:ext cx="11521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SVD-KNN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1911096" y="2656332"/>
            <a:ext cx="5120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0.0159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2532888" y="2656332"/>
            <a:ext cx="5120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0.0200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3154680" y="2656332"/>
            <a:ext cx="5120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0.0127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3776472" y="26563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0.0230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594360" y="2907792"/>
            <a:ext cx="3785616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649224" y="2976372"/>
            <a:ext cx="11521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SVD-Lasso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1911096" y="2976372"/>
            <a:ext cx="5120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0.0152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2532888" y="2976372"/>
            <a:ext cx="5120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0.0099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3154680" y="2976372"/>
            <a:ext cx="5120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0.0063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3776472" y="297637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0.0177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594360" y="3227832"/>
            <a:ext cx="3785616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649224" y="3296412"/>
            <a:ext cx="11521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MF-ALS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1911096" y="3296412"/>
            <a:ext cx="5120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0.0072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2532888" y="3296412"/>
            <a:ext cx="5120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0.0038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3154680" y="3296412"/>
            <a:ext cx="5120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0.0034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3776472" y="329641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0.0091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4800600" y="1298448"/>
            <a:ext cx="301752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5148072" y="1481328"/>
            <a:ext cx="25146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4846320" y="1408176"/>
            <a:ext cx="256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58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0.08</a:t>
            </a:r>
            <a:endParaRPr lang="en-US" sz="580" dirty="0"/>
          </a:p>
        </p:txBody>
      </p:sp>
      <p:sp>
        <p:nvSpPr>
          <p:cNvPr id="54" name="Shape 52"/>
          <p:cNvSpPr/>
          <p:nvPr/>
        </p:nvSpPr>
        <p:spPr>
          <a:xfrm>
            <a:off x="5148072" y="1885950"/>
            <a:ext cx="25146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4846320" y="1812798"/>
            <a:ext cx="256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58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0.06</a:t>
            </a:r>
            <a:endParaRPr lang="en-US" sz="580" dirty="0"/>
          </a:p>
        </p:txBody>
      </p:sp>
      <p:sp>
        <p:nvSpPr>
          <p:cNvPr id="56" name="Shape 54"/>
          <p:cNvSpPr/>
          <p:nvPr/>
        </p:nvSpPr>
        <p:spPr>
          <a:xfrm>
            <a:off x="5148072" y="2290572"/>
            <a:ext cx="25146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4846320" y="2217420"/>
            <a:ext cx="256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58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0.04</a:t>
            </a:r>
            <a:endParaRPr lang="en-US" sz="580" dirty="0"/>
          </a:p>
        </p:txBody>
      </p:sp>
      <p:sp>
        <p:nvSpPr>
          <p:cNvPr id="58" name="Shape 56"/>
          <p:cNvSpPr/>
          <p:nvPr/>
        </p:nvSpPr>
        <p:spPr>
          <a:xfrm>
            <a:off x="5148072" y="2695194"/>
            <a:ext cx="25146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4846320" y="2622042"/>
            <a:ext cx="256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58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0.02</a:t>
            </a:r>
            <a:endParaRPr lang="en-US" sz="580" dirty="0"/>
          </a:p>
        </p:txBody>
      </p:sp>
      <p:sp>
        <p:nvSpPr>
          <p:cNvPr id="60" name="Shape 58"/>
          <p:cNvSpPr/>
          <p:nvPr/>
        </p:nvSpPr>
        <p:spPr>
          <a:xfrm>
            <a:off x="5148072" y="3099816"/>
            <a:ext cx="25146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4846320" y="3026664"/>
            <a:ext cx="256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58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0.00</a:t>
            </a:r>
            <a:endParaRPr lang="en-US" sz="580" dirty="0"/>
          </a:p>
        </p:txBody>
      </p:sp>
      <p:sp>
        <p:nvSpPr>
          <p:cNvPr id="62" name="Shape 60"/>
          <p:cNvSpPr/>
          <p:nvPr/>
        </p:nvSpPr>
        <p:spPr>
          <a:xfrm>
            <a:off x="5199888" y="1639131"/>
            <a:ext cx="315468" cy="1460685"/>
          </a:xfrm>
          <a:prstGeom prst="rect">
            <a:avLst/>
          </a:prstGeom>
          <a:solidFill>
            <a:srgbClr val="10A37F"/>
          </a:solidFill>
          <a:ln w="12700">
            <a:solidFill>
              <a:srgbClr val="10A37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5148072" y="3218688"/>
            <a:ext cx="4191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57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Deep</a:t>
            </a:r>
            <a:endParaRPr lang="en-US" sz="570" dirty="0"/>
          </a:p>
        </p:txBody>
      </p:sp>
      <p:sp>
        <p:nvSpPr>
          <p:cNvPr id="64" name="Shape 62"/>
          <p:cNvSpPr/>
          <p:nvPr/>
        </p:nvSpPr>
        <p:spPr>
          <a:xfrm>
            <a:off x="5618988" y="1742309"/>
            <a:ext cx="315468" cy="1357507"/>
          </a:xfrm>
          <a:prstGeom prst="rect">
            <a:avLst/>
          </a:prstGeom>
          <a:solidFill>
            <a:srgbClr val="10A37F"/>
          </a:solidFill>
          <a:ln w="12700">
            <a:solidFill>
              <a:srgbClr val="10A37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5567172" y="3218688"/>
            <a:ext cx="4191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57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Ridge</a:t>
            </a:r>
            <a:endParaRPr lang="en-US" sz="570" dirty="0"/>
          </a:p>
        </p:txBody>
      </p:sp>
      <p:sp>
        <p:nvSpPr>
          <p:cNvPr id="66" name="Shape 64"/>
          <p:cNvSpPr/>
          <p:nvPr/>
        </p:nvSpPr>
        <p:spPr>
          <a:xfrm>
            <a:off x="6038088" y="2070053"/>
            <a:ext cx="315468" cy="1029763"/>
          </a:xfrm>
          <a:prstGeom prst="rect">
            <a:avLst/>
          </a:prstGeom>
          <a:solidFill>
            <a:srgbClr val="10A37F"/>
          </a:solidFill>
          <a:ln w="12700">
            <a:solidFill>
              <a:srgbClr val="10A37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5986272" y="3218688"/>
            <a:ext cx="4191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57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MF</a:t>
            </a:r>
            <a:endParaRPr lang="en-US" sz="570" dirty="0"/>
          </a:p>
        </p:txBody>
      </p:sp>
      <p:sp>
        <p:nvSpPr>
          <p:cNvPr id="68" name="Shape 66"/>
          <p:cNvSpPr/>
          <p:nvPr/>
        </p:nvSpPr>
        <p:spPr>
          <a:xfrm>
            <a:off x="6457188" y="2634501"/>
            <a:ext cx="315468" cy="465315"/>
          </a:xfrm>
          <a:prstGeom prst="rect">
            <a:avLst/>
          </a:prstGeom>
          <a:solidFill>
            <a:srgbClr val="10A37F"/>
          </a:solidFill>
          <a:ln w="12700">
            <a:solidFill>
              <a:srgbClr val="10A37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6405372" y="3218688"/>
            <a:ext cx="4191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57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KNN</a:t>
            </a:r>
            <a:endParaRPr lang="en-US" sz="570" dirty="0"/>
          </a:p>
        </p:txBody>
      </p:sp>
      <p:sp>
        <p:nvSpPr>
          <p:cNvPr id="70" name="Shape 68"/>
          <p:cNvSpPr/>
          <p:nvPr/>
        </p:nvSpPr>
        <p:spPr>
          <a:xfrm>
            <a:off x="6876288" y="2741726"/>
            <a:ext cx="315468" cy="358090"/>
          </a:xfrm>
          <a:prstGeom prst="rect">
            <a:avLst/>
          </a:prstGeom>
          <a:solidFill>
            <a:srgbClr val="10A37F"/>
          </a:solidFill>
          <a:ln w="12700">
            <a:solidFill>
              <a:srgbClr val="10A37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/>
          <p:nvPr/>
        </p:nvSpPr>
        <p:spPr>
          <a:xfrm>
            <a:off x="6824472" y="3218688"/>
            <a:ext cx="4191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57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Lasso</a:t>
            </a:r>
            <a:endParaRPr lang="en-US" sz="570" dirty="0"/>
          </a:p>
        </p:txBody>
      </p:sp>
      <p:sp>
        <p:nvSpPr>
          <p:cNvPr id="72" name="Shape 70"/>
          <p:cNvSpPr/>
          <p:nvPr/>
        </p:nvSpPr>
        <p:spPr>
          <a:xfrm>
            <a:off x="7295388" y="2915713"/>
            <a:ext cx="315468" cy="184103"/>
          </a:xfrm>
          <a:prstGeom prst="rect">
            <a:avLst/>
          </a:prstGeom>
          <a:solidFill>
            <a:srgbClr val="10A37F"/>
          </a:solidFill>
          <a:ln w="12700">
            <a:solidFill>
              <a:srgbClr val="10A37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Text 71"/>
          <p:cNvSpPr/>
          <p:nvPr/>
        </p:nvSpPr>
        <p:spPr>
          <a:xfrm>
            <a:off x="7243572" y="3218688"/>
            <a:ext cx="4191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57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ALS</a:t>
            </a:r>
            <a:endParaRPr lang="en-US" sz="570" dirty="0"/>
          </a:p>
        </p:txBody>
      </p:sp>
      <p:sp>
        <p:nvSpPr>
          <p:cNvPr id="74" name="Shape 72"/>
          <p:cNvSpPr/>
          <p:nvPr/>
        </p:nvSpPr>
        <p:spPr>
          <a:xfrm>
            <a:off x="5148072" y="3465576"/>
            <a:ext cx="109728" cy="73152"/>
          </a:xfrm>
          <a:prstGeom prst="rect">
            <a:avLst/>
          </a:prstGeom>
          <a:solidFill>
            <a:srgbClr val="10A37F"/>
          </a:solidFill>
          <a:ln w="12700">
            <a:solidFill>
              <a:srgbClr val="10A37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Text 73"/>
          <p:cNvSpPr/>
          <p:nvPr/>
        </p:nvSpPr>
        <p:spPr>
          <a:xfrm>
            <a:off x="5294376" y="3447288"/>
            <a:ext cx="71323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NDCG@10</a:t>
            </a:r>
            <a:endParaRPr lang="en-US" sz="620" dirty="0"/>
          </a:p>
        </p:txBody>
      </p:sp>
      <p:sp>
        <p:nvSpPr>
          <p:cNvPr id="76" name="Shape 74"/>
          <p:cNvSpPr/>
          <p:nvPr/>
        </p:nvSpPr>
        <p:spPr>
          <a:xfrm>
            <a:off x="8183880" y="1298448"/>
            <a:ext cx="315468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Shape 75"/>
          <p:cNvSpPr/>
          <p:nvPr/>
        </p:nvSpPr>
        <p:spPr>
          <a:xfrm>
            <a:off x="8531352" y="1481328"/>
            <a:ext cx="265176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Text 76"/>
          <p:cNvSpPr/>
          <p:nvPr/>
        </p:nvSpPr>
        <p:spPr>
          <a:xfrm>
            <a:off x="8229600" y="1408176"/>
            <a:ext cx="256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58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0.06</a:t>
            </a:r>
            <a:endParaRPr lang="en-US" sz="580" dirty="0"/>
          </a:p>
        </p:txBody>
      </p:sp>
      <p:sp>
        <p:nvSpPr>
          <p:cNvPr id="79" name="Shape 77"/>
          <p:cNvSpPr/>
          <p:nvPr/>
        </p:nvSpPr>
        <p:spPr>
          <a:xfrm>
            <a:off x="8531352" y="1885950"/>
            <a:ext cx="265176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Text 78"/>
          <p:cNvSpPr/>
          <p:nvPr/>
        </p:nvSpPr>
        <p:spPr>
          <a:xfrm>
            <a:off x="8229600" y="1812798"/>
            <a:ext cx="256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58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0.04</a:t>
            </a:r>
            <a:endParaRPr lang="en-US" sz="580" dirty="0"/>
          </a:p>
        </p:txBody>
      </p:sp>
      <p:sp>
        <p:nvSpPr>
          <p:cNvPr id="81" name="Shape 79"/>
          <p:cNvSpPr/>
          <p:nvPr/>
        </p:nvSpPr>
        <p:spPr>
          <a:xfrm>
            <a:off x="8531352" y="2290572"/>
            <a:ext cx="265176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Text 80"/>
          <p:cNvSpPr/>
          <p:nvPr/>
        </p:nvSpPr>
        <p:spPr>
          <a:xfrm>
            <a:off x="8229600" y="2217420"/>
            <a:ext cx="256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58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0.03</a:t>
            </a:r>
            <a:endParaRPr lang="en-US" sz="580" dirty="0"/>
          </a:p>
        </p:txBody>
      </p:sp>
      <p:sp>
        <p:nvSpPr>
          <p:cNvPr id="83" name="Shape 81"/>
          <p:cNvSpPr/>
          <p:nvPr/>
        </p:nvSpPr>
        <p:spPr>
          <a:xfrm>
            <a:off x="8531352" y="2695194"/>
            <a:ext cx="265176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Text 82"/>
          <p:cNvSpPr/>
          <p:nvPr/>
        </p:nvSpPr>
        <p:spPr>
          <a:xfrm>
            <a:off x="8229600" y="2622042"/>
            <a:ext cx="256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58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0.01</a:t>
            </a:r>
            <a:endParaRPr lang="en-US" sz="580" dirty="0"/>
          </a:p>
        </p:txBody>
      </p:sp>
      <p:sp>
        <p:nvSpPr>
          <p:cNvPr id="85" name="Shape 83"/>
          <p:cNvSpPr/>
          <p:nvPr/>
        </p:nvSpPr>
        <p:spPr>
          <a:xfrm>
            <a:off x="8531352" y="3099816"/>
            <a:ext cx="26517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Text 84"/>
          <p:cNvSpPr/>
          <p:nvPr/>
        </p:nvSpPr>
        <p:spPr>
          <a:xfrm>
            <a:off x="8229600" y="3026664"/>
            <a:ext cx="256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58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0.00</a:t>
            </a:r>
            <a:endParaRPr lang="en-US" sz="580" dirty="0"/>
          </a:p>
        </p:txBody>
      </p:sp>
      <p:sp>
        <p:nvSpPr>
          <p:cNvPr id="87" name="Shape 85"/>
          <p:cNvSpPr/>
          <p:nvPr/>
        </p:nvSpPr>
        <p:spPr>
          <a:xfrm>
            <a:off x="8584997" y="1662059"/>
            <a:ext cx="149047" cy="1437757"/>
          </a:xfrm>
          <a:prstGeom prst="rect">
            <a:avLst/>
          </a:prstGeom>
          <a:solidFill>
            <a:srgbClr val="10A37F"/>
          </a:solidFill>
          <a:ln w="12700">
            <a:solidFill>
              <a:srgbClr val="10A37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Shape 86"/>
          <p:cNvSpPr/>
          <p:nvPr/>
        </p:nvSpPr>
        <p:spPr>
          <a:xfrm>
            <a:off x="8770620" y="1805026"/>
            <a:ext cx="149047" cy="129479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9" name="Text 87"/>
          <p:cNvSpPr/>
          <p:nvPr/>
        </p:nvSpPr>
        <p:spPr>
          <a:xfrm>
            <a:off x="8531352" y="3218688"/>
            <a:ext cx="441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57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Deep</a:t>
            </a:r>
            <a:endParaRPr lang="en-US" sz="570" dirty="0"/>
          </a:p>
        </p:txBody>
      </p:sp>
      <p:sp>
        <p:nvSpPr>
          <p:cNvPr id="90" name="Shape 88"/>
          <p:cNvSpPr/>
          <p:nvPr/>
        </p:nvSpPr>
        <p:spPr>
          <a:xfrm>
            <a:off x="9026957" y="1697126"/>
            <a:ext cx="149047" cy="1402690"/>
          </a:xfrm>
          <a:prstGeom prst="rect">
            <a:avLst/>
          </a:prstGeom>
          <a:solidFill>
            <a:srgbClr val="10A37F"/>
          </a:solidFill>
          <a:ln w="12700">
            <a:solidFill>
              <a:srgbClr val="10A37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Shape 89"/>
          <p:cNvSpPr/>
          <p:nvPr/>
        </p:nvSpPr>
        <p:spPr>
          <a:xfrm>
            <a:off x="9212580" y="2452421"/>
            <a:ext cx="149047" cy="647395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" name="Text 90"/>
          <p:cNvSpPr/>
          <p:nvPr/>
        </p:nvSpPr>
        <p:spPr>
          <a:xfrm>
            <a:off x="8973312" y="3218688"/>
            <a:ext cx="441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57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Ridge</a:t>
            </a:r>
            <a:endParaRPr lang="en-US" sz="570" dirty="0"/>
          </a:p>
        </p:txBody>
      </p:sp>
      <p:sp>
        <p:nvSpPr>
          <p:cNvPr id="93" name="Shape 91"/>
          <p:cNvSpPr/>
          <p:nvPr/>
        </p:nvSpPr>
        <p:spPr>
          <a:xfrm>
            <a:off x="9468917" y="2109841"/>
            <a:ext cx="149047" cy="989975"/>
          </a:xfrm>
          <a:prstGeom prst="rect">
            <a:avLst/>
          </a:prstGeom>
          <a:solidFill>
            <a:srgbClr val="10A37F"/>
          </a:solidFill>
          <a:ln w="12700">
            <a:solidFill>
              <a:srgbClr val="10A37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4" name="Shape 92"/>
          <p:cNvSpPr/>
          <p:nvPr/>
        </p:nvSpPr>
        <p:spPr>
          <a:xfrm>
            <a:off x="9654540" y="2306757"/>
            <a:ext cx="149047" cy="793059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5" name="Text 93"/>
          <p:cNvSpPr/>
          <p:nvPr/>
        </p:nvSpPr>
        <p:spPr>
          <a:xfrm>
            <a:off x="9415272" y="3218688"/>
            <a:ext cx="441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57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MF</a:t>
            </a:r>
            <a:endParaRPr lang="en-US" sz="570" dirty="0"/>
          </a:p>
        </p:txBody>
      </p:sp>
      <p:sp>
        <p:nvSpPr>
          <p:cNvPr id="96" name="Shape 94"/>
          <p:cNvSpPr/>
          <p:nvPr/>
        </p:nvSpPr>
        <p:spPr>
          <a:xfrm>
            <a:off x="9910877" y="2670917"/>
            <a:ext cx="149047" cy="428899"/>
          </a:xfrm>
          <a:prstGeom prst="rect">
            <a:avLst/>
          </a:prstGeom>
          <a:solidFill>
            <a:srgbClr val="10A37F"/>
          </a:solidFill>
          <a:ln w="12700">
            <a:solidFill>
              <a:srgbClr val="10A37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7" name="Shape 95"/>
          <p:cNvSpPr/>
          <p:nvPr/>
        </p:nvSpPr>
        <p:spPr>
          <a:xfrm>
            <a:off x="10096500" y="2560320"/>
            <a:ext cx="149047" cy="53949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8" name="Text 96"/>
          <p:cNvSpPr/>
          <p:nvPr/>
        </p:nvSpPr>
        <p:spPr>
          <a:xfrm>
            <a:off x="9857232" y="3218688"/>
            <a:ext cx="441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57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KNN</a:t>
            </a:r>
            <a:endParaRPr lang="en-US" sz="570" dirty="0"/>
          </a:p>
        </p:txBody>
      </p:sp>
      <p:sp>
        <p:nvSpPr>
          <p:cNvPr id="99" name="Shape 97"/>
          <p:cNvSpPr/>
          <p:nvPr/>
        </p:nvSpPr>
        <p:spPr>
          <a:xfrm>
            <a:off x="10352837" y="2689799"/>
            <a:ext cx="149047" cy="410017"/>
          </a:xfrm>
          <a:prstGeom prst="rect">
            <a:avLst/>
          </a:prstGeom>
          <a:solidFill>
            <a:srgbClr val="10A37F"/>
          </a:solidFill>
          <a:ln w="12700">
            <a:solidFill>
              <a:srgbClr val="10A37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" name="Shape 98"/>
          <p:cNvSpPr/>
          <p:nvPr/>
        </p:nvSpPr>
        <p:spPr>
          <a:xfrm>
            <a:off x="10538460" y="2832765"/>
            <a:ext cx="149047" cy="267051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Text 99"/>
          <p:cNvSpPr/>
          <p:nvPr/>
        </p:nvSpPr>
        <p:spPr>
          <a:xfrm>
            <a:off x="10299192" y="3218688"/>
            <a:ext cx="441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57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Lasso</a:t>
            </a:r>
            <a:endParaRPr lang="en-US" sz="570" dirty="0"/>
          </a:p>
        </p:txBody>
      </p:sp>
      <p:sp>
        <p:nvSpPr>
          <p:cNvPr id="102" name="Shape 100"/>
          <p:cNvSpPr/>
          <p:nvPr/>
        </p:nvSpPr>
        <p:spPr>
          <a:xfrm>
            <a:off x="10794797" y="2905597"/>
            <a:ext cx="149047" cy="194219"/>
          </a:xfrm>
          <a:prstGeom prst="rect">
            <a:avLst/>
          </a:prstGeom>
          <a:solidFill>
            <a:srgbClr val="10A37F"/>
          </a:solidFill>
          <a:ln w="12700">
            <a:solidFill>
              <a:srgbClr val="10A37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" name="Shape 101"/>
          <p:cNvSpPr/>
          <p:nvPr/>
        </p:nvSpPr>
        <p:spPr>
          <a:xfrm>
            <a:off x="10980420" y="2997312"/>
            <a:ext cx="149047" cy="1025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" name="Text 102"/>
          <p:cNvSpPr/>
          <p:nvPr/>
        </p:nvSpPr>
        <p:spPr>
          <a:xfrm>
            <a:off x="10741152" y="3218688"/>
            <a:ext cx="441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57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ALS</a:t>
            </a:r>
            <a:endParaRPr lang="en-US" sz="570" dirty="0"/>
          </a:p>
        </p:txBody>
      </p:sp>
      <p:sp>
        <p:nvSpPr>
          <p:cNvPr id="105" name="Shape 103"/>
          <p:cNvSpPr/>
          <p:nvPr/>
        </p:nvSpPr>
        <p:spPr>
          <a:xfrm>
            <a:off x="8531352" y="3465576"/>
            <a:ext cx="109728" cy="73152"/>
          </a:xfrm>
          <a:prstGeom prst="rect">
            <a:avLst/>
          </a:prstGeom>
          <a:solidFill>
            <a:srgbClr val="10A37F"/>
          </a:solidFill>
          <a:ln w="12700">
            <a:solidFill>
              <a:srgbClr val="10A37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6" name="Text 104"/>
          <p:cNvSpPr/>
          <p:nvPr/>
        </p:nvSpPr>
        <p:spPr>
          <a:xfrm>
            <a:off x="8677656" y="3447288"/>
            <a:ext cx="71323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P@10</a:t>
            </a:r>
            <a:endParaRPr lang="en-US" sz="620" dirty="0"/>
          </a:p>
        </p:txBody>
      </p:sp>
      <p:sp>
        <p:nvSpPr>
          <p:cNvPr id="107" name="Shape 105"/>
          <p:cNvSpPr/>
          <p:nvPr/>
        </p:nvSpPr>
        <p:spPr>
          <a:xfrm>
            <a:off x="9445752" y="3465576"/>
            <a:ext cx="109728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8" name="Text 106"/>
          <p:cNvSpPr/>
          <p:nvPr/>
        </p:nvSpPr>
        <p:spPr>
          <a:xfrm>
            <a:off x="9592056" y="3447288"/>
            <a:ext cx="71323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R@10</a:t>
            </a:r>
            <a:endParaRPr lang="en-US" sz="620" dirty="0"/>
          </a:p>
        </p:txBody>
      </p:sp>
      <p:sp>
        <p:nvSpPr>
          <p:cNvPr id="109" name="Shape 107"/>
          <p:cNvSpPr/>
          <p:nvPr/>
        </p:nvSpPr>
        <p:spPr>
          <a:xfrm>
            <a:off x="4800600" y="4096512"/>
            <a:ext cx="30175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0" name="Image 0" descr="D:\Projects\School\Movies-Recommendation\FinalReport\_slide_work\assets\model_comparison_top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6252" y="4169664"/>
            <a:ext cx="2546216" cy="1033272"/>
          </a:xfrm>
          <a:prstGeom prst="rect">
            <a:avLst/>
          </a:prstGeom>
        </p:spPr>
      </p:pic>
      <p:sp>
        <p:nvSpPr>
          <p:cNvPr id="111" name="Text 108"/>
          <p:cNvSpPr/>
          <p:nvPr/>
        </p:nvSpPr>
        <p:spPr>
          <a:xfrm>
            <a:off x="4910328" y="5257800"/>
            <a:ext cx="2798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top-N metrics</a:t>
            </a:r>
            <a:endParaRPr lang="en-US" sz="720" dirty="0"/>
          </a:p>
        </p:txBody>
      </p:sp>
      <p:sp>
        <p:nvSpPr>
          <p:cNvPr id="112" name="Shape 109"/>
          <p:cNvSpPr/>
          <p:nvPr/>
        </p:nvSpPr>
        <p:spPr>
          <a:xfrm>
            <a:off x="8183880" y="4096512"/>
            <a:ext cx="31546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3" name="Shape 110"/>
          <p:cNvSpPr/>
          <p:nvPr/>
        </p:nvSpPr>
        <p:spPr>
          <a:xfrm>
            <a:off x="8183880" y="4096512"/>
            <a:ext cx="73152" cy="1417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4" name="Text 111"/>
          <p:cNvSpPr/>
          <p:nvPr/>
        </p:nvSpPr>
        <p:spPr>
          <a:xfrm>
            <a:off x="8385048" y="4224528"/>
            <a:ext cx="2825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Ranking insight</a:t>
            </a:r>
            <a:endParaRPr lang="en-US" sz="1300" dirty="0"/>
          </a:p>
        </p:txBody>
      </p:sp>
      <p:sp>
        <p:nvSpPr>
          <p:cNvPr id="115" name="Text 112"/>
          <p:cNvSpPr/>
          <p:nvPr/>
        </p:nvSpPr>
        <p:spPr>
          <a:xfrm>
            <a:off x="8385048" y="4535424"/>
            <a:ext cx="280720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MF-SGD is competitive on rating error, but ranks third for top-N quality. SVD-Ridge almost matches Deep Hybrid on NDCG@10 with lower complexity.</a:t>
            </a:r>
            <a:endParaRPr lang="en-US" sz="96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A37F"/>
          </a:solidFill>
          <a:ln w="12700">
            <a:solidFill>
              <a:srgbClr val="10A37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329184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0A3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DIAGNOSTICS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566928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E29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Cross-Metric Trade-Offs Reveal Model Roles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02920" y="1078992"/>
            <a:ext cx="1118585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647395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MovieLens Latest recommendation study</a:t>
            </a:r>
            <a:endParaRPr lang="en-US" sz="680" dirty="0"/>
          </a:p>
        </p:txBody>
      </p:sp>
      <p:sp>
        <p:nvSpPr>
          <p:cNvPr id="8" name="Text 6"/>
          <p:cNvSpPr/>
          <p:nvPr/>
        </p:nvSpPr>
        <p:spPr>
          <a:xfrm>
            <a:off x="11109960" y="64465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720" dirty="0"/>
          </a:p>
        </p:txBody>
      </p:sp>
      <p:sp>
        <p:nvSpPr>
          <p:cNvPr id="9" name="Shape 7"/>
          <p:cNvSpPr/>
          <p:nvPr/>
        </p:nvSpPr>
        <p:spPr>
          <a:xfrm>
            <a:off x="594360" y="1353312"/>
            <a:ext cx="493776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0" descr="D:\Projects\School\Movies-Recommendation\FinalReport\_slide_work\assets\metrics_scatter_mae_ndc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859" y="1426464"/>
            <a:ext cx="4388762" cy="331927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04088" y="4800600"/>
            <a:ext cx="4718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Lower MAE and higher NDCG define the preferred frontier</a:t>
            </a:r>
            <a:endParaRPr lang="en-US" sz="720" dirty="0"/>
          </a:p>
        </p:txBody>
      </p:sp>
      <p:sp>
        <p:nvSpPr>
          <p:cNvPr id="12" name="Shape 9"/>
          <p:cNvSpPr/>
          <p:nvPr/>
        </p:nvSpPr>
        <p:spPr>
          <a:xfrm>
            <a:off x="5806440" y="1353312"/>
            <a:ext cx="493776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1" descr="D:\Projects\School\Movies-Recommendation\FinalReport\_slide_work\assets\metrics_rad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1895" y="1426464"/>
            <a:ext cx="3606850" cy="331927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916168" y="4800600"/>
            <a:ext cx="4718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Normalized profile across rating and ranking metrics</a:t>
            </a:r>
            <a:endParaRPr lang="en-US" sz="720" dirty="0"/>
          </a:p>
        </p:txBody>
      </p:sp>
      <p:sp>
        <p:nvSpPr>
          <p:cNvPr id="15" name="Shape 11"/>
          <p:cNvSpPr/>
          <p:nvPr/>
        </p:nvSpPr>
        <p:spPr>
          <a:xfrm>
            <a:off x="822960" y="5349240"/>
            <a:ext cx="31546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822960" y="5349240"/>
            <a:ext cx="73152" cy="658368"/>
          </a:xfrm>
          <a:prstGeom prst="rect">
            <a:avLst/>
          </a:prstGeom>
          <a:solidFill>
            <a:srgbClr val="10A37F"/>
          </a:solidFill>
          <a:ln w="12700">
            <a:solidFill>
              <a:srgbClr val="10A37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/>
          <p:nvPr/>
        </p:nvSpPr>
        <p:spPr>
          <a:xfrm>
            <a:off x="1024128" y="5477256"/>
            <a:ext cx="2825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Operating point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1024128" y="5788152"/>
            <a:ext cx="280720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Deep Hybrid sits on the strongest overall frontier: best MAE and best NDCG@10. MF-SGD has excellent RMSE but loses ranking quality.</a:t>
            </a:r>
            <a:endParaRPr lang="en-US" sz="960" dirty="0"/>
          </a:p>
        </p:txBody>
      </p:sp>
      <p:sp>
        <p:nvSpPr>
          <p:cNvPr id="19" name="Shape 15"/>
          <p:cNvSpPr/>
          <p:nvPr/>
        </p:nvSpPr>
        <p:spPr>
          <a:xfrm>
            <a:off x="4480560" y="5349240"/>
            <a:ext cx="31546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4480560" y="5349240"/>
            <a:ext cx="73152" cy="6583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7"/>
          <p:cNvSpPr/>
          <p:nvPr/>
        </p:nvSpPr>
        <p:spPr>
          <a:xfrm>
            <a:off x="4681728" y="5477256"/>
            <a:ext cx="2825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Baseline choice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4681728" y="5788152"/>
            <a:ext cx="280720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SVD-Ridge is attractive when training cost, interpretability, or deployment simplicity matter more than the final fraction of ranking lift.</a:t>
            </a:r>
            <a:endParaRPr lang="en-US" sz="960" dirty="0"/>
          </a:p>
        </p:txBody>
      </p:sp>
      <p:sp>
        <p:nvSpPr>
          <p:cNvPr id="23" name="Shape 19"/>
          <p:cNvSpPr/>
          <p:nvPr/>
        </p:nvSpPr>
        <p:spPr>
          <a:xfrm>
            <a:off x="8138160" y="5349240"/>
            <a:ext cx="31546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0"/>
          <p:cNvSpPr/>
          <p:nvPr/>
        </p:nvSpPr>
        <p:spPr>
          <a:xfrm>
            <a:off x="8138160" y="5349240"/>
            <a:ext cx="73152" cy="65836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1"/>
          <p:cNvSpPr/>
          <p:nvPr/>
        </p:nvSpPr>
        <p:spPr>
          <a:xfrm>
            <a:off x="8339328" y="5477256"/>
            <a:ext cx="2825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Failure mode</a:t>
            </a:r>
            <a:endParaRPr lang="en-US" sz="1300" dirty="0"/>
          </a:p>
        </p:txBody>
      </p:sp>
      <p:sp>
        <p:nvSpPr>
          <p:cNvPr id="26" name="Text 22"/>
          <p:cNvSpPr/>
          <p:nvPr/>
        </p:nvSpPr>
        <p:spPr>
          <a:xfrm>
            <a:off x="8339328" y="5788152"/>
            <a:ext cx="280720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MF-ALS and SVD-Lasso show that point-wise calibration and score diversity are critical for top-10 recommendation.</a:t>
            </a:r>
            <a:endParaRPr lang="en-US" sz="96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A37F"/>
          </a:solidFill>
          <a:ln w="12700">
            <a:solidFill>
              <a:srgbClr val="10A37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329184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0A3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OPTIMIZATION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566928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E29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Training Dynamics Explain Generalization Patterns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02920" y="1078992"/>
            <a:ext cx="1118585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647395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MovieLens Latest recommendation study</a:t>
            </a:r>
            <a:endParaRPr lang="en-US" sz="680" dirty="0"/>
          </a:p>
        </p:txBody>
      </p:sp>
      <p:sp>
        <p:nvSpPr>
          <p:cNvPr id="8" name="Text 6"/>
          <p:cNvSpPr/>
          <p:nvPr/>
        </p:nvSpPr>
        <p:spPr>
          <a:xfrm>
            <a:off x="11109960" y="64465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720" dirty="0"/>
          </a:p>
        </p:txBody>
      </p:sp>
      <p:sp>
        <p:nvSpPr>
          <p:cNvPr id="9" name="Shape 7"/>
          <p:cNvSpPr/>
          <p:nvPr/>
        </p:nvSpPr>
        <p:spPr>
          <a:xfrm>
            <a:off x="594360" y="1298448"/>
            <a:ext cx="3456432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0" descr="D:\Projects\School\Movies-Recommendation\FinalReport\_slide_work\assets\training_mf_sg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1690281"/>
            <a:ext cx="3310128" cy="131031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04088" y="3374136"/>
            <a:ext cx="32369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MF-SGD: validation reverses early</a:t>
            </a:r>
            <a:endParaRPr lang="en-US" sz="720" dirty="0"/>
          </a:p>
        </p:txBody>
      </p:sp>
      <p:sp>
        <p:nvSpPr>
          <p:cNvPr id="12" name="Shape 9"/>
          <p:cNvSpPr/>
          <p:nvPr/>
        </p:nvSpPr>
        <p:spPr>
          <a:xfrm>
            <a:off x="4370832" y="1298448"/>
            <a:ext cx="3456432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1" descr="D:\Projects\School\Movies-Recommendation\FinalReport\_slide_work\assets\training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3984" y="1689054"/>
            <a:ext cx="3310128" cy="131276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480560" y="3374136"/>
            <a:ext cx="32369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Deep Hybrid: smoother stabilization</a:t>
            </a:r>
            <a:endParaRPr lang="en-US" sz="720" dirty="0"/>
          </a:p>
        </p:txBody>
      </p:sp>
      <p:sp>
        <p:nvSpPr>
          <p:cNvPr id="15" name="Shape 11"/>
          <p:cNvSpPr/>
          <p:nvPr/>
        </p:nvSpPr>
        <p:spPr>
          <a:xfrm>
            <a:off x="8138160" y="1298448"/>
            <a:ext cx="3456432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2" descr="D:\Projects\School\Movies-Recommendation\FinalReport\_slide_work\assets\training_al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11312" y="1690281"/>
            <a:ext cx="3310128" cy="131031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247888" y="3374136"/>
            <a:ext cx="32369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MF-ALS: train-validation divergence</a:t>
            </a:r>
            <a:endParaRPr lang="en-US" sz="720" dirty="0"/>
          </a:p>
        </p:txBody>
      </p:sp>
      <p:sp>
        <p:nvSpPr>
          <p:cNvPr id="18" name="Shape 13"/>
          <p:cNvSpPr/>
          <p:nvPr/>
        </p:nvSpPr>
        <p:spPr>
          <a:xfrm>
            <a:off x="594360" y="4069080"/>
            <a:ext cx="3456432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4"/>
          <p:cNvSpPr/>
          <p:nvPr/>
        </p:nvSpPr>
        <p:spPr>
          <a:xfrm>
            <a:off x="594360" y="4069080"/>
            <a:ext cx="73152" cy="914400"/>
          </a:xfrm>
          <a:prstGeom prst="rect">
            <a:avLst/>
          </a:prstGeom>
          <a:solidFill>
            <a:srgbClr val="10A37F"/>
          </a:solidFill>
          <a:ln w="12700">
            <a:solidFill>
              <a:srgbClr val="10A37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5"/>
          <p:cNvSpPr/>
          <p:nvPr/>
        </p:nvSpPr>
        <p:spPr>
          <a:xfrm>
            <a:off x="795528" y="4197096"/>
            <a:ext cx="31272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MF-SGD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795528" y="4507992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Rapid training progress but validation MAE/RMSE worsen after early epochs, motivating checkpoint restoration.</a:t>
            </a:r>
            <a:endParaRPr lang="en-US" sz="960" dirty="0"/>
          </a:p>
        </p:txBody>
      </p:sp>
      <p:sp>
        <p:nvSpPr>
          <p:cNvPr id="22" name="Shape 17"/>
          <p:cNvSpPr/>
          <p:nvPr/>
        </p:nvSpPr>
        <p:spPr>
          <a:xfrm>
            <a:off x="4370832" y="4069080"/>
            <a:ext cx="3456432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18"/>
          <p:cNvSpPr/>
          <p:nvPr/>
        </p:nvSpPr>
        <p:spPr>
          <a:xfrm>
            <a:off x="4370832" y="4069080"/>
            <a:ext cx="73152" cy="9144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19"/>
          <p:cNvSpPr/>
          <p:nvPr/>
        </p:nvSpPr>
        <p:spPr>
          <a:xfrm>
            <a:off x="4572000" y="4197096"/>
            <a:ext cx="31272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Deep Hybrid</a:t>
            </a:r>
            <a:endParaRPr lang="en-US" sz="1300" dirty="0"/>
          </a:p>
        </p:txBody>
      </p:sp>
      <p:sp>
        <p:nvSpPr>
          <p:cNvPr id="25" name="Text 20"/>
          <p:cNvSpPr/>
          <p:nvPr/>
        </p:nvSpPr>
        <p:spPr>
          <a:xfrm>
            <a:off x="4572000" y="4507992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GPU-scale minibatches, Huber loss, and plateau learning-rate reduction stabilize validation error across 50 epochs.</a:t>
            </a:r>
            <a:endParaRPr lang="en-US" sz="960" dirty="0"/>
          </a:p>
        </p:txBody>
      </p:sp>
      <p:sp>
        <p:nvSpPr>
          <p:cNvPr id="26" name="Shape 21"/>
          <p:cNvSpPr/>
          <p:nvPr/>
        </p:nvSpPr>
        <p:spPr>
          <a:xfrm>
            <a:off x="8138160" y="4069080"/>
            <a:ext cx="3456432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2"/>
          <p:cNvSpPr/>
          <p:nvPr/>
        </p:nvSpPr>
        <p:spPr>
          <a:xfrm>
            <a:off x="8138160" y="4069080"/>
            <a:ext cx="73152" cy="914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3"/>
          <p:cNvSpPr/>
          <p:nvPr/>
        </p:nvSpPr>
        <p:spPr>
          <a:xfrm>
            <a:off x="8339328" y="4197096"/>
            <a:ext cx="31272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MF-ALS</a:t>
            </a:r>
            <a:endParaRPr lang="en-US" sz="1300" dirty="0"/>
          </a:p>
        </p:txBody>
      </p:sp>
      <p:sp>
        <p:nvSpPr>
          <p:cNvPr id="29" name="Text 24"/>
          <p:cNvSpPr/>
          <p:nvPr/>
        </p:nvSpPr>
        <p:spPr>
          <a:xfrm>
            <a:off x="8339328" y="4507992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Training error keeps decreasing while validation quality plateaus or drifts; current preset restores an earlier checkpoint.</a:t>
            </a:r>
            <a:endParaRPr lang="en-US" sz="960" dirty="0"/>
          </a:p>
        </p:txBody>
      </p:sp>
      <p:sp>
        <p:nvSpPr>
          <p:cNvPr id="30" name="Text 25"/>
          <p:cNvSpPr/>
          <p:nvPr/>
        </p:nvSpPr>
        <p:spPr>
          <a:xfrm>
            <a:off x="914400" y="5513832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9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Takeaway: optimization behavior is part of the model comparison. Better training loss is not sufficient when ranking calibration is weak.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A37F"/>
          </a:solidFill>
          <a:ln w="12700">
            <a:solidFill>
              <a:srgbClr val="10A37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329184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0A3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ANALYSIS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566928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E29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Feature Signals Add Value Beyond Raw IDs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02920" y="1078992"/>
            <a:ext cx="1118585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647395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MovieLens Latest recommendation study</a:t>
            </a:r>
            <a:endParaRPr lang="en-US" sz="680" dirty="0"/>
          </a:p>
        </p:txBody>
      </p:sp>
      <p:sp>
        <p:nvSpPr>
          <p:cNvPr id="8" name="Text 6"/>
          <p:cNvSpPr/>
          <p:nvPr/>
        </p:nvSpPr>
        <p:spPr>
          <a:xfrm>
            <a:off x="11109960" y="64465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720" dirty="0"/>
          </a:p>
        </p:txBody>
      </p:sp>
      <p:sp>
        <p:nvSpPr>
          <p:cNvPr id="9" name="Shape 7"/>
          <p:cNvSpPr/>
          <p:nvPr/>
        </p:nvSpPr>
        <p:spPr>
          <a:xfrm>
            <a:off x="594360" y="1353312"/>
            <a:ext cx="3931920" cy="34747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9224" y="1426464"/>
            <a:ext cx="1307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 block</a:t>
            </a:r>
            <a:endParaRPr lang="en-US" sz="720" dirty="0"/>
          </a:p>
        </p:txBody>
      </p:sp>
      <p:sp>
        <p:nvSpPr>
          <p:cNvPr id="11" name="Text 9"/>
          <p:cNvSpPr/>
          <p:nvPr/>
        </p:nvSpPr>
        <p:spPr>
          <a:xfrm>
            <a:off x="2066544" y="1426464"/>
            <a:ext cx="667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Full R2</a:t>
            </a:r>
            <a:endParaRPr lang="en-US" sz="720" dirty="0"/>
          </a:p>
        </p:txBody>
      </p:sp>
      <p:sp>
        <p:nvSpPr>
          <p:cNvPr id="12" name="Text 10"/>
          <p:cNvSpPr/>
          <p:nvPr/>
        </p:nvSpPr>
        <p:spPr>
          <a:xfrm>
            <a:off x="2843784" y="1426464"/>
            <a:ext cx="850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R2 w/o block</a:t>
            </a:r>
            <a:endParaRPr lang="en-US" sz="720" dirty="0"/>
          </a:p>
        </p:txBody>
      </p:sp>
      <p:sp>
        <p:nvSpPr>
          <p:cNvPr id="13" name="Text 11"/>
          <p:cNvSpPr/>
          <p:nvPr/>
        </p:nvSpPr>
        <p:spPr>
          <a:xfrm>
            <a:off x="3803904" y="1426464"/>
            <a:ext cx="667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Delta R2</a:t>
            </a:r>
            <a:endParaRPr lang="en-US" sz="720" dirty="0"/>
          </a:p>
        </p:txBody>
      </p:sp>
      <p:sp>
        <p:nvSpPr>
          <p:cNvPr id="14" name="Shape 12"/>
          <p:cNvSpPr/>
          <p:nvPr/>
        </p:nvSpPr>
        <p:spPr>
          <a:xfrm>
            <a:off x="594360" y="1700784"/>
            <a:ext cx="39319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9224" y="1769364"/>
            <a:ext cx="1307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Full model</a:t>
            </a:r>
            <a:endParaRPr lang="en-US" sz="720" dirty="0"/>
          </a:p>
        </p:txBody>
      </p:sp>
      <p:sp>
        <p:nvSpPr>
          <p:cNvPr id="16" name="Text 14"/>
          <p:cNvSpPr/>
          <p:nvPr/>
        </p:nvSpPr>
        <p:spPr>
          <a:xfrm>
            <a:off x="2066544" y="1769364"/>
            <a:ext cx="667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0.1116</a:t>
            </a:r>
            <a:endParaRPr lang="en-US" sz="720" dirty="0"/>
          </a:p>
        </p:txBody>
      </p:sp>
      <p:sp>
        <p:nvSpPr>
          <p:cNvPr id="17" name="Text 15"/>
          <p:cNvSpPr/>
          <p:nvPr/>
        </p:nvSpPr>
        <p:spPr>
          <a:xfrm>
            <a:off x="2843784" y="1769364"/>
            <a:ext cx="850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720" dirty="0"/>
          </a:p>
        </p:txBody>
      </p:sp>
      <p:sp>
        <p:nvSpPr>
          <p:cNvPr id="18" name="Text 16"/>
          <p:cNvSpPr/>
          <p:nvPr/>
        </p:nvSpPr>
        <p:spPr>
          <a:xfrm>
            <a:off x="3803904" y="1769364"/>
            <a:ext cx="667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720" dirty="0"/>
          </a:p>
        </p:txBody>
      </p:sp>
      <p:sp>
        <p:nvSpPr>
          <p:cNvPr id="19" name="Shape 17"/>
          <p:cNvSpPr/>
          <p:nvPr/>
        </p:nvSpPr>
        <p:spPr>
          <a:xfrm>
            <a:off x="594360" y="2066544"/>
            <a:ext cx="3931920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49224" y="2135124"/>
            <a:ext cx="1307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w/o Content</a:t>
            </a:r>
            <a:endParaRPr lang="en-US" sz="720" dirty="0"/>
          </a:p>
        </p:txBody>
      </p:sp>
      <p:sp>
        <p:nvSpPr>
          <p:cNvPr id="21" name="Text 19"/>
          <p:cNvSpPr/>
          <p:nvPr/>
        </p:nvSpPr>
        <p:spPr>
          <a:xfrm>
            <a:off x="2066544" y="2135124"/>
            <a:ext cx="667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720" dirty="0"/>
          </a:p>
        </p:txBody>
      </p:sp>
      <p:sp>
        <p:nvSpPr>
          <p:cNvPr id="22" name="Text 20"/>
          <p:cNvSpPr/>
          <p:nvPr/>
        </p:nvSpPr>
        <p:spPr>
          <a:xfrm>
            <a:off x="2843784" y="2135124"/>
            <a:ext cx="850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0.0582</a:t>
            </a:r>
            <a:endParaRPr lang="en-US" sz="720" dirty="0"/>
          </a:p>
        </p:txBody>
      </p:sp>
      <p:sp>
        <p:nvSpPr>
          <p:cNvPr id="23" name="Text 21"/>
          <p:cNvSpPr/>
          <p:nvPr/>
        </p:nvSpPr>
        <p:spPr>
          <a:xfrm>
            <a:off x="3803904" y="2135124"/>
            <a:ext cx="667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0.0534</a:t>
            </a:r>
            <a:endParaRPr lang="en-US" sz="720" dirty="0"/>
          </a:p>
        </p:txBody>
      </p:sp>
      <p:sp>
        <p:nvSpPr>
          <p:cNvPr id="24" name="Shape 22"/>
          <p:cNvSpPr/>
          <p:nvPr/>
        </p:nvSpPr>
        <p:spPr>
          <a:xfrm>
            <a:off x="594360" y="2432304"/>
            <a:ext cx="39319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49224" y="2500884"/>
            <a:ext cx="1307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w/o Engagement</a:t>
            </a:r>
            <a:endParaRPr lang="en-US" sz="720" dirty="0"/>
          </a:p>
        </p:txBody>
      </p:sp>
      <p:sp>
        <p:nvSpPr>
          <p:cNvPr id="26" name="Text 24"/>
          <p:cNvSpPr/>
          <p:nvPr/>
        </p:nvSpPr>
        <p:spPr>
          <a:xfrm>
            <a:off x="2066544" y="2500884"/>
            <a:ext cx="667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720" dirty="0"/>
          </a:p>
        </p:txBody>
      </p:sp>
      <p:sp>
        <p:nvSpPr>
          <p:cNvPr id="27" name="Text 25"/>
          <p:cNvSpPr/>
          <p:nvPr/>
        </p:nvSpPr>
        <p:spPr>
          <a:xfrm>
            <a:off x="2843784" y="2500884"/>
            <a:ext cx="850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0.0815</a:t>
            </a:r>
            <a:endParaRPr lang="en-US" sz="720" dirty="0"/>
          </a:p>
        </p:txBody>
      </p:sp>
      <p:sp>
        <p:nvSpPr>
          <p:cNvPr id="28" name="Text 26"/>
          <p:cNvSpPr/>
          <p:nvPr/>
        </p:nvSpPr>
        <p:spPr>
          <a:xfrm>
            <a:off x="3803904" y="2500884"/>
            <a:ext cx="667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0.0302</a:t>
            </a:r>
            <a:endParaRPr lang="en-US" sz="720" dirty="0"/>
          </a:p>
        </p:txBody>
      </p:sp>
      <p:sp>
        <p:nvSpPr>
          <p:cNvPr id="29" name="Shape 27"/>
          <p:cNvSpPr/>
          <p:nvPr/>
        </p:nvSpPr>
        <p:spPr>
          <a:xfrm>
            <a:off x="594360" y="2798064"/>
            <a:ext cx="3931920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49224" y="2866644"/>
            <a:ext cx="1307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w/o Noise</a:t>
            </a:r>
            <a:endParaRPr lang="en-US" sz="720" dirty="0"/>
          </a:p>
        </p:txBody>
      </p:sp>
      <p:sp>
        <p:nvSpPr>
          <p:cNvPr id="31" name="Text 29"/>
          <p:cNvSpPr/>
          <p:nvPr/>
        </p:nvSpPr>
        <p:spPr>
          <a:xfrm>
            <a:off x="2066544" y="2866644"/>
            <a:ext cx="667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720" dirty="0"/>
          </a:p>
        </p:txBody>
      </p:sp>
      <p:sp>
        <p:nvSpPr>
          <p:cNvPr id="32" name="Text 30"/>
          <p:cNvSpPr/>
          <p:nvPr/>
        </p:nvSpPr>
        <p:spPr>
          <a:xfrm>
            <a:off x="2843784" y="2866644"/>
            <a:ext cx="850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0.1117</a:t>
            </a:r>
            <a:endParaRPr lang="en-US" sz="720" dirty="0"/>
          </a:p>
        </p:txBody>
      </p:sp>
      <p:sp>
        <p:nvSpPr>
          <p:cNvPr id="33" name="Text 31"/>
          <p:cNvSpPr/>
          <p:nvPr/>
        </p:nvSpPr>
        <p:spPr>
          <a:xfrm>
            <a:off x="3803904" y="2866644"/>
            <a:ext cx="667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-0.0001</a:t>
            </a:r>
            <a:endParaRPr lang="en-US" sz="720" dirty="0"/>
          </a:p>
        </p:txBody>
      </p:sp>
      <p:sp>
        <p:nvSpPr>
          <p:cNvPr id="34" name="Text 32"/>
          <p:cNvSpPr/>
          <p:nvPr/>
        </p:nvSpPr>
        <p:spPr>
          <a:xfrm>
            <a:off x="594360" y="361188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10A3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MARGINAL CONTRIBUTION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594360" y="3977640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Content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2011680" y="4009644"/>
            <a:ext cx="1554480" cy="10058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2011680" y="4009644"/>
            <a:ext cx="1383487" cy="100584"/>
          </a:xfrm>
          <a:prstGeom prst="rect">
            <a:avLst/>
          </a:prstGeom>
          <a:solidFill>
            <a:srgbClr val="10A37F"/>
          </a:solidFill>
          <a:ln w="12700">
            <a:solidFill>
              <a:srgbClr val="10A37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3657600" y="3977640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0.0534</a:t>
            </a:r>
            <a:endParaRPr lang="en-US" sz="720" dirty="0"/>
          </a:p>
        </p:txBody>
      </p:sp>
      <p:sp>
        <p:nvSpPr>
          <p:cNvPr id="39" name="Text 37"/>
          <p:cNvSpPr/>
          <p:nvPr/>
        </p:nvSpPr>
        <p:spPr>
          <a:xfrm>
            <a:off x="594360" y="4297680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Engagement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2011680" y="4329684"/>
            <a:ext cx="1554480" cy="10058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2011680" y="4329684"/>
            <a:ext cx="782422" cy="10058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3657600" y="4297680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0.0302</a:t>
            </a:r>
            <a:endParaRPr lang="en-US" sz="720" dirty="0"/>
          </a:p>
        </p:txBody>
      </p:sp>
      <p:sp>
        <p:nvSpPr>
          <p:cNvPr id="43" name="Text 41"/>
          <p:cNvSpPr/>
          <p:nvPr/>
        </p:nvSpPr>
        <p:spPr>
          <a:xfrm>
            <a:off x="594360" y="4617720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Noise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2011680" y="4649724"/>
            <a:ext cx="1554480" cy="10058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2011680" y="4649724"/>
            <a:ext cx="2591" cy="10058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3657600" y="4617720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0.0001</a:t>
            </a:r>
            <a:endParaRPr lang="en-US" sz="720" dirty="0"/>
          </a:p>
        </p:txBody>
      </p:sp>
      <p:sp>
        <p:nvSpPr>
          <p:cNvPr id="47" name="Shape 45"/>
          <p:cNvSpPr/>
          <p:nvPr/>
        </p:nvSpPr>
        <p:spPr>
          <a:xfrm>
            <a:off x="594360" y="4892040"/>
            <a:ext cx="384048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594360" y="4892040"/>
            <a:ext cx="73152" cy="10241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795528" y="5020056"/>
            <a:ext cx="3511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to read this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795528" y="5330952"/>
            <a:ext cx="3493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ablation is an auxiliary MovieLens-Small probe, not a direct MovieLens Latest claim. It motivates the Deep Hybrid item tower: content and engagement features carry useful signal, but most variance remains latent.</a:t>
            </a:r>
            <a:endParaRPr lang="en-US" sz="960" dirty="0"/>
          </a:p>
        </p:txBody>
      </p:sp>
      <p:sp>
        <p:nvSpPr>
          <p:cNvPr id="51" name="Shape 49"/>
          <p:cNvSpPr/>
          <p:nvPr/>
        </p:nvSpPr>
        <p:spPr>
          <a:xfrm>
            <a:off x="5166360" y="1417320"/>
            <a:ext cx="19659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5321808" y="164592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Collaborative IDs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5166360" y="2743200"/>
            <a:ext cx="19659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5321808" y="297180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Genre + title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5166360" y="4069080"/>
            <a:ext cx="19659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5321808" y="429768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Engagement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8229600" y="1417320"/>
            <a:ext cx="2057400" cy="3310128"/>
          </a:xfrm>
          <a:prstGeom prst="rect">
            <a:avLst/>
          </a:prstGeom>
          <a:solidFill>
            <a:srgbClr val="ECFDF5"/>
          </a:solidFill>
          <a:ln w="12700">
            <a:solidFill>
              <a:srgbClr val="10A3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8449056" y="2743200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9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Deep Hybrid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E29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item tower</a:t>
            </a:r>
            <a:endParaRPr lang="en-US" sz="1500" dirty="0"/>
          </a:p>
        </p:txBody>
      </p:sp>
      <p:sp>
        <p:nvSpPr>
          <p:cNvPr id="59" name="Shape 57"/>
          <p:cNvSpPr/>
          <p:nvPr/>
        </p:nvSpPr>
        <p:spPr>
          <a:xfrm>
            <a:off x="7132320" y="1746504"/>
            <a:ext cx="1097280" cy="0"/>
          </a:xfrm>
          <a:prstGeom prst="line">
            <a:avLst/>
          </a:prstGeom>
          <a:noFill/>
          <a:ln w="20320">
            <a:solidFill>
              <a:srgbClr val="10A37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7132320" y="3072384"/>
            <a:ext cx="1097280" cy="0"/>
          </a:xfrm>
          <a:prstGeom prst="line">
            <a:avLst/>
          </a:prstGeom>
          <a:noFill/>
          <a:ln w="20320">
            <a:solidFill>
              <a:srgbClr val="10A37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>
            <a:off x="7132320" y="4398264"/>
            <a:ext cx="1097280" cy="0"/>
          </a:xfrm>
          <a:prstGeom prst="line">
            <a:avLst/>
          </a:prstGeom>
          <a:noFill/>
          <a:ln w="20320">
            <a:solidFill>
              <a:srgbClr val="10A37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7635240" y="5074920"/>
            <a:ext cx="333756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Shape 61"/>
          <p:cNvSpPr/>
          <p:nvPr/>
        </p:nvSpPr>
        <p:spPr>
          <a:xfrm>
            <a:off x="7635240" y="5074920"/>
            <a:ext cx="73152" cy="8412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7836408" y="5202936"/>
            <a:ext cx="30083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Latent factor interpretation</a:t>
            </a:r>
            <a:endParaRPr lang="en-US" sz="1300" dirty="0"/>
          </a:p>
        </p:txBody>
      </p:sp>
      <p:sp>
        <p:nvSpPr>
          <p:cNvPr id="65" name="Text 63"/>
          <p:cNvSpPr/>
          <p:nvPr/>
        </p:nvSpPr>
        <p:spPr>
          <a:xfrm>
            <a:off x="7836408" y="5513832"/>
            <a:ext cx="2990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PCA on item factors can recover semantically coherent directions, but full-scale exemplars are noisier across seeds. Interpret directions, not cherry-picked movies.</a:t>
            </a:r>
            <a:endParaRPr lang="en-US" sz="96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A37F"/>
          </a:solidFill>
          <a:ln w="12700">
            <a:solidFill>
              <a:srgbClr val="10A37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329184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0A3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DISCUSSION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566928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E29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the Results Mean for Model Selection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02920" y="1078992"/>
            <a:ext cx="1118585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647395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MovieLens Latest recommendation study</a:t>
            </a:r>
            <a:endParaRPr lang="en-US" sz="680" dirty="0"/>
          </a:p>
        </p:txBody>
      </p:sp>
      <p:sp>
        <p:nvSpPr>
          <p:cNvPr id="8" name="Text 6"/>
          <p:cNvSpPr/>
          <p:nvPr/>
        </p:nvSpPr>
        <p:spPr>
          <a:xfrm>
            <a:off x="11109960" y="64465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720" dirty="0"/>
          </a:p>
        </p:txBody>
      </p:sp>
      <p:sp>
        <p:nvSpPr>
          <p:cNvPr id="9" name="Shape 7"/>
          <p:cNvSpPr/>
          <p:nvPr/>
        </p:nvSpPr>
        <p:spPr>
          <a:xfrm>
            <a:off x="594360" y="1325880"/>
            <a:ext cx="10378440" cy="34747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9224" y="1399032"/>
            <a:ext cx="1719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case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478024" y="1399032"/>
            <a:ext cx="20848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fit</a:t>
            </a:r>
            <a:endParaRPr lang="en-US" sz="740" dirty="0"/>
          </a:p>
        </p:txBody>
      </p:sp>
      <p:sp>
        <p:nvSpPr>
          <p:cNvPr id="12" name="Text 10"/>
          <p:cNvSpPr/>
          <p:nvPr/>
        </p:nvSpPr>
        <p:spPr>
          <a:xfrm>
            <a:off x="4672584" y="1399032"/>
            <a:ext cx="2039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6821424" y="1399032"/>
            <a:ext cx="1947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</a:t>
            </a:r>
            <a:endParaRPr lang="en-US" sz="740" dirty="0"/>
          </a:p>
        </p:txBody>
      </p:sp>
      <p:sp>
        <p:nvSpPr>
          <p:cNvPr id="14" name="Text 12"/>
          <p:cNvSpPr/>
          <p:nvPr/>
        </p:nvSpPr>
        <p:spPr>
          <a:xfrm>
            <a:off x="8878824" y="1399032"/>
            <a:ext cx="2039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Metric signal</a:t>
            </a:r>
            <a:endParaRPr lang="en-US" sz="740" dirty="0"/>
          </a:p>
        </p:txBody>
      </p:sp>
      <p:sp>
        <p:nvSpPr>
          <p:cNvPr id="15" name="Shape 13"/>
          <p:cNvSpPr/>
          <p:nvPr/>
        </p:nvSpPr>
        <p:spPr>
          <a:xfrm>
            <a:off x="594360" y="1673352"/>
            <a:ext cx="1037844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49224" y="1741932"/>
            <a:ext cx="171907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quality</a:t>
            </a:r>
            <a:endParaRPr lang="en-US" sz="740" dirty="0"/>
          </a:p>
        </p:txBody>
      </p:sp>
      <p:sp>
        <p:nvSpPr>
          <p:cNvPr id="17" name="Text 15"/>
          <p:cNvSpPr/>
          <p:nvPr/>
        </p:nvSpPr>
        <p:spPr>
          <a:xfrm>
            <a:off x="2478024" y="1741932"/>
            <a:ext cx="208483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Deep Hybrid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4672584" y="1741932"/>
            <a:ext cx="203911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Strong MAE and top-N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6821424" y="1741932"/>
            <a:ext cx="194767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GPU cost</a:t>
            </a:r>
            <a:endParaRPr lang="en-US" sz="740" dirty="0"/>
          </a:p>
        </p:txBody>
      </p:sp>
      <p:sp>
        <p:nvSpPr>
          <p:cNvPr id="20" name="Text 18"/>
          <p:cNvSpPr/>
          <p:nvPr/>
        </p:nvSpPr>
        <p:spPr>
          <a:xfrm>
            <a:off x="8878824" y="1741932"/>
            <a:ext cx="203911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MAE 0.6005 / NDCG 0.0722</a:t>
            </a:r>
            <a:endParaRPr lang="en-US" sz="740" dirty="0"/>
          </a:p>
        </p:txBody>
      </p:sp>
      <p:sp>
        <p:nvSpPr>
          <p:cNvPr id="21" name="Shape 19"/>
          <p:cNvSpPr/>
          <p:nvPr/>
        </p:nvSpPr>
        <p:spPr>
          <a:xfrm>
            <a:off x="594360" y="2103120"/>
            <a:ext cx="10378440" cy="42976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49224" y="2171700"/>
            <a:ext cx="171907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Light baseline</a:t>
            </a:r>
            <a:endParaRPr lang="en-US" sz="740" dirty="0"/>
          </a:p>
        </p:txBody>
      </p:sp>
      <p:sp>
        <p:nvSpPr>
          <p:cNvPr id="23" name="Text 21"/>
          <p:cNvSpPr/>
          <p:nvPr/>
        </p:nvSpPr>
        <p:spPr>
          <a:xfrm>
            <a:off x="2478024" y="2171700"/>
            <a:ext cx="208483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SVD-Ridge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4672584" y="2171700"/>
            <a:ext cx="203911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Strong ranking at low complexity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6821424" y="2171700"/>
            <a:ext cx="194767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 expressive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8878824" y="2171700"/>
            <a:ext cx="203911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NDCG 0.0671</a:t>
            </a:r>
            <a:endParaRPr lang="en-US" sz="740" dirty="0"/>
          </a:p>
        </p:txBody>
      </p:sp>
      <p:sp>
        <p:nvSpPr>
          <p:cNvPr id="27" name="Shape 25"/>
          <p:cNvSpPr/>
          <p:nvPr/>
        </p:nvSpPr>
        <p:spPr>
          <a:xfrm>
            <a:off x="594360" y="2532888"/>
            <a:ext cx="1037844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49224" y="2601468"/>
            <a:ext cx="171907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Point-wise RMSE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2478024" y="2601468"/>
            <a:ext cx="208483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MF-SGD</a:t>
            </a:r>
            <a:endParaRPr lang="en-US" sz="740" dirty="0"/>
          </a:p>
        </p:txBody>
      </p:sp>
      <p:sp>
        <p:nvSpPr>
          <p:cNvPr id="30" name="Text 28"/>
          <p:cNvSpPr/>
          <p:nvPr/>
        </p:nvSpPr>
        <p:spPr>
          <a:xfrm>
            <a:off x="4672584" y="2601468"/>
            <a:ext cx="203911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Lowest RMSE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6821424" y="2601468"/>
            <a:ext cx="194767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Weaker top-N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8878824" y="2601468"/>
            <a:ext cx="203911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RMSE 0.8061</a:t>
            </a:r>
            <a:endParaRPr lang="en-US" sz="740" dirty="0"/>
          </a:p>
        </p:txBody>
      </p:sp>
      <p:sp>
        <p:nvSpPr>
          <p:cNvPr id="33" name="Shape 31"/>
          <p:cNvSpPr/>
          <p:nvPr/>
        </p:nvSpPr>
        <p:spPr>
          <a:xfrm>
            <a:off x="594360" y="2962656"/>
            <a:ext cx="10378440" cy="42976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49224" y="3031236"/>
            <a:ext cx="171907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Interpretability probe</a:t>
            </a:r>
            <a:endParaRPr lang="en-US" sz="740" dirty="0"/>
          </a:p>
        </p:txBody>
      </p:sp>
      <p:sp>
        <p:nvSpPr>
          <p:cNvPr id="35" name="Text 33"/>
          <p:cNvSpPr/>
          <p:nvPr/>
        </p:nvSpPr>
        <p:spPr>
          <a:xfrm>
            <a:off x="2478024" y="3031236"/>
            <a:ext cx="208483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SVD-KNN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4672584" y="3031236"/>
            <a:ext cx="203911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Geometry-aware profiles</a:t>
            </a:r>
            <a:endParaRPr lang="en-US" sz="740" dirty="0"/>
          </a:p>
        </p:txBody>
      </p:sp>
      <p:sp>
        <p:nvSpPr>
          <p:cNvPr id="37" name="Text 35"/>
          <p:cNvSpPr/>
          <p:nvPr/>
        </p:nvSpPr>
        <p:spPr>
          <a:xfrm>
            <a:off x="6821424" y="3031236"/>
            <a:ext cx="194767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Uncalibrated scores</a:t>
            </a:r>
            <a:endParaRPr lang="en-US" sz="740" dirty="0"/>
          </a:p>
        </p:txBody>
      </p:sp>
      <p:sp>
        <p:nvSpPr>
          <p:cNvPr id="38" name="Text 36"/>
          <p:cNvSpPr/>
          <p:nvPr/>
        </p:nvSpPr>
        <p:spPr>
          <a:xfrm>
            <a:off x="8878824" y="3031236"/>
            <a:ext cx="203911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NDCG 0.0230</a:t>
            </a:r>
            <a:endParaRPr lang="en-US" sz="740" dirty="0"/>
          </a:p>
        </p:txBody>
      </p:sp>
      <p:sp>
        <p:nvSpPr>
          <p:cNvPr id="39" name="Shape 37"/>
          <p:cNvSpPr/>
          <p:nvPr/>
        </p:nvSpPr>
        <p:spPr>
          <a:xfrm>
            <a:off x="594360" y="3392424"/>
            <a:ext cx="1037844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649224" y="3461004"/>
            <a:ext cx="171907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Improve later</a:t>
            </a:r>
            <a:endParaRPr lang="en-US" sz="740" dirty="0"/>
          </a:p>
        </p:txBody>
      </p:sp>
      <p:sp>
        <p:nvSpPr>
          <p:cNvPr id="41" name="Text 39"/>
          <p:cNvSpPr/>
          <p:nvPr/>
        </p:nvSpPr>
        <p:spPr>
          <a:xfrm>
            <a:off x="2478024" y="3461004"/>
            <a:ext cx="208483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MF-ALS</a:t>
            </a:r>
            <a:endParaRPr lang="en-US" sz="740" dirty="0"/>
          </a:p>
        </p:txBody>
      </p:sp>
      <p:sp>
        <p:nvSpPr>
          <p:cNvPr id="42" name="Text 40"/>
          <p:cNvSpPr/>
          <p:nvPr/>
        </p:nvSpPr>
        <p:spPr>
          <a:xfrm>
            <a:off x="4672584" y="3461004"/>
            <a:ext cx="203911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Classic scalable baseline</a:t>
            </a:r>
            <a:endParaRPr lang="en-US" sz="740" dirty="0"/>
          </a:p>
        </p:txBody>
      </p:sp>
      <p:sp>
        <p:nvSpPr>
          <p:cNvPr id="43" name="Text 41"/>
          <p:cNvSpPr/>
          <p:nvPr/>
        </p:nvSpPr>
        <p:spPr>
          <a:xfrm>
            <a:off x="6821424" y="3461004"/>
            <a:ext cx="194767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Needs larger sweep</a:t>
            </a:r>
            <a:endParaRPr lang="en-US" sz="740" dirty="0"/>
          </a:p>
        </p:txBody>
      </p:sp>
      <p:sp>
        <p:nvSpPr>
          <p:cNvPr id="44" name="Text 42"/>
          <p:cNvSpPr/>
          <p:nvPr/>
        </p:nvSpPr>
        <p:spPr>
          <a:xfrm>
            <a:off x="8878824" y="3461004"/>
            <a:ext cx="203911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NDCG 0.0091</a:t>
            </a:r>
            <a:endParaRPr lang="en-US" sz="740" dirty="0"/>
          </a:p>
        </p:txBody>
      </p:sp>
      <p:sp>
        <p:nvSpPr>
          <p:cNvPr id="45" name="Shape 43"/>
          <p:cNvSpPr/>
          <p:nvPr/>
        </p:nvSpPr>
        <p:spPr>
          <a:xfrm>
            <a:off x="777240" y="4462272"/>
            <a:ext cx="33832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777240" y="4462272"/>
            <a:ext cx="73152" cy="914400"/>
          </a:xfrm>
          <a:prstGeom prst="rect">
            <a:avLst/>
          </a:prstGeom>
          <a:solidFill>
            <a:srgbClr val="10A37F"/>
          </a:solidFill>
          <a:ln w="12700">
            <a:solidFill>
              <a:srgbClr val="10A37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978408" y="4590288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Core finding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978408" y="4901184"/>
            <a:ext cx="3035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 approx. 34M interactions, the deep model's extra capacity is no longer just a liability. Content channels and robust training help align rating accuracy with ranking utility.</a:t>
            </a:r>
            <a:endParaRPr lang="en-US" sz="960" dirty="0"/>
          </a:p>
        </p:txBody>
      </p:sp>
      <p:sp>
        <p:nvSpPr>
          <p:cNvPr id="49" name="Shape 47"/>
          <p:cNvSpPr/>
          <p:nvPr/>
        </p:nvSpPr>
        <p:spPr>
          <a:xfrm>
            <a:off x="4434840" y="4462272"/>
            <a:ext cx="33832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4434840" y="4462272"/>
            <a:ext cx="73152" cy="9144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4636008" y="4590288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Classical baseline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4636008" y="4901184"/>
            <a:ext cx="3035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SVD-Ridge remains the practical challenger: simple, interpretable, and close to Deep Hybrid on NDCG@10 after retuning.</a:t>
            </a:r>
            <a:endParaRPr lang="en-US" sz="960" dirty="0"/>
          </a:p>
        </p:txBody>
      </p:sp>
      <p:sp>
        <p:nvSpPr>
          <p:cNvPr id="53" name="Shape 51"/>
          <p:cNvSpPr/>
          <p:nvPr/>
        </p:nvSpPr>
        <p:spPr>
          <a:xfrm>
            <a:off x="8092440" y="4462272"/>
            <a:ext cx="33832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8092440" y="4462272"/>
            <a:ext cx="73152" cy="914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8293608" y="4590288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Ranking caveat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8293608" y="4901184"/>
            <a:ext cx="3035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MSE/RMSE optimization does not guarantee top-10 quality. Score calibration and item separation dominate fixed-cutoff recommendation.</a:t>
            </a:r>
            <a:endParaRPr lang="en-US" sz="96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A37F"/>
          </a:solidFill>
          <a:ln w="12700">
            <a:solidFill>
              <a:srgbClr val="10A37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329184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0A3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APPLICATION LAYER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566928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E29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StreamX Demo Architecture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02920" y="1078992"/>
            <a:ext cx="1118585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647395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MovieLens Latest recommendation study</a:t>
            </a:r>
            <a:endParaRPr lang="en-US" sz="680" dirty="0"/>
          </a:p>
        </p:txBody>
      </p:sp>
      <p:sp>
        <p:nvSpPr>
          <p:cNvPr id="8" name="Text 6"/>
          <p:cNvSpPr/>
          <p:nvPr/>
        </p:nvSpPr>
        <p:spPr>
          <a:xfrm>
            <a:off x="11109960" y="64465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720" dirty="0"/>
          </a:p>
        </p:txBody>
      </p:sp>
      <p:sp>
        <p:nvSpPr>
          <p:cNvPr id="9" name="Shape 7"/>
          <p:cNvSpPr/>
          <p:nvPr/>
        </p:nvSpPr>
        <p:spPr>
          <a:xfrm>
            <a:off x="731520" y="1600200"/>
            <a:ext cx="20116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41832" y="1920240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Next.js Frontend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60120" y="217627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browse, details,</a:t>
            </a:r>
            <a:endParaRPr lang="en-US" sz="780" dirty="0"/>
          </a:p>
          <a:p>
            <a:pPr marL="0" indent="0" algn="ctr">
              <a:buNone/>
            </a:pPr>
            <a:r>
              <a:rPr lang="en-US" sz="78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personalized recs</a:t>
            </a:r>
            <a:endParaRPr lang="en-US" sz="780" dirty="0"/>
          </a:p>
        </p:txBody>
      </p:sp>
      <p:sp>
        <p:nvSpPr>
          <p:cNvPr id="12" name="Shape 10"/>
          <p:cNvSpPr/>
          <p:nvPr/>
        </p:nvSpPr>
        <p:spPr>
          <a:xfrm>
            <a:off x="3657600" y="1600200"/>
            <a:ext cx="2148840" cy="914400"/>
          </a:xfrm>
          <a:prstGeom prst="rect">
            <a:avLst/>
          </a:prstGeom>
          <a:solidFill>
            <a:srgbClr val="ECFDF5"/>
          </a:solidFill>
          <a:ln w="12700">
            <a:solidFill>
              <a:srgbClr val="10A3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877056" y="1920240"/>
            <a:ext cx="1709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Django REST API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950208" y="2221992"/>
            <a:ext cx="1572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runtime model switcher</a:t>
            </a:r>
            <a:endParaRPr lang="en-US" sz="780" dirty="0"/>
          </a:p>
        </p:txBody>
      </p:sp>
      <p:sp>
        <p:nvSpPr>
          <p:cNvPr id="15" name="Shape 13"/>
          <p:cNvSpPr/>
          <p:nvPr/>
        </p:nvSpPr>
        <p:spPr>
          <a:xfrm>
            <a:off x="6720840" y="1600200"/>
            <a:ext cx="21488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958584" y="1920240"/>
            <a:ext cx="1673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 Artifacts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995160" y="2176272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MF, Deep, SVD,</a:t>
            </a:r>
            <a:endParaRPr lang="en-US" sz="780" dirty="0"/>
          </a:p>
          <a:p>
            <a:pPr marL="0" indent="0" algn="ctr">
              <a:buNone/>
            </a:pPr>
            <a:r>
              <a:rPr lang="en-US" sz="78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ALS checkpoints</a:t>
            </a:r>
            <a:endParaRPr lang="en-US" sz="780" dirty="0"/>
          </a:p>
        </p:txBody>
      </p:sp>
      <p:sp>
        <p:nvSpPr>
          <p:cNvPr id="18" name="Shape 16"/>
          <p:cNvSpPr/>
          <p:nvPr/>
        </p:nvSpPr>
        <p:spPr>
          <a:xfrm>
            <a:off x="9418320" y="1600200"/>
            <a:ext cx="19659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9628632" y="192024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9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TMDB Enrichment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9646920" y="2176272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posters, metadata,</a:t>
            </a:r>
            <a:endParaRPr lang="en-US" sz="780" dirty="0"/>
          </a:p>
          <a:p>
            <a:pPr marL="0" indent="0" algn="ctr">
              <a:buNone/>
            </a:pPr>
            <a:r>
              <a:rPr lang="en-US" sz="78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similar movies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2743200" y="2057400"/>
            <a:ext cx="914400" cy="0"/>
          </a:xfrm>
          <a:prstGeom prst="line">
            <a:avLst/>
          </a:prstGeom>
          <a:noFill/>
          <a:ln w="20320">
            <a:solidFill>
              <a:srgbClr val="10A37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806440" y="2057400"/>
            <a:ext cx="914400" cy="0"/>
          </a:xfrm>
          <a:prstGeom prst="line">
            <a:avLst/>
          </a:prstGeom>
          <a:noFill/>
          <a:ln w="20320">
            <a:solidFill>
              <a:srgbClr val="10A37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8869680" y="2057400"/>
            <a:ext cx="548640" cy="0"/>
          </a:xfrm>
          <a:prstGeom prst="line">
            <a:avLst/>
          </a:prstGeom>
          <a:noFill/>
          <a:ln w="20320">
            <a:solidFill>
              <a:srgbClr val="2563E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097280" y="3063240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9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Online request flow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1005840" y="3584448"/>
            <a:ext cx="9372600" cy="329184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060704" y="3657600"/>
            <a:ext cx="1719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</a:t>
            </a:r>
            <a:endParaRPr lang="en-US" sz="780" dirty="0"/>
          </a:p>
        </p:txBody>
      </p:sp>
      <p:sp>
        <p:nvSpPr>
          <p:cNvPr id="27" name="Text 25"/>
          <p:cNvSpPr/>
          <p:nvPr/>
        </p:nvSpPr>
        <p:spPr>
          <a:xfrm>
            <a:off x="2889504" y="3657600"/>
            <a:ext cx="1764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</a:t>
            </a:r>
            <a:endParaRPr lang="en-US" sz="780" dirty="0"/>
          </a:p>
        </p:txBody>
      </p:sp>
      <p:sp>
        <p:nvSpPr>
          <p:cNvPr id="28" name="Text 26"/>
          <p:cNvSpPr/>
          <p:nvPr/>
        </p:nvSpPr>
        <p:spPr>
          <a:xfrm>
            <a:off x="4764024" y="3657600"/>
            <a:ext cx="1764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 action</a:t>
            </a:r>
            <a:endParaRPr lang="en-US" sz="780" dirty="0"/>
          </a:p>
        </p:txBody>
      </p:sp>
      <p:sp>
        <p:nvSpPr>
          <p:cNvPr id="29" name="Text 27"/>
          <p:cNvSpPr/>
          <p:nvPr/>
        </p:nvSpPr>
        <p:spPr>
          <a:xfrm>
            <a:off x="6638544" y="3657600"/>
            <a:ext cx="1856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output</a:t>
            </a:r>
            <a:endParaRPr lang="en-US" sz="780" dirty="0"/>
          </a:p>
        </p:txBody>
      </p:sp>
      <p:sp>
        <p:nvSpPr>
          <p:cNvPr id="30" name="Text 28"/>
          <p:cNvSpPr/>
          <p:nvPr/>
        </p:nvSpPr>
        <p:spPr>
          <a:xfrm>
            <a:off x="8604504" y="3657600"/>
            <a:ext cx="1719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UI result</a:t>
            </a:r>
            <a:endParaRPr lang="en-US" sz="780" dirty="0"/>
          </a:p>
        </p:txBody>
      </p:sp>
      <p:sp>
        <p:nvSpPr>
          <p:cNvPr id="31" name="Shape 29"/>
          <p:cNvSpPr/>
          <p:nvPr/>
        </p:nvSpPr>
        <p:spPr>
          <a:xfrm>
            <a:off x="1005840" y="3913632"/>
            <a:ext cx="937260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1060704" y="3982212"/>
            <a:ext cx="1719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8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780" dirty="0"/>
          </a:p>
        </p:txBody>
      </p:sp>
      <p:sp>
        <p:nvSpPr>
          <p:cNvPr id="33" name="Text 31"/>
          <p:cNvSpPr/>
          <p:nvPr/>
        </p:nvSpPr>
        <p:spPr>
          <a:xfrm>
            <a:off x="2889504" y="3982212"/>
            <a:ext cx="1764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 profile</a:t>
            </a:r>
            <a:endParaRPr lang="en-US" sz="780" dirty="0"/>
          </a:p>
        </p:txBody>
      </p:sp>
      <p:sp>
        <p:nvSpPr>
          <p:cNvPr id="34" name="Text 32"/>
          <p:cNvSpPr/>
          <p:nvPr/>
        </p:nvSpPr>
        <p:spPr>
          <a:xfrm>
            <a:off x="4764024" y="3982212"/>
            <a:ext cx="1764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candidate scoring</a:t>
            </a:r>
            <a:endParaRPr lang="en-US" sz="780" dirty="0"/>
          </a:p>
        </p:txBody>
      </p:sp>
      <p:sp>
        <p:nvSpPr>
          <p:cNvPr id="35" name="Text 33"/>
          <p:cNvSpPr/>
          <p:nvPr/>
        </p:nvSpPr>
        <p:spPr>
          <a:xfrm>
            <a:off x="6638544" y="3982212"/>
            <a:ext cx="1856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ranked movie IDs</a:t>
            </a:r>
            <a:endParaRPr lang="en-US" sz="780" dirty="0"/>
          </a:p>
        </p:txBody>
      </p:sp>
      <p:sp>
        <p:nvSpPr>
          <p:cNvPr id="36" name="Text 34"/>
          <p:cNvSpPr/>
          <p:nvPr/>
        </p:nvSpPr>
        <p:spPr>
          <a:xfrm>
            <a:off x="8604504" y="3982212"/>
            <a:ext cx="1719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recommendations</a:t>
            </a:r>
            <a:endParaRPr lang="en-US" sz="780" dirty="0"/>
          </a:p>
        </p:txBody>
      </p:sp>
      <p:sp>
        <p:nvSpPr>
          <p:cNvPr id="37" name="Shape 35"/>
          <p:cNvSpPr/>
          <p:nvPr/>
        </p:nvSpPr>
        <p:spPr>
          <a:xfrm>
            <a:off x="1005840" y="4315968"/>
            <a:ext cx="9372600" cy="402336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1060704" y="4384548"/>
            <a:ext cx="1719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8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780" dirty="0"/>
          </a:p>
        </p:txBody>
      </p:sp>
      <p:sp>
        <p:nvSpPr>
          <p:cNvPr id="39" name="Text 37"/>
          <p:cNvSpPr/>
          <p:nvPr/>
        </p:nvSpPr>
        <p:spPr>
          <a:xfrm>
            <a:off x="2889504" y="4384548"/>
            <a:ext cx="1764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Movie ID</a:t>
            </a:r>
            <a:endParaRPr lang="en-US" sz="780" dirty="0"/>
          </a:p>
        </p:txBody>
      </p:sp>
      <p:sp>
        <p:nvSpPr>
          <p:cNvPr id="40" name="Text 38"/>
          <p:cNvSpPr/>
          <p:nvPr/>
        </p:nvSpPr>
        <p:spPr>
          <a:xfrm>
            <a:off x="4764024" y="4384548"/>
            <a:ext cx="1764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similarity lookup</a:t>
            </a:r>
            <a:endParaRPr lang="en-US" sz="780" dirty="0"/>
          </a:p>
        </p:txBody>
      </p:sp>
      <p:sp>
        <p:nvSpPr>
          <p:cNvPr id="41" name="Text 39"/>
          <p:cNvSpPr/>
          <p:nvPr/>
        </p:nvSpPr>
        <p:spPr>
          <a:xfrm>
            <a:off x="6638544" y="4384548"/>
            <a:ext cx="1856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neighbor titles</a:t>
            </a:r>
            <a:endParaRPr lang="en-US" sz="780" dirty="0"/>
          </a:p>
        </p:txBody>
      </p:sp>
      <p:sp>
        <p:nvSpPr>
          <p:cNvPr id="42" name="Text 40"/>
          <p:cNvSpPr/>
          <p:nvPr/>
        </p:nvSpPr>
        <p:spPr>
          <a:xfrm>
            <a:off x="8604504" y="4384548"/>
            <a:ext cx="1719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similar movies</a:t>
            </a:r>
            <a:endParaRPr lang="en-US" sz="780" dirty="0"/>
          </a:p>
        </p:txBody>
      </p:sp>
      <p:sp>
        <p:nvSpPr>
          <p:cNvPr id="43" name="Shape 41"/>
          <p:cNvSpPr/>
          <p:nvPr/>
        </p:nvSpPr>
        <p:spPr>
          <a:xfrm>
            <a:off x="1005840" y="4718304"/>
            <a:ext cx="937260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1060704" y="4786884"/>
            <a:ext cx="1719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8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780" dirty="0"/>
          </a:p>
        </p:txBody>
      </p:sp>
      <p:sp>
        <p:nvSpPr>
          <p:cNvPr id="45" name="Text 43"/>
          <p:cNvSpPr/>
          <p:nvPr/>
        </p:nvSpPr>
        <p:spPr>
          <a:xfrm>
            <a:off x="2889504" y="4786884"/>
            <a:ext cx="1764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Metadata</a:t>
            </a:r>
            <a:endParaRPr lang="en-US" sz="780" dirty="0"/>
          </a:p>
        </p:txBody>
      </p:sp>
      <p:sp>
        <p:nvSpPr>
          <p:cNvPr id="46" name="Text 44"/>
          <p:cNvSpPr/>
          <p:nvPr/>
        </p:nvSpPr>
        <p:spPr>
          <a:xfrm>
            <a:off x="4764024" y="4786884"/>
            <a:ext cx="1764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TMDB join</a:t>
            </a:r>
            <a:endParaRPr lang="en-US" sz="780" dirty="0"/>
          </a:p>
        </p:txBody>
      </p:sp>
      <p:sp>
        <p:nvSpPr>
          <p:cNvPr id="47" name="Text 45"/>
          <p:cNvSpPr/>
          <p:nvPr/>
        </p:nvSpPr>
        <p:spPr>
          <a:xfrm>
            <a:off x="6638544" y="4786884"/>
            <a:ext cx="1856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poster + details</a:t>
            </a:r>
            <a:endParaRPr lang="en-US" sz="780" dirty="0"/>
          </a:p>
        </p:txBody>
      </p:sp>
      <p:sp>
        <p:nvSpPr>
          <p:cNvPr id="48" name="Text 46"/>
          <p:cNvSpPr/>
          <p:nvPr/>
        </p:nvSpPr>
        <p:spPr>
          <a:xfrm>
            <a:off x="8604504" y="4786884"/>
            <a:ext cx="1719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rich detail page</a:t>
            </a:r>
            <a:endParaRPr lang="en-US" sz="780" dirty="0"/>
          </a:p>
        </p:txBody>
      </p:sp>
      <p:sp>
        <p:nvSpPr>
          <p:cNvPr id="49" name="Shape 47"/>
          <p:cNvSpPr/>
          <p:nvPr/>
        </p:nvSpPr>
        <p:spPr>
          <a:xfrm>
            <a:off x="1920240" y="5440680"/>
            <a:ext cx="8412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1920240" y="5440680"/>
            <a:ext cx="73152" cy="658368"/>
          </a:xfrm>
          <a:prstGeom prst="rect">
            <a:avLst/>
          </a:prstGeom>
          <a:solidFill>
            <a:srgbClr val="10A37F"/>
          </a:solidFill>
          <a:ln w="12700">
            <a:solidFill>
              <a:srgbClr val="10A37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2121408" y="5568696"/>
            <a:ext cx="8083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Presentation angle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2121408" y="5879592"/>
            <a:ext cx="806500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demo turns offline metrics into an inspectable product surface: users can compare model behavior through recommendations and similar-movie suggestions.</a:t>
            </a:r>
            <a:endParaRPr lang="en-US" sz="96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A37F"/>
          </a:solidFill>
          <a:ln w="12700">
            <a:solidFill>
              <a:srgbClr val="10A37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329184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0A3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HYGIENE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566928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E29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Limitations and Future Work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02920" y="1078992"/>
            <a:ext cx="1118585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647395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MovieLens Latest recommendation study</a:t>
            </a:r>
            <a:endParaRPr lang="en-US" sz="680" dirty="0"/>
          </a:p>
        </p:txBody>
      </p:sp>
      <p:sp>
        <p:nvSpPr>
          <p:cNvPr id="8" name="Text 6"/>
          <p:cNvSpPr/>
          <p:nvPr/>
        </p:nvSpPr>
        <p:spPr>
          <a:xfrm>
            <a:off x="11109960" y="64465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720" dirty="0"/>
          </a:p>
        </p:txBody>
      </p:sp>
      <p:sp>
        <p:nvSpPr>
          <p:cNvPr id="9" name="Text 7"/>
          <p:cNvSpPr/>
          <p:nvPr/>
        </p:nvSpPr>
        <p:spPr>
          <a:xfrm>
            <a:off x="685800" y="135331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10A3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LIMITATIONS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777240" y="1719072"/>
            <a:ext cx="480060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04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MovieLens Latest is a development snapshot, so exact metrics are tied to the July 2023-era checkout.</a:t>
            </a:r>
            <a:endParaRPr lang="en-US" sz="1040" dirty="0"/>
          </a:p>
          <a:p>
            <a:pPr marL="127000" indent="-127000">
              <a:buSzPct val="100000"/>
              <a:buChar char="•"/>
            </a:pPr>
            <a:r>
              <a:rPr lang="en-US" sz="104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Large-scale automated hyperparameter search was not run for every model.</a:t>
            </a:r>
            <a:endParaRPr lang="en-US" sz="1040" dirty="0"/>
          </a:p>
          <a:p>
            <a:pPr marL="127000" indent="-127000">
              <a:buSzPct val="100000"/>
              <a:buChar char="•"/>
            </a:pPr>
            <a:r>
              <a:rPr lang="en-US" sz="104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Top-N relevance treats every held-out test item as relevant, which compresses absolute scores.</a:t>
            </a:r>
            <a:endParaRPr lang="en-US" sz="1040" dirty="0"/>
          </a:p>
          <a:p>
            <a:pPr marL="127000" indent="-127000">
              <a:buSzPct val="100000"/>
              <a:buChar char="•"/>
            </a:pPr>
            <a:r>
              <a:rPr lang="en-US" sz="104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SVD-KNN averages rated items without rating or temporal weights.</a:t>
            </a:r>
            <a:endParaRPr lang="en-US" sz="1040" dirty="0"/>
          </a:p>
          <a:p>
            <a:pPr marL="127000" indent="-127000">
              <a:buSzPct val="100000"/>
              <a:buChar char="•"/>
            </a:pPr>
            <a:r>
              <a:rPr lang="en-US" sz="104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Temporal dynamics, implicit feedback, and review text remain unexplored.</a:t>
            </a:r>
            <a:endParaRPr lang="en-US" sz="1040" dirty="0"/>
          </a:p>
        </p:txBody>
      </p:sp>
      <p:sp>
        <p:nvSpPr>
          <p:cNvPr id="11" name="Text 9"/>
          <p:cNvSpPr/>
          <p:nvPr/>
        </p:nvSpPr>
        <p:spPr>
          <a:xfrm>
            <a:off x="6400800" y="135331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10A3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EXPERIMENTS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6492240" y="1719072"/>
            <a:ext cx="470916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04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Dedicated MF-ALS and MF-SGD rank/regularization sweeps at web scale.</a:t>
            </a:r>
            <a:endParaRPr lang="en-US" sz="1040" dirty="0"/>
          </a:p>
          <a:p>
            <a:pPr marL="127000" indent="-127000">
              <a:buSzPct val="100000"/>
              <a:buChar char="•"/>
            </a:pPr>
            <a:r>
              <a:rPr lang="en-US" sz="104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Frozen MovieLens benchmark splits for publication-grade comparability.</a:t>
            </a:r>
            <a:endParaRPr lang="en-US" sz="1040" dirty="0"/>
          </a:p>
          <a:p>
            <a:pPr marL="127000" indent="-127000">
              <a:buSzPct val="100000"/>
              <a:buChar char="•"/>
            </a:pPr>
            <a:r>
              <a:rPr lang="en-US" sz="104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Learning-to-rank objectives aligned directly with NDCG.</a:t>
            </a:r>
            <a:endParaRPr lang="en-US" sz="1040" dirty="0"/>
          </a:p>
          <a:p>
            <a:pPr marL="127000" indent="-127000">
              <a:buSzPct val="100000"/>
              <a:buChar char="•"/>
            </a:pPr>
            <a:r>
              <a:rPr lang="en-US" sz="104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Rating-weighted or attention-based SVD-KNN user profiles.</a:t>
            </a:r>
            <a:endParaRPr lang="en-US" sz="1040" dirty="0"/>
          </a:p>
          <a:p>
            <a:pPr marL="127000" indent="-127000">
              <a:buSzPct val="100000"/>
              <a:buChar char="•"/>
            </a:pPr>
            <a:r>
              <a:rPr lang="en-US" sz="104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Implicit-feedback variants and temporal modeling.</a:t>
            </a:r>
            <a:endParaRPr lang="en-US" sz="1040" dirty="0"/>
          </a:p>
        </p:txBody>
      </p:sp>
      <p:sp>
        <p:nvSpPr>
          <p:cNvPr id="13" name="Shape 11"/>
          <p:cNvSpPr/>
          <p:nvPr/>
        </p:nvSpPr>
        <p:spPr>
          <a:xfrm>
            <a:off x="685800" y="4800600"/>
            <a:ext cx="107442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14400" y="5047488"/>
            <a:ext cx="10287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9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Most important improvement path: move from point-wise rating loss toward ranking-aware objectives while preserving the shared evaluation guardrails.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A37F"/>
          </a:solidFill>
          <a:ln w="12700">
            <a:solidFill>
              <a:srgbClr val="10A37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329184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0A3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TAKEAWAYS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566928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E29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Conclusion: Quality, Efficiency, and Ranking Are Separate Choices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02920" y="1078992"/>
            <a:ext cx="1118585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647395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MovieLens Latest recommendation study</a:t>
            </a:r>
            <a:endParaRPr lang="en-US" sz="680" dirty="0"/>
          </a:p>
        </p:txBody>
      </p:sp>
      <p:sp>
        <p:nvSpPr>
          <p:cNvPr id="8" name="Text 6"/>
          <p:cNvSpPr/>
          <p:nvPr/>
        </p:nvSpPr>
        <p:spPr>
          <a:xfrm>
            <a:off x="11109960" y="64465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720" dirty="0"/>
          </a:p>
        </p:txBody>
      </p:sp>
      <p:sp>
        <p:nvSpPr>
          <p:cNvPr id="9" name="Shape 7"/>
          <p:cNvSpPr/>
          <p:nvPr/>
        </p:nvSpPr>
        <p:spPr>
          <a:xfrm>
            <a:off x="777240" y="1481328"/>
            <a:ext cx="333756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77240" y="1481328"/>
            <a:ext cx="73152" cy="987552"/>
          </a:xfrm>
          <a:prstGeom prst="rect">
            <a:avLst/>
          </a:prstGeom>
          <a:solidFill>
            <a:srgbClr val="10A37F"/>
          </a:solidFill>
          <a:ln w="12700">
            <a:solidFill>
              <a:srgbClr val="10A37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78408" y="1609344"/>
            <a:ext cx="30083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Best overall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78408" y="1920240"/>
            <a:ext cx="2990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Deep Hybrid achieves the best overall profile: MAE 0.6005 and NDCG@10 0.0722.</a:t>
            </a:r>
            <a:endParaRPr lang="en-US" sz="960" dirty="0"/>
          </a:p>
        </p:txBody>
      </p:sp>
      <p:sp>
        <p:nvSpPr>
          <p:cNvPr id="13" name="Shape 11"/>
          <p:cNvSpPr/>
          <p:nvPr/>
        </p:nvSpPr>
        <p:spPr>
          <a:xfrm>
            <a:off x="4434840" y="1481328"/>
            <a:ext cx="333756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434840" y="1481328"/>
            <a:ext cx="73152" cy="9875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636008" y="1609344"/>
            <a:ext cx="30083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Best RMSE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636008" y="1920240"/>
            <a:ext cx="2990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Tuned MF-SGD has the best RMSE at 0.8061, but it does not lead ranking quality.</a:t>
            </a:r>
            <a:endParaRPr lang="en-US" sz="960" dirty="0"/>
          </a:p>
        </p:txBody>
      </p:sp>
      <p:sp>
        <p:nvSpPr>
          <p:cNvPr id="17" name="Shape 15"/>
          <p:cNvSpPr/>
          <p:nvPr/>
        </p:nvSpPr>
        <p:spPr>
          <a:xfrm>
            <a:off x="8092440" y="1481328"/>
            <a:ext cx="333756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8092440" y="1481328"/>
            <a:ext cx="73152" cy="9875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293608" y="1609344"/>
            <a:ext cx="30083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Best lightweight baseline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293608" y="1920240"/>
            <a:ext cx="2990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SVD-Ridge is the strongest classical baseline: P@10 0.0520 and NDCG@10 0.0671.</a:t>
            </a:r>
            <a:endParaRPr lang="en-US" sz="960" dirty="0"/>
          </a:p>
        </p:txBody>
      </p:sp>
      <p:sp>
        <p:nvSpPr>
          <p:cNvPr id="21" name="Shape 19"/>
          <p:cNvSpPr/>
          <p:nvPr/>
        </p:nvSpPr>
        <p:spPr>
          <a:xfrm>
            <a:off x="1051560" y="3127248"/>
            <a:ext cx="10012680" cy="12344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417320" y="3456432"/>
            <a:ext cx="9281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Recommendation: use Deep Hybrid when maximizing quality is the goal; keep SVD-Ridge as the efficient, interpretable baseline; evaluate future work with ranking-aware objectives.</a:t>
            </a:r>
            <a:endParaRPr lang="en-US" sz="1900" dirty="0"/>
          </a:p>
        </p:txBody>
      </p:sp>
      <p:sp>
        <p:nvSpPr>
          <p:cNvPr id="23" name="Shape 21"/>
          <p:cNvSpPr/>
          <p:nvPr/>
        </p:nvSpPr>
        <p:spPr>
          <a:xfrm>
            <a:off x="2011680" y="4800600"/>
            <a:ext cx="32918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4" name="Image 0" descr="D:\Projects\School\Movies-Recommendation\FinalReport\_slide_work\assets\metrics_scatter_mae_ndc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5403" y="4873752"/>
            <a:ext cx="1124393" cy="850392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2121408" y="5779008"/>
            <a:ext cx="3072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Frontier</a:t>
            </a:r>
            <a:endParaRPr lang="en-US" sz="720" dirty="0"/>
          </a:p>
        </p:txBody>
      </p:sp>
      <p:sp>
        <p:nvSpPr>
          <p:cNvPr id="26" name="Shape 23"/>
          <p:cNvSpPr/>
          <p:nvPr/>
        </p:nvSpPr>
        <p:spPr>
          <a:xfrm>
            <a:off x="5486400" y="4800600"/>
            <a:ext cx="44805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7" name="Image 1" descr="D:\Projects\School\Movies-Recommendation\FinalReport\_slide_work\assets\model_comparison_top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8901" y="4873752"/>
            <a:ext cx="2095558" cy="850392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5596128" y="5779008"/>
            <a:ext cx="42611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Ranking metrics</a:t>
            </a:r>
            <a:endParaRPr lang="en-US" sz="7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1748</Words>
  <Application>Microsoft Office PowerPoint</Application>
  <PresentationFormat>Widescreen</PresentationFormat>
  <Paragraphs>469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Comparative Study of Collaborative Filtering Methods</dc:title>
  <dc:subject>Movie recommendation technical report slides</dc:subject>
  <dc:creator>Codex</dc:creator>
  <cp:lastModifiedBy>YUTING ZHOU</cp:lastModifiedBy>
  <cp:revision>2</cp:revision>
  <dcterms:created xsi:type="dcterms:W3CDTF">2026-04-18T18:39:43Z</dcterms:created>
  <dcterms:modified xsi:type="dcterms:W3CDTF">2026-04-18T18:42:11Z</dcterms:modified>
</cp:coreProperties>
</file>